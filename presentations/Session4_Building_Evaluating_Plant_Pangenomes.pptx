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9" d="100"/>
          <a:sy n="119" d="100"/>
        </p:scale>
        <p:origin x="1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de-DE" sz="1800" b="0" u="none" strike="noStrike">
                <a:solidFill>
                  <a:schemeClr val="dk1"/>
                </a:solidFill>
                <a:effectLst/>
                <a:uFillTx/>
                <a:latin typeface="Calibri"/>
              </a:rPr>
              <a:t>Folie mittels Klicken verschieben</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de-DE" sz="2000" b="0" u="none" strike="noStrike">
                <a:solidFill>
                  <a:srgbClr val="000000"/>
                </a:solidFill>
                <a:effectLst/>
                <a:uFillTx/>
                <a:latin typeface="Arial"/>
              </a:rPr>
              <a:t>Format der Notizen mittels Klicken bearbeiten</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de-DE" sz="1400" b="0" u="none" strike="noStrike">
                <a:solidFill>
                  <a:srgbClr val="000000"/>
                </a:solidFill>
                <a:effectLst/>
                <a:uFillTx/>
                <a:latin typeface="Times New Roman"/>
              </a:rPr>
              <a:t> </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de-DE" sz="1400" b="0" u="none" strike="noStrike">
                <a:solidFill>
                  <a:srgbClr val="000000"/>
                </a:solidFill>
                <a:effectLst/>
                <a:uFillTx/>
                <a:latin typeface="Times New Roman"/>
              </a:defRPr>
            </a:lvl1pPr>
          </a:lstStyle>
          <a:p>
            <a:pPr indent="0" algn="r">
              <a:buNone/>
            </a:pPr>
            <a:r>
              <a:rPr lang="de-DE" sz="1400" b="0" u="none" strike="noStrike">
                <a:solidFill>
                  <a:srgbClr val="000000"/>
                </a:solidFill>
                <a:effectLst/>
                <a:uFillTx/>
                <a:latin typeface="Times New Roman"/>
              </a:rPr>
              <a:t> </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de-DE" sz="1400" b="0" u="none" strike="noStrike">
                <a:solidFill>
                  <a:srgbClr val="000000"/>
                </a:solidFill>
                <a:effectLst/>
                <a:uFillTx/>
                <a:latin typeface="Times New Roman"/>
              </a:defRPr>
            </a:lvl1pPr>
          </a:lstStyle>
          <a:p>
            <a:pPr indent="0">
              <a:buNone/>
            </a:pPr>
            <a:r>
              <a:rPr lang="de-DE" sz="1400" b="0" u="none" strike="noStrike">
                <a:solidFill>
                  <a:srgbClr val="000000"/>
                </a:solidFill>
                <a:effectLst/>
                <a:uFillTx/>
                <a:latin typeface="Times New Roman"/>
              </a:rPr>
              <a:t> </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de-DE" sz="1400" b="0" u="none" strike="noStrike">
                <a:solidFill>
                  <a:srgbClr val="000000"/>
                </a:solidFill>
                <a:effectLst/>
                <a:uFillTx/>
                <a:latin typeface="Times New Roman"/>
              </a:defRPr>
            </a:lvl1pPr>
          </a:lstStyle>
          <a:p>
            <a:pPr indent="0" algn="r">
              <a:buNone/>
            </a:pPr>
            <a:fld id="{E0F70161-96FF-4A9B-85EE-BB731323DC1D}" type="slidenum">
              <a:rPr lang="de-DE" sz="1400" b="0" u="none" strike="noStrike">
                <a:solidFill>
                  <a:srgbClr val="000000"/>
                </a:solidFill>
                <a:effectLst/>
                <a:uFillTx/>
                <a:latin typeface="Times New Roman"/>
              </a:rPr>
              <a:t>‹Nr.›</a:t>
            </a:fld>
            <a:endParaRPr lang="de-DE"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 name="PlaceHolder 1"/>
          <p:cNvSpPr>
            <a:spLocks noGrp="1" noRot="1" noChangeAspect="1"/>
          </p:cNvSpPr>
          <p:nvPr>
            <p:ph type="sldImg"/>
          </p:nvPr>
        </p:nvSpPr>
        <p:spPr>
          <a:xfrm>
            <a:off x="685800" y="1143000"/>
            <a:ext cx="5486040" cy="3085920"/>
          </a:xfrm>
          <a:prstGeom prst="rect">
            <a:avLst/>
          </a:prstGeom>
          <a:ln w="0">
            <a:noFill/>
          </a:ln>
        </p:spPr>
      </p:sp>
      <p:sp>
        <p:nvSpPr>
          <p:cNvPr id="5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Welcome to Session 4 — ~40 minutes on how plant pangenomes are built and, crucially, how we evaluate them. We run all the way from raw sequencing reads to a finished graph and its quality report, using the eggplant pangenome as a worked example. I'll spell out every abbreviation as we go.</a:t>
            </a:r>
            <a:endParaRPr lang="de-DE" sz="2000" b="0" u="none" strike="noStrike">
              <a:solidFill>
                <a:srgbClr val="000000"/>
              </a:solidFill>
              <a:effectLst/>
              <a:uFillTx/>
              <a:latin typeface="Arial"/>
            </a:endParaRPr>
          </a:p>
        </p:txBody>
      </p:sp>
      <p:sp>
        <p:nvSpPr>
          <p:cNvPr id="581"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B010D3-39CA-4347-9D08-DBF627C44B77}" type="slidenum">
              <a:rPr lang="en-US" sz="1200" b="0" u="none" strike="noStrike">
                <a:solidFill>
                  <a:schemeClr val="dk1"/>
                </a:solidFill>
                <a:effectLst/>
                <a:uFillTx/>
                <a:latin typeface="+mn-lt"/>
                <a:ea typeface="+mn-ea"/>
              </a:rPr>
              <a:t>1</a:t>
            </a:fld>
            <a:endParaRPr lang="de-DE"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 name="PlaceHolder 1"/>
          <p:cNvSpPr>
            <a:spLocks noGrp="1" noRot="1" noChangeAspect="1"/>
          </p:cNvSpPr>
          <p:nvPr>
            <p:ph type="sldImg"/>
          </p:nvPr>
        </p:nvSpPr>
        <p:spPr>
          <a:xfrm>
            <a:off x="685800" y="1143000"/>
            <a:ext cx="5486040" cy="3085920"/>
          </a:xfrm>
          <a:prstGeom prst="rect">
            <a:avLst/>
          </a:prstGeom>
          <a:ln w="0">
            <a:noFill/>
          </a:ln>
        </p:spPr>
      </p:sp>
      <p:sp>
        <p:nvSpPr>
          <p:cNvPr id="5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Here's the whole pipeline and our roadmap. We sequence DNA, assemble reads into genomes, annotate the genes, build the graph that integrates all genomes, evaluate it at every step, and finally use it to find variants and link them to traits. Stages 1–5 are this session; sharing is Session 5.</a:t>
            </a:r>
            <a:endParaRPr lang="de-DE" sz="2000" b="0" u="none" strike="noStrike">
              <a:solidFill>
                <a:srgbClr val="000000"/>
              </a:solidFill>
              <a:effectLst/>
              <a:uFillTx/>
              <a:latin typeface="Arial"/>
            </a:endParaRPr>
          </a:p>
        </p:txBody>
      </p:sp>
      <p:sp>
        <p:nvSpPr>
          <p:cNvPr id="584"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6F8B14A-C138-430B-9D8F-4B31E26F8F54}" type="slidenum">
              <a:rPr lang="en-US" sz="1200" b="0" u="none" strike="noStrike">
                <a:solidFill>
                  <a:schemeClr val="dk1"/>
                </a:solidFill>
                <a:effectLst/>
                <a:uFillTx/>
                <a:latin typeface="+mn-lt"/>
                <a:ea typeface="+mn-ea"/>
              </a:rPr>
              <a:t>2</a:t>
            </a:fld>
            <a:endParaRPr lang="de-DE"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 name="PlaceHolder 1"/>
          <p:cNvSpPr>
            <a:spLocks noGrp="1" noRot="1" noChangeAspect="1"/>
          </p:cNvSpPr>
          <p:nvPr>
            <p:ph type="sldImg"/>
          </p:nvPr>
        </p:nvSpPr>
        <p:spPr>
          <a:xfrm>
            <a:off x="685800" y="1143000"/>
            <a:ext cx="5486040" cy="3085920"/>
          </a:xfrm>
          <a:prstGeom prst="rect">
            <a:avLst/>
          </a:prstGeom>
          <a:ln w="0">
            <a:noFill/>
          </a:ln>
        </p:spPr>
      </p:sp>
      <p:sp>
        <p:nvSpPr>
          <p:cNvPr id="5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Define the central term. A pangenome is the entire sequence space of a species. We partition it into core (everyone has it), shell or accessory (some have it), and cloud or dispensable (rare/private). The graph we build is literally a structure that holds all three layers at once.</a:t>
            </a:r>
            <a:endParaRPr lang="de-DE" sz="2000" b="0" u="none" strike="noStrike">
              <a:solidFill>
                <a:srgbClr val="000000"/>
              </a:solidFill>
              <a:effectLst/>
              <a:uFillTx/>
              <a:latin typeface="Arial"/>
            </a:endParaRPr>
          </a:p>
        </p:txBody>
      </p:sp>
      <p:sp>
        <p:nvSpPr>
          <p:cNvPr id="587"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3CB49C7-BAC2-4A8E-A947-1E4D1D00B23D}" type="slidenum">
              <a:rPr lang="en-US" sz="1200" b="0" u="none" strike="noStrike">
                <a:solidFill>
                  <a:schemeClr val="dk1"/>
                </a:solidFill>
                <a:effectLst/>
                <a:uFillTx/>
                <a:latin typeface="+mn-lt"/>
                <a:ea typeface="+mn-ea"/>
              </a:rPr>
              <a:t>3</a:t>
            </a:fld>
            <a:endParaRPr lang="de-DE"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 name="PlaceHolder 1"/>
          <p:cNvSpPr>
            <a:spLocks noGrp="1" noRot="1" noChangeAspect="1"/>
          </p:cNvSpPr>
          <p:nvPr>
            <p:ph type="sldImg"/>
          </p:nvPr>
        </p:nvSpPr>
        <p:spPr>
          <a:xfrm>
            <a:off x="685800" y="1143000"/>
            <a:ext cx="5486040" cy="3085920"/>
          </a:xfrm>
          <a:prstGeom prst="rect">
            <a:avLst/>
          </a:prstGeom>
          <a:ln w="0">
            <a:noFill/>
          </a:ln>
        </p:spPr>
      </p:sp>
      <p:sp>
        <p:nvSpPr>
          <p:cNvPr id="5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motivation. A single reference is one individual; everything not in it is invisible, and reference bias distorts mapping and variant calling. Presence/absence variation — entire genes missing from the reference — is common in plants. The pangenome captures the whole species instead.</a:t>
            </a:r>
            <a:endParaRPr lang="de-DE" sz="2000" b="0" u="none" strike="noStrike">
              <a:solidFill>
                <a:srgbClr val="000000"/>
              </a:solidFill>
              <a:effectLst/>
              <a:uFillTx/>
              <a:latin typeface="Arial"/>
            </a:endParaRPr>
          </a:p>
        </p:txBody>
      </p:sp>
      <p:sp>
        <p:nvSpPr>
          <p:cNvPr id="590"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7C288F8-225D-43D7-B384-C98417FD77AD}" type="slidenum">
              <a:rPr lang="en-US" sz="1200" b="0" u="none" strike="noStrike">
                <a:solidFill>
                  <a:schemeClr val="dk1"/>
                </a:solidFill>
                <a:effectLst/>
                <a:uFillTx/>
                <a:latin typeface="+mn-lt"/>
                <a:ea typeface="+mn-ea"/>
              </a:rPr>
              <a:t>4</a:t>
            </a:fld>
            <a:endParaRPr lang="de-DE"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 name="PlaceHolder 1"/>
          <p:cNvSpPr>
            <a:spLocks noGrp="1" noRot="1" noChangeAspect="1"/>
          </p:cNvSpPr>
          <p:nvPr>
            <p:ph type="sldImg"/>
          </p:nvPr>
        </p:nvSpPr>
        <p:spPr>
          <a:xfrm>
            <a:off x="685800" y="1143000"/>
            <a:ext cx="5486400" cy="3086100"/>
          </a:xfrm>
          <a:prstGeom prst="rect">
            <a:avLst/>
          </a:prstGeom>
          <a:ln w="0">
            <a:noFill/>
          </a:ln>
        </p:spPr>
      </p:sp>
      <p:sp>
        <p:nvSpPr>
          <p:cNvPr id="5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Let's fix the vocabulary, because it recurs throughout. SNP — a single base swapped. indel — a short insertion or deletion. SV — any structural change over 50 bp. CNV — segments present in different copy numbers. PAV — sequence simply present or absent. bp means base pairs. The bigger the variant, the more functional impact it tends to carry.</a:t>
            </a:r>
            <a:endParaRPr lang="de-DE" sz="2000" b="0" u="none" strike="noStrike">
              <a:solidFill>
                <a:srgbClr val="000000"/>
              </a:solidFill>
              <a:effectLst/>
              <a:uFillTx/>
              <a:latin typeface="Arial"/>
            </a:endParaRPr>
          </a:p>
        </p:txBody>
      </p:sp>
      <p:sp>
        <p:nvSpPr>
          <p:cNvPr id="593"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686FF86-0303-4431-B69C-450702472A97}" type="slidenum">
              <a:rPr lang="en-US" sz="1200" b="0" u="none" strike="noStrike">
                <a:solidFill>
                  <a:schemeClr val="dk1"/>
                </a:solidFill>
                <a:effectLst/>
                <a:uFillTx/>
                <a:latin typeface="+mn-lt"/>
                <a:ea typeface="+mn-ea"/>
              </a:rPr>
              <a:t>5</a:t>
            </a:fld>
            <a:endParaRPr lang="de-DE"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 name="PlaceHolder 1"/>
          <p:cNvSpPr>
            <a:spLocks noGrp="1" noRot="1" noChangeAspect="1"/>
          </p:cNvSpPr>
          <p:nvPr>
            <p:ph type="sldImg"/>
          </p:nvPr>
        </p:nvSpPr>
        <p:spPr>
          <a:xfrm>
            <a:off x="685800" y="1143000"/>
            <a:ext cx="5486040" cy="3085920"/>
          </a:xfrm>
          <a:prstGeom prst="rect">
            <a:avLst/>
          </a:prstGeom>
          <a:ln w="0">
            <a:noFill/>
          </a:ln>
        </p:spPr>
      </p:sp>
      <p:sp>
        <p:nvSpPr>
          <p:cNvPr id="5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Side by side. A linear reference is a single path — reads from sequence it doesn't contain have nowhere to go, so variants are missed and mapping is biased. A graph offers many paths: each genome threads through, and where they differ you get a bubble. Nothing is thrown away.</a:t>
            </a:r>
            <a:endParaRPr lang="de-DE" sz="2000" b="0" u="none" strike="noStrike">
              <a:solidFill>
                <a:srgbClr val="000000"/>
              </a:solidFill>
              <a:effectLst/>
              <a:uFillTx/>
              <a:latin typeface="Arial"/>
            </a:endParaRPr>
          </a:p>
        </p:txBody>
      </p:sp>
      <p:sp>
        <p:nvSpPr>
          <p:cNvPr id="596"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C42A3BA-3FF3-4C41-A1D6-2B0C03BAD45E}" type="slidenum">
              <a:rPr lang="en-US" sz="1200" b="0" u="none" strike="noStrike">
                <a:solidFill>
                  <a:schemeClr val="dk1"/>
                </a:solidFill>
                <a:effectLst/>
                <a:uFillTx/>
                <a:latin typeface="+mn-lt"/>
                <a:ea typeface="+mn-ea"/>
              </a:rPr>
              <a:t>6</a:t>
            </a:fld>
            <a:endParaRPr lang="de-DE"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7" name="PlaceHolder 1"/>
          <p:cNvSpPr>
            <a:spLocks noGrp="1" noRot="1" noChangeAspect="1"/>
          </p:cNvSpPr>
          <p:nvPr>
            <p:ph type="sldImg"/>
          </p:nvPr>
        </p:nvSpPr>
        <p:spPr>
          <a:xfrm>
            <a:off x="685800" y="1143000"/>
            <a:ext cx="5486040" cy="3085920"/>
          </a:xfrm>
          <a:prstGeom prst="rect">
            <a:avLst/>
          </a:prstGeom>
          <a:ln w="0">
            <a:noFill/>
          </a:ln>
        </p:spPr>
      </p:sp>
      <p:sp>
        <p:nvSpPr>
          <p:cNvPr id="5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Mechanically: take a multiple sequence alignment, collapse the identical columns into shared nodes, and let the differences form bubbles. Panel (d) shows the real payoff — reads are mapped to the graph, not to one linear reference, which removes reference bias.</a:t>
            </a:r>
            <a:endParaRPr lang="de-DE" sz="2000" b="0" u="none" strike="noStrike">
              <a:solidFill>
                <a:srgbClr val="000000"/>
              </a:solidFill>
              <a:effectLst/>
              <a:uFillTx/>
              <a:latin typeface="Arial"/>
            </a:endParaRPr>
          </a:p>
        </p:txBody>
      </p:sp>
      <p:sp>
        <p:nvSpPr>
          <p:cNvPr id="599"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B28B25-7490-44BE-8F21-3C8DBDD54E21}" type="slidenum">
              <a:rPr lang="en-US" sz="1200" b="0" u="none" strike="noStrike">
                <a:solidFill>
                  <a:schemeClr val="dk1"/>
                </a:solidFill>
                <a:effectLst/>
                <a:uFillTx/>
                <a:latin typeface="+mn-lt"/>
                <a:ea typeface="+mn-ea"/>
              </a:rPr>
              <a:t>7</a:t>
            </a:fld>
            <a:endParaRPr lang="de-DE"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 name="PlaceHolder 1"/>
          <p:cNvSpPr>
            <a:spLocks noGrp="1" noRot="1" noChangeAspect="1"/>
          </p:cNvSpPr>
          <p:nvPr>
            <p:ph type="sldImg"/>
          </p:nvPr>
        </p:nvSpPr>
        <p:spPr>
          <a:xfrm>
            <a:off x="685800" y="1143000"/>
            <a:ext cx="5486040" cy="3085920"/>
          </a:xfrm>
          <a:prstGeom prst="rect">
            <a:avLst/>
          </a:prstGeom>
          <a:ln w="0">
            <a:noFill/>
          </a:ln>
        </p:spPr>
      </p:sp>
      <p:sp>
        <p:nvSpPr>
          <p:cNvPr id="6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Four words you need. A node is a stretch of sequence. An edge is an allowed connection between nodes. A path — or walk — is how one genome threads through; here Genome A takes node n3a and Genome B takes n3b. The place where paths diverge and rejoin is a bubble, and a bubble is exactly a variant.</a:t>
            </a:r>
            <a:endParaRPr lang="de-DE" sz="2000" b="0" u="none" strike="noStrike">
              <a:solidFill>
                <a:srgbClr val="000000"/>
              </a:solidFill>
              <a:effectLst/>
              <a:uFillTx/>
              <a:latin typeface="Arial"/>
            </a:endParaRPr>
          </a:p>
        </p:txBody>
      </p:sp>
      <p:sp>
        <p:nvSpPr>
          <p:cNvPr id="602"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382A185-669E-4D6C-9138-30F4F8FFBB18}" type="slidenum">
              <a:rPr lang="en-US" sz="1200" b="0" u="none" strike="noStrike">
                <a:solidFill>
                  <a:schemeClr val="dk1"/>
                </a:solidFill>
                <a:effectLst/>
                <a:uFillTx/>
                <a:latin typeface="+mn-lt"/>
                <a:ea typeface="+mn-ea"/>
              </a:rPr>
              <a:t>8</a:t>
            </a:fld>
            <a:endParaRPr lang="de-DE"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 name="PlaceHolder 1"/>
          <p:cNvSpPr>
            <a:spLocks noGrp="1" noRot="1" noChangeAspect="1"/>
          </p:cNvSpPr>
          <p:nvPr>
            <p:ph type="sldImg"/>
          </p:nvPr>
        </p:nvSpPr>
        <p:spPr>
          <a:xfrm>
            <a:off x="685800" y="1143000"/>
            <a:ext cx="5486040" cy="3085920"/>
          </a:xfrm>
          <a:prstGeom prst="rect">
            <a:avLst/>
          </a:prstGeom>
          <a:ln w="0">
            <a:noFill/>
          </a:ln>
        </p:spPr>
      </p:sp>
      <p:sp>
        <p:nvSpPr>
          <p:cNvPr id="6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Building blocks. ONT — Oxford Nanopore Technologies — gives very long reads that span repeats and SVs, but with higher raw error. Illumina gives short, very accurate reads for polishing and SNP calling. PacBio HiFi is long AND accurate; Hi-C captures 3-D contacts to order contigs into chromosomes. Q is the Phred quality score: Q30 means one error in a thousand bases.</a:t>
            </a:r>
            <a:endParaRPr lang="de-DE" sz="2000" b="0" u="none" strike="noStrike">
              <a:solidFill>
                <a:srgbClr val="000000"/>
              </a:solidFill>
              <a:effectLst/>
              <a:uFillTx/>
              <a:latin typeface="Arial"/>
            </a:endParaRPr>
          </a:p>
        </p:txBody>
      </p:sp>
      <p:sp>
        <p:nvSpPr>
          <p:cNvPr id="605"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8F93848-DF52-4F59-954A-A2AA057717C5}" type="slidenum">
              <a:rPr lang="en-US" sz="1200" b="0" u="none" strike="noStrike">
                <a:solidFill>
                  <a:schemeClr val="dk1"/>
                </a:solidFill>
                <a:effectLst/>
                <a:uFillTx/>
                <a:latin typeface="+mn-lt"/>
                <a:ea typeface="+mn-ea"/>
              </a:rPr>
              <a:t>9</a:t>
            </a:fld>
            <a:endParaRPr lang="de-DE"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685800" y="1143000"/>
            <a:ext cx="5486400" cy="3086100"/>
          </a:xfrm>
          <a:prstGeom prst="rect">
            <a:avLst/>
          </a:prstGeom>
          <a:ln w="0">
            <a:noFill/>
          </a:ln>
        </p:spPr>
      </p:sp>
      <p:sp>
        <p:nvSpPr>
          <p:cNvPr id="6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Before assembling, QC the reads. NanoPlot shows the read-length distribution and quality for Oxford Nanopore data. The k-mer spectrum — a k-mer is just a substring of length k — tells you sequencing depth, error rate and repeat content from the read data alone. Targets: at least 30-fold coverage, read N50 above 15 kb, median quality Q12–15.</a:t>
            </a:r>
            <a:endParaRPr lang="de-DE" sz="2000" b="0" u="none" strike="noStrike">
              <a:solidFill>
                <a:srgbClr val="000000"/>
              </a:solidFill>
              <a:effectLst/>
              <a:uFillTx/>
              <a:latin typeface="Arial"/>
            </a:endParaRPr>
          </a:p>
        </p:txBody>
      </p:sp>
      <p:sp>
        <p:nvSpPr>
          <p:cNvPr id="608"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1629AB3-B7E0-42CE-865C-A07062FF0EF3}" type="slidenum">
              <a:rPr lang="en-US" sz="1200" b="0" u="none" strike="noStrike">
                <a:solidFill>
                  <a:schemeClr val="dk1"/>
                </a:solidFill>
                <a:effectLst/>
                <a:uFillTx/>
                <a:latin typeface="+mn-lt"/>
                <a:ea typeface="+mn-ea"/>
              </a:rPr>
              <a:t>10</a:t>
            </a:fld>
            <a:endParaRPr lang="de-DE"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 name="PlaceHolder 1"/>
          <p:cNvSpPr>
            <a:spLocks noGrp="1" noRot="1" noChangeAspect="1"/>
          </p:cNvSpPr>
          <p:nvPr>
            <p:ph type="sldImg"/>
          </p:nvPr>
        </p:nvSpPr>
        <p:spPr>
          <a:xfrm>
            <a:off x="685800" y="1143000"/>
            <a:ext cx="5486400" cy="3086100"/>
          </a:xfrm>
          <a:prstGeom prst="rect">
            <a:avLst/>
          </a:prstGeom>
          <a:ln w="0">
            <a:noFill/>
          </a:ln>
        </p:spPr>
      </p:sp>
      <p:sp>
        <p:nvSpPr>
          <p:cNvPr id="6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Long reads give you contigs — continuous stretches — but not whole chromosomes. Hi-C, high-throughput chromosome conformation capture, cross-links DNA that is physically close in the nucleus, so a read pair tells you two loci are near each other. Since same-chromosome contacts dominate, this orders and orients contigs into chromosome-scale scaffolds — the bright blocks in the contact map are the chromosomes.</a:t>
            </a:r>
            <a:endParaRPr lang="de-DE" sz="2000" b="0" u="none" strike="noStrike">
              <a:solidFill>
                <a:srgbClr val="000000"/>
              </a:solidFill>
              <a:effectLst/>
              <a:uFillTx/>
              <a:latin typeface="Arial"/>
            </a:endParaRPr>
          </a:p>
        </p:txBody>
      </p:sp>
      <p:sp>
        <p:nvSpPr>
          <p:cNvPr id="611"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C6BE8EA-B325-41EF-A575-8696D90E2DC0}" type="slidenum">
              <a:rPr lang="en-US" sz="1200" b="0" u="none" strike="noStrike">
                <a:solidFill>
                  <a:schemeClr val="dk1"/>
                </a:solidFill>
                <a:effectLst/>
                <a:uFillTx/>
                <a:latin typeface="+mn-lt"/>
                <a:ea typeface="+mn-ea"/>
              </a:rPr>
              <a:t>11</a:t>
            </a:fld>
            <a:endParaRPr lang="de-DE"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 name="PlaceHolder 1"/>
          <p:cNvSpPr>
            <a:spLocks noGrp="1" noRot="1" noChangeAspect="1"/>
          </p:cNvSpPr>
          <p:nvPr>
            <p:ph type="sldImg"/>
          </p:nvPr>
        </p:nvSpPr>
        <p:spPr>
          <a:xfrm>
            <a:off x="685800" y="1143000"/>
            <a:ext cx="5486040" cy="3085920"/>
          </a:xfrm>
          <a:prstGeom prst="rect">
            <a:avLst/>
          </a:prstGeom>
          <a:ln w="0">
            <a:noFill/>
          </a:ln>
        </p:spPr>
      </p:sp>
      <p:sp>
        <p:nvSpPr>
          <p:cNvPr id="6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Once assembled, ask three questions. Contiguity — how fragmented — measured by N50 and L50 in QUAST. Completeness — is anything missing — via BUSCO and Merqury. Correctness — is it accurate — via consensus quality value and misassembly detection. Read all three together: a big N50 on its own can hide a wrong or incomplete assembly.</a:t>
            </a:r>
            <a:endParaRPr lang="de-DE" sz="2000" b="0" u="none" strike="noStrike">
              <a:solidFill>
                <a:srgbClr val="000000"/>
              </a:solidFill>
              <a:effectLst/>
              <a:uFillTx/>
              <a:latin typeface="Arial"/>
            </a:endParaRPr>
          </a:p>
        </p:txBody>
      </p:sp>
      <p:sp>
        <p:nvSpPr>
          <p:cNvPr id="614"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59F0EB9-0D3C-4CE7-8A1B-70AA33F04547}" type="slidenum">
              <a:rPr lang="en-US" sz="1200" b="0" u="none" strike="noStrike">
                <a:solidFill>
                  <a:schemeClr val="dk1"/>
                </a:solidFill>
                <a:effectLst/>
                <a:uFillTx/>
                <a:latin typeface="+mn-lt"/>
                <a:ea typeface="+mn-ea"/>
              </a:rPr>
              <a:t>12</a:t>
            </a:fld>
            <a:endParaRPr lang="de-DE"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 name="PlaceHolder 1"/>
          <p:cNvSpPr>
            <a:spLocks noGrp="1" noRot="1" noChangeAspect="1"/>
          </p:cNvSpPr>
          <p:nvPr>
            <p:ph type="sldImg"/>
          </p:nvPr>
        </p:nvSpPr>
        <p:spPr>
          <a:xfrm>
            <a:off x="685800" y="1143000"/>
            <a:ext cx="5486400" cy="3086100"/>
          </a:xfrm>
          <a:prstGeom prst="rect">
            <a:avLst/>
          </a:prstGeom>
          <a:ln w="0">
            <a:noFill/>
          </a:ln>
        </p:spPr>
      </p:sp>
      <p:sp>
        <p:nvSpPr>
          <p:cNvPr id="6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Two concrete tools. BUSCO — Benchmarking Universal Single-Copy Orthologs — checks for genes that should appear exactly once in this lineage; you want a high Complete percentage. Merqury compares k-mers in the reads against the assembly to give a consensus quality value, QV; QV40 is about one error per ten thousand bases, and the spectrum peaks separate single-copy from duplicated sequence.</a:t>
            </a:r>
            <a:endParaRPr lang="de-DE" sz="2000" b="0" u="none" strike="noStrike">
              <a:solidFill>
                <a:srgbClr val="000000"/>
              </a:solidFill>
              <a:effectLst/>
              <a:uFillTx/>
              <a:latin typeface="Arial"/>
            </a:endParaRPr>
          </a:p>
        </p:txBody>
      </p:sp>
      <p:sp>
        <p:nvSpPr>
          <p:cNvPr id="617"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FD8FE78-6C55-4AC9-A7F6-C174CB512B37}" type="slidenum">
              <a:rPr lang="en-US" sz="1200" b="0" u="none" strike="noStrike">
                <a:solidFill>
                  <a:schemeClr val="dk1"/>
                </a:solidFill>
                <a:effectLst/>
                <a:uFillTx/>
                <a:latin typeface="+mn-lt"/>
                <a:ea typeface="+mn-ea"/>
              </a:rPr>
              <a:t>13</a:t>
            </a:fld>
            <a:endParaRPr lang="de-DE"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 name="PlaceHolder 1"/>
          <p:cNvSpPr>
            <a:spLocks noGrp="1" noRot="1" noChangeAspect="1"/>
          </p:cNvSpPr>
          <p:nvPr>
            <p:ph type="sldImg"/>
          </p:nvPr>
        </p:nvSpPr>
        <p:spPr>
          <a:xfrm>
            <a:off x="685800" y="1143000"/>
            <a:ext cx="5486400" cy="3086100"/>
          </a:xfrm>
          <a:prstGeom prst="rect">
            <a:avLst/>
          </a:prstGeom>
          <a:ln w="0">
            <a:noFill/>
          </a:ln>
        </p:spPr>
      </p:sp>
      <p:sp>
        <p:nvSpPr>
          <p:cNvPr id="6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 graph of bare sequence isn't enough — we need genes. Structural annotation locates genes and exons and writes them in GFF3, the General Feature Format. Functional annotation says what each gene does. We QC the annotation with protein-mode BUSCO and by checking that expected functional categories are well covered, as in this Mercator plot.</a:t>
            </a:r>
            <a:endParaRPr lang="de-DE" sz="2000" b="0" u="none" strike="noStrike">
              <a:solidFill>
                <a:srgbClr val="000000"/>
              </a:solidFill>
              <a:effectLst/>
              <a:uFillTx/>
              <a:latin typeface="Arial"/>
            </a:endParaRPr>
          </a:p>
        </p:txBody>
      </p:sp>
      <p:sp>
        <p:nvSpPr>
          <p:cNvPr id="620"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9D2E425-4B72-466B-B3DA-6CAFA5780044}" type="slidenum">
              <a:rPr lang="en-US" sz="1200" b="0" u="none" strike="noStrike">
                <a:solidFill>
                  <a:schemeClr val="dk1"/>
                </a:solidFill>
                <a:effectLst/>
                <a:uFillTx/>
                <a:latin typeface="+mn-lt"/>
                <a:ea typeface="+mn-ea"/>
              </a:rPr>
              <a:t>14</a:t>
            </a:fld>
            <a:endParaRPr lang="de-DE"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 name="PlaceHolder 1"/>
          <p:cNvSpPr>
            <a:spLocks noGrp="1" noRot="1" noChangeAspect="1"/>
          </p:cNvSpPr>
          <p:nvPr>
            <p:ph type="sldImg"/>
          </p:nvPr>
        </p:nvSpPr>
        <p:spPr>
          <a:xfrm>
            <a:off x="685800" y="1143000"/>
            <a:ext cx="5486040" cy="3085920"/>
          </a:xfrm>
          <a:prstGeom prst="rect">
            <a:avLst/>
          </a:prstGeom>
          <a:ln w="0">
            <a:noFill/>
          </a:ln>
        </p:spPr>
      </p:sp>
      <p:sp>
        <p:nvSpPr>
          <p:cNvPr id="6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Three mainstream builders. minigraph is fast but only captures structural variants. Minigraph-Cactus — MC — is base-level but reference-guided, great for human. For unbiased plant work we use PGGB, the PanGenome Graph Builder: reference-free, all-vs-all, base-level. Everything that follows uses PGGB.</a:t>
            </a:r>
            <a:endParaRPr lang="de-DE" sz="2000" b="0" u="none" strike="noStrike">
              <a:solidFill>
                <a:srgbClr val="000000"/>
              </a:solidFill>
              <a:effectLst/>
              <a:uFillTx/>
              <a:latin typeface="Arial"/>
            </a:endParaRPr>
          </a:p>
        </p:txBody>
      </p:sp>
      <p:sp>
        <p:nvSpPr>
          <p:cNvPr id="623"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5F81DCA-0A22-480F-94FD-993E898048A5}" type="slidenum">
              <a:rPr lang="en-US" sz="1200" b="0" u="none" strike="noStrike">
                <a:solidFill>
                  <a:schemeClr val="dk1"/>
                </a:solidFill>
                <a:effectLst/>
                <a:uFillTx/>
                <a:latin typeface="+mn-lt"/>
                <a:ea typeface="+mn-ea"/>
              </a:rPr>
              <a:t>15</a:t>
            </a:fld>
            <a:endParaRPr lang="de-DE"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 name="PlaceHolder 1"/>
          <p:cNvSpPr>
            <a:spLocks noGrp="1" noRot="1" noChangeAspect="1"/>
          </p:cNvSpPr>
          <p:nvPr>
            <p:ph type="sldImg"/>
          </p:nvPr>
        </p:nvSpPr>
        <p:spPr>
          <a:xfrm>
            <a:off x="685800" y="1143000"/>
            <a:ext cx="5486040" cy="3085920"/>
          </a:xfrm>
          <a:prstGeom prst="rect">
            <a:avLst/>
          </a:prstGeom>
          <a:ln w="0">
            <a:noFill/>
          </a:ln>
        </p:spPr>
      </p:sp>
      <p:sp>
        <p:nvSpPr>
          <p:cNvPr id="6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PGGB is four tools chained. wfmash aligns every genome against every other using wavefront alignment. seqwish turns those alignments into a lossless graph. smoothxg smooths it with partial-order alignment, POA. gfaffix collapses redundant nodes. The output is a GFA graph — Graphical Fragment Assembly — plus odgi files for QC.</a:t>
            </a:r>
            <a:endParaRPr lang="de-DE" sz="2000" b="0" u="none" strike="noStrike">
              <a:solidFill>
                <a:srgbClr val="000000"/>
              </a:solidFill>
              <a:effectLst/>
              <a:uFillTx/>
              <a:latin typeface="Arial"/>
            </a:endParaRPr>
          </a:p>
        </p:txBody>
      </p:sp>
      <p:sp>
        <p:nvSpPr>
          <p:cNvPr id="626"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B22CB20-DA28-4BDB-97DC-359F6952BF91}" type="slidenum">
              <a:rPr lang="en-US" sz="1200" b="0" u="none" strike="noStrike">
                <a:solidFill>
                  <a:schemeClr val="dk1"/>
                </a:solidFill>
                <a:effectLst/>
                <a:uFillTx/>
                <a:latin typeface="+mn-lt"/>
                <a:ea typeface="+mn-ea"/>
              </a:rPr>
              <a:t>16</a:t>
            </a:fld>
            <a:endParaRPr lang="de-DE"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PlaceHolder 1"/>
          <p:cNvSpPr>
            <a:spLocks noGrp="1" noRot="1" noChangeAspect="1"/>
          </p:cNvSpPr>
          <p:nvPr>
            <p:ph type="sldImg"/>
          </p:nvPr>
        </p:nvSpPr>
        <p:spPr>
          <a:xfrm>
            <a:off x="685800" y="1143000"/>
            <a:ext cx="5486040" cy="3085920"/>
          </a:xfrm>
          <a:prstGeom prst="rect">
            <a:avLst/>
          </a:prstGeom>
          <a:ln w="0">
            <a:noFill/>
          </a:ln>
        </p:spPr>
      </p:sp>
      <p:sp>
        <p:nvSpPr>
          <p:cNvPr id="6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 small but essential convention. Every input sequence is named sample-hash-haplotype-hash-contig — the PanSN scheme, Pangenome Sequence Naming. The sample is the accession, the haplotype is which chromosome copy, and the contig is the sequence name. This lets every downstream tool know which path through the graph belongs to which genome.</a:t>
            </a:r>
            <a:endParaRPr lang="de-DE" sz="2000" b="0" u="none" strike="noStrike">
              <a:solidFill>
                <a:srgbClr val="000000"/>
              </a:solidFill>
              <a:effectLst/>
              <a:uFillTx/>
              <a:latin typeface="Arial"/>
            </a:endParaRPr>
          </a:p>
        </p:txBody>
      </p:sp>
      <p:sp>
        <p:nvSpPr>
          <p:cNvPr id="629"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2A59750-EBA4-40B6-8B4B-72D7E8279BC6}" type="slidenum">
              <a:rPr lang="en-US" sz="1200" b="0" u="none" strike="noStrike">
                <a:solidFill>
                  <a:schemeClr val="dk1"/>
                </a:solidFill>
                <a:effectLst/>
                <a:uFillTx/>
                <a:latin typeface="+mn-lt"/>
                <a:ea typeface="+mn-ea"/>
              </a:rPr>
              <a:t>17</a:t>
            </a:fld>
            <a:endParaRPr lang="de-DE"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 name="PlaceHolder 1"/>
          <p:cNvSpPr>
            <a:spLocks noGrp="1" noRot="1" noChangeAspect="1"/>
          </p:cNvSpPr>
          <p:nvPr>
            <p:ph type="sldImg"/>
          </p:nvPr>
        </p:nvSpPr>
        <p:spPr>
          <a:xfrm>
            <a:off x="685800" y="1143000"/>
            <a:ext cx="5486040" cy="3085920"/>
          </a:xfrm>
          <a:prstGeom prst="rect">
            <a:avLst/>
          </a:prstGeom>
          <a:ln w="0">
            <a:noFill/>
          </a:ln>
        </p:spPr>
      </p:sp>
      <p:sp>
        <p:nvSpPr>
          <p:cNvPr id="6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 genome-wide all-vs-all alignment is intractable at 1 gigabase. So we partition into communities, which correspond to chromosomes, and build one graph per chromosome in parallel. Recombine afterwards with odgi squeeze. One caveat for later: per-chromosome graphs can't see translocations between chromosomes.</a:t>
            </a:r>
            <a:endParaRPr lang="de-DE" sz="2000" b="0" u="none" strike="noStrike">
              <a:solidFill>
                <a:srgbClr val="000000"/>
              </a:solidFill>
              <a:effectLst/>
              <a:uFillTx/>
              <a:latin typeface="Arial"/>
            </a:endParaRPr>
          </a:p>
        </p:txBody>
      </p:sp>
      <p:sp>
        <p:nvSpPr>
          <p:cNvPr id="632"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E6580D7-9BFA-4F87-8CA5-30BA60554327}" type="slidenum">
              <a:rPr lang="en-US" sz="1200" b="0" u="none" strike="noStrike">
                <a:solidFill>
                  <a:schemeClr val="dk1"/>
                </a:solidFill>
                <a:effectLst/>
                <a:uFillTx/>
                <a:latin typeface="+mn-lt"/>
                <a:ea typeface="+mn-ea"/>
              </a:rPr>
              <a:t>18</a:t>
            </a:fld>
            <a:endParaRPr lang="de-DE"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PlaceHolder 1"/>
          <p:cNvSpPr>
            <a:spLocks noGrp="1" noRot="1" noChangeAspect="1"/>
          </p:cNvSpPr>
          <p:nvPr>
            <p:ph type="sldImg"/>
          </p:nvPr>
        </p:nvSpPr>
        <p:spPr>
          <a:xfrm>
            <a:off x="685800" y="1143000"/>
            <a:ext cx="5486040" cy="3085920"/>
          </a:xfrm>
          <a:prstGeom prst="rect">
            <a:avLst/>
          </a:prstGeom>
          <a:ln w="0">
            <a:noFill/>
          </a:ln>
        </p:spPr>
      </p:sp>
      <p:sp>
        <p:nvSpPr>
          <p:cNvPr id="6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Don't accept defaults blindly. Estimate divergence with mash to set the identity threshold −p, then sweep segment length −s and minimum match −k on a single chromosome — here a 3-by-3 grid — and judge each graph with odgi stats. Pick the balanced one. For eggplant that was s 20000, k 23, p 93.</a:t>
            </a:r>
            <a:endParaRPr lang="de-DE" sz="2000" b="0" u="none" strike="noStrike">
              <a:solidFill>
                <a:srgbClr val="000000"/>
              </a:solidFill>
              <a:effectLst/>
              <a:uFillTx/>
              <a:latin typeface="Arial"/>
            </a:endParaRPr>
          </a:p>
        </p:txBody>
      </p:sp>
      <p:sp>
        <p:nvSpPr>
          <p:cNvPr id="635"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192E56D-008D-4871-A718-252D9A7ABE72}" type="slidenum">
              <a:rPr lang="en-US" sz="1200" b="0" u="none" strike="noStrike">
                <a:solidFill>
                  <a:schemeClr val="dk1"/>
                </a:solidFill>
                <a:effectLst/>
                <a:uFillTx/>
                <a:latin typeface="+mn-lt"/>
                <a:ea typeface="+mn-ea"/>
              </a:rPr>
              <a:t>19</a:t>
            </a:fld>
            <a:endParaRPr lang="de-DE"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PlaceHolder 1"/>
          <p:cNvSpPr>
            <a:spLocks noGrp="1" noRot="1" noChangeAspect="1"/>
          </p:cNvSpPr>
          <p:nvPr>
            <p:ph type="sldImg"/>
          </p:nvPr>
        </p:nvSpPr>
        <p:spPr>
          <a:xfrm>
            <a:off x="685800" y="1143000"/>
            <a:ext cx="5486040" cy="3085920"/>
          </a:xfrm>
          <a:prstGeom prst="rect">
            <a:avLst/>
          </a:prstGeom>
          <a:ln w="0">
            <a:noFill/>
          </a:ln>
        </p:spPr>
      </p:sp>
      <p:sp>
        <p:nvSpPr>
          <p:cNvPr id="6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In practice it's one FASTA — a plain sequence file — with every genome, PanSN-named, indexed with samtools faidx. Then a single pggb command. The parameters that matter most are −n, the number of haplotypes; −p, the identity threshold; and −s, the segment length that controls graph granularity.</a:t>
            </a:r>
            <a:endParaRPr lang="de-DE" sz="2000" b="0" u="none" strike="noStrike">
              <a:solidFill>
                <a:srgbClr val="000000"/>
              </a:solidFill>
              <a:effectLst/>
              <a:uFillTx/>
              <a:latin typeface="Arial"/>
            </a:endParaRPr>
          </a:p>
        </p:txBody>
      </p:sp>
      <p:sp>
        <p:nvSpPr>
          <p:cNvPr id="638"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D912D70-F540-406D-AB2D-AAEB60E6E18F}" type="slidenum">
              <a:rPr lang="en-US" sz="1200" b="0" u="none" strike="noStrike">
                <a:solidFill>
                  <a:schemeClr val="dk1"/>
                </a:solidFill>
                <a:effectLst/>
                <a:uFillTx/>
                <a:latin typeface="+mn-lt"/>
                <a:ea typeface="+mn-ea"/>
              </a:rPr>
              <a:t>20</a:t>
            </a:fld>
            <a:endParaRPr lang="de-DE"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9" name="PlaceHolder 1"/>
          <p:cNvSpPr>
            <a:spLocks noGrp="1" noRot="1" noChangeAspect="1"/>
          </p:cNvSpPr>
          <p:nvPr>
            <p:ph type="sldImg"/>
          </p:nvPr>
        </p:nvSpPr>
        <p:spPr>
          <a:xfrm>
            <a:off x="685800" y="1143000"/>
            <a:ext cx="5486040" cy="3085920"/>
          </a:xfrm>
          <a:prstGeom prst="rect">
            <a:avLst/>
          </a:prstGeom>
          <a:ln w="0">
            <a:noFill/>
          </a:ln>
        </p:spPr>
      </p:sp>
      <p:sp>
        <p:nvSpPr>
          <p:cNvPr id="6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graph is stored as GFA — Graphical Fragment Assembly — a plain-text format. S lines are segments, i.e. nodes; L lines are links, i.e. edges; P lines are paths, one per genome. The plus or minus marks strand. Where two P lines diverge you have a bubble, and a bubble is a variant.</a:t>
            </a:r>
            <a:endParaRPr lang="de-DE" sz="2000" b="0" u="none" strike="noStrike">
              <a:solidFill>
                <a:srgbClr val="000000"/>
              </a:solidFill>
              <a:effectLst/>
              <a:uFillTx/>
              <a:latin typeface="Arial"/>
            </a:endParaRPr>
          </a:p>
        </p:txBody>
      </p:sp>
      <p:sp>
        <p:nvSpPr>
          <p:cNvPr id="641"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A449AF7-E9FC-4181-968B-A0B504FAFE32}" type="slidenum">
              <a:rPr lang="en-US" sz="1200" b="0" u="none" strike="noStrike">
                <a:solidFill>
                  <a:schemeClr val="dk1"/>
                </a:solidFill>
                <a:effectLst/>
                <a:uFillTx/>
                <a:latin typeface="+mn-lt"/>
                <a:ea typeface="+mn-ea"/>
              </a:rPr>
              <a:t>21</a:t>
            </a:fld>
            <a:endParaRPr lang="de-DE"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 name="PlaceHolder 1"/>
          <p:cNvSpPr>
            <a:spLocks noGrp="1" noRot="1" noChangeAspect="1"/>
          </p:cNvSpPr>
          <p:nvPr>
            <p:ph type="sldImg"/>
          </p:nvPr>
        </p:nvSpPr>
        <p:spPr>
          <a:xfrm>
            <a:off x="685800" y="1143000"/>
            <a:ext cx="5486040" cy="3085920"/>
          </a:xfrm>
          <a:prstGeom prst="rect">
            <a:avLst/>
          </a:prstGeom>
          <a:ln w="0">
            <a:noFill/>
          </a:ln>
        </p:spPr>
      </p:sp>
      <p:sp>
        <p:nvSpPr>
          <p:cNvPr id="6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 big advantage: variants come for free. Because every bubble is a variant, the vg toolkit's deconstruct command walks the graph and writes a standard VCF — Variant Call Format — covering SNPs through to large SVs in one pass, with no separate caller and no reference bias. New samples are genotyped by mapping reads with vg giraffe against the same graph.</a:t>
            </a:r>
            <a:endParaRPr lang="de-DE" sz="2000" b="0" u="none" strike="noStrike">
              <a:solidFill>
                <a:srgbClr val="000000"/>
              </a:solidFill>
              <a:effectLst/>
              <a:uFillTx/>
              <a:latin typeface="Arial"/>
            </a:endParaRPr>
          </a:p>
        </p:txBody>
      </p:sp>
      <p:sp>
        <p:nvSpPr>
          <p:cNvPr id="644"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77312A3-EFCC-48ED-B73F-6A432E673EFD}" type="slidenum">
              <a:rPr lang="en-US" sz="1200" b="0" u="none" strike="noStrike">
                <a:solidFill>
                  <a:schemeClr val="dk1"/>
                </a:solidFill>
                <a:effectLst/>
                <a:uFillTx/>
                <a:latin typeface="+mn-lt"/>
                <a:ea typeface="+mn-ea"/>
              </a:rPr>
              <a:t>22</a:t>
            </a:fld>
            <a:endParaRPr lang="de-DE"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 name="PlaceHolder 1"/>
          <p:cNvSpPr>
            <a:spLocks noGrp="1" noRot="1" noChangeAspect="1"/>
          </p:cNvSpPr>
          <p:nvPr>
            <p:ph type="sldImg"/>
          </p:nvPr>
        </p:nvSpPr>
        <p:spPr>
          <a:xfrm>
            <a:off x="685800" y="1143000"/>
            <a:ext cx="5486040" cy="3085920"/>
          </a:xfrm>
          <a:prstGeom prst="rect">
            <a:avLst/>
          </a:prstGeom>
          <a:ln w="0">
            <a:noFill/>
          </a:ln>
        </p:spPr>
      </p:sp>
      <p:sp>
        <p:nvSpPr>
          <p:cNvPr id="6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odgi — Optimized Dynamic Genome Implementation — is the toolkit for inspecting the graph. Its 1-D view shows one row per genome: colour means present, white means absent. White gaps are presence/absence variation; gaps that line up across rows are shared structural variants. If every row spans the locus, nothing was dropped.</a:t>
            </a:r>
            <a:endParaRPr lang="de-DE" sz="2000" b="0" u="none" strike="noStrike">
              <a:solidFill>
                <a:srgbClr val="000000"/>
              </a:solidFill>
              <a:effectLst/>
              <a:uFillTx/>
              <a:latin typeface="Arial"/>
            </a:endParaRPr>
          </a:p>
        </p:txBody>
      </p:sp>
      <p:sp>
        <p:nvSpPr>
          <p:cNvPr id="647"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36AAD84-3CFE-4E01-B7DB-D8AB1B97E72B}" type="slidenum">
              <a:rPr lang="en-US" sz="1200" b="0" u="none" strike="noStrike">
                <a:solidFill>
                  <a:schemeClr val="dk1"/>
                </a:solidFill>
                <a:effectLst/>
                <a:uFillTx/>
                <a:latin typeface="+mn-lt"/>
                <a:ea typeface="+mn-ea"/>
              </a:rPr>
              <a:t>23</a:t>
            </a:fld>
            <a:endParaRPr lang="de-DE"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 name="PlaceHolder 1"/>
          <p:cNvSpPr>
            <a:spLocks noGrp="1" noRot="1" noChangeAspect="1"/>
          </p:cNvSpPr>
          <p:nvPr>
            <p:ph type="sldImg"/>
          </p:nvPr>
        </p:nvSpPr>
        <p:spPr>
          <a:xfrm>
            <a:off x="685800" y="1143000"/>
            <a:ext cx="5486040" cy="3085920"/>
          </a:xfrm>
          <a:prstGeom prst="rect">
            <a:avLst/>
          </a:prstGeom>
          <a:ln w="0">
            <a:noFill/>
          </a:ln>
        </p:spPr>
      </p:sp>
      <p:sp>
        <p:nvSpPr>
          <p:cNvPr id="6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Core, shell and cloud are just node occupancy: how many genomes traverse each node. panacus — a pangenome counting tool — produces this histogram, and the classic U-shape shows lots of core on the right and lots of private sequence on the left. Remember the caveat: these labels depend on sample size, so always report the threshold and the number of genomes.</a:t>
            </a:r>
            <a:endParaRPr lang="de-DE" sz="2000" b="0" u="none" strike="noStrike">
              <a:solidFill>
                <a:srgbClr val="000000"/>
              </a:solidFill>
              <a:effectLst/>
              <a:uFillTx/>
              <a:latin typeface="Arial"/>
            </a:endParaRPr>
          </a:p>
        </p:txBody>
      </p:sp>
      <p:sp>
        <p:nvSpPr>
          <p:cNvPr id="650"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12A349F-F15F-4045-8642-43CD982837FB}" type="slidenum">
              <a:rPr lang="en-US" sz="1200" b="0" u="none" strike="noStrike">
                <a:solidFill>
                  <a:schemeClr val="dk1"/>
                </a:solidFill>
                <a:effectLst/>
                <a:uFillTx/>
                <a:latin typeface="+mn-lt"/>
                <a:ea typeface="+mn-ea"/>
              </a:rPr>
              <a:t>24</a:t>
            </a:fld>
            <a:endParaRPr lang="de-DE"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 name="PlaceHolder 1"/>
          <p:cNvSpPr>
            <a:spLocks noGrp="1" noRot="1" noChangeAspect="1"/>
          </p:cNvSpPr>
          <p:nvPr>
            <p:ph type="sldImg"/>
          </p:nvPr>
        </p:nvSpPr>
        <p:spPr>
          <a:xfrm>
            <a:off x="685800" y="1143000"/>
            <a:ext cx="5486040" cy="3085920"/>
          </a:xfrm>
          <a:prstGeom prst="rect">
            <a:avLst/>
          </a:prstGeom>
          <a:ln w="0">
            <a:noFill/>
          </a:ln>
        </p:spPr>
      </p:sp>
      <p:sp>
        <p:nvSpPr>
          <p:cNvPr id="6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Is your sample big enough? Build accumulation curves and fit Heaps' law. A pan curve that keeps rising means an open pangenome — more genomes still add sequence. The core curve falls and settles. You must be near saturation before core/shell/cloud fractions mean anything: roughly 10–20 diploid accessions, 30–50 for polyploids.</a:t>
            </a:r>
            <a:endParaRPr lang="de-DE" sz="2000" b="0" u="none" strike="noStrike">
              <a:solidFill>
                <a:srgbClr val="000000"/>
              </a:solidFill>
              <a:effectLst/>
              <a:uFillTx/>
              <a:latin typeface="Arial"/>
            </a:endParaRPr>
          </a:p>
        </p:txBody>
      </p:sp>
      <p:sp>
        <p:nvSpPr>
          <p:cNvPr id="653"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CAD42A1-72EA-4265-B7EC-8F3F213A36FC}" type="slidenum">
              <a:rPr lang="en-US" sz="1200" b="0" u="none" strike="noStrike">
                <a:solidFill>
                  <a:schemeClr val="dk1"/>
                </a:solidFill>
                <a:effectLst/>
                <a:uFillTx/>
                <a:latin typeface="+mn-lt"/>
                <a:ea typeface="+mn-ea"/>
              </a:rPr>
              <a:t>25</a:t>
            </a:fld>
            <a:endParaRPr lang="de-DE"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 name="PlaceHolder 1"/>
          <p:cNvSpPr>
            <a:spLocks noGrp="1" noRot="1" noChangeAspect="1"/>
          </p:cNvSpPr>
          <p:nvPr>
            <p:ph type="sldImg"/>
          </p:nvPr>
        </p:nvSpPr>
        <p:spPr>
          <a:xfrm>
            <a:off x="685800" y="1143000"/>
            <a:ext cx="5486040" cy="3085920"/>
          </a:xfrm>
          <a:prstGeom prst="rect">
            <a:avLst/>
          </a:prstGeom>
          <a:ln w="0">
            <a:noFill/>
          </a:ln>
        </p:spPr>
      </p:sp>
      <p:sp>
        <p:nvSpPr>
          <p:cNvPr id="6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 pangenome is far more than its genes. Transposable elements — TEs, DNA that copies itself — are the biggest and most variable fraction in plants and drive genome-size and structural diversity. Measure repeat resolution with the LTR Assembly Index and annotate TEs with EDTA. Crucially, up to half of graph-unique variants sit in repeats, so QC those regions deliberately.</a:t>
            </a:r>
            <a:endParaRPr lang="de-DE" sz="2000" b="0" u="none" strike="noStrike">
              <a:solidFill>
                <a:srgbClr val="000000"/>
              </a:solidFill>
              <a:effectLst/>
              <a:uFillTx/>
              <a:latin typeface="Arial"/>
            </a:endParaRPr>
          </a:p>
        </p:txBody>
      </p:sp>
      <p:sp>
        <p:nvSpPr>
          <p:cNvPr id="656"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1FA2D0D-0DEC-4826-AB43-433D6254C1A6}" type="slidenum">
              <a:rPr lang="en-US" sz="1200" b="0" u="none" strike="noStrike">
                <a:solidFill>
                  <a:schemeClr val="dk1"/>
                </a:solidFill>
                <a:effectLst/>
                <a:uFillTx/>
                <a:latin typeface="+mn-lt"/>
                <a:ea typeface="+mn-ea"/>
              </a:rPr>
              <a:t>26</a:t>
            </a:fld>
            <a:endParaRPr lang="de-DE"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 name="PlaceHolder 1"/>
          <p:cNvSpPr>
            <a:spLocks noGrp="1" noRot="1" noChangeAspect="1"/>
          </p:cNvSpPr>
          <p:nvPr>
            <p:ph type="sldImg"/>
          </p:nvPr>
        </p:nvSpPr>
        <p:spPr>
          <a:xfrm>
            <a:off x="685800" y="1143000"/>
            <a:ext cx="5486040" cy="3085920"/>
          </a:xfrm>
          <a:prstGeom prst="rect">
            <a:avLst/>
          </a:prstGeom>
          <a:ln w="0">
            <a:noFill/>
          </a:ln>
        </p:spPr>
      </p:sp>
      <p:sp>
        <p:nvSpPr>
          <p:cNvPr id="6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Function lives outside genes too. Promoters and cis-regulatory elements — CREs — control expression; non-coding RNAs like microRNA and long non-coding RNA vary across accessions; methylation differs between haplotypes. Gene-only pangenomes miss all of it. Capture it with RNA-seq, standardised feature IDs, and increasingly sequence-aware deep-learning models. A transposable element in a promoter can change a trait without altering a single codon.</a:t>
            </a:r>
            <a:endParaRPr lang="de-DE" sz="2000" b="0" u="none" strike="noStrike">
              <a:solidFill>
                <a:srgbClr val="000000"/>
              </a:solidFill>
              <a:effectLst/>
              <a:uFillTx/>
              <a:latin typeface="Arial"/>
            </a:endParaRPr>
          </a:p>
        </p:txBody>
      </p:sp>
      <p:sp>
        <p:nvSpPr>
          <p:cNvPr id="659"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309B206-373E-4B83-809E-75E69F8DC9BC}" type="slidenum">
              <a:rPr lang="en-US" sz="1200" b="0" u="none" strike="noStrike">
                <a:solidFill>
                  <a:schemeClr val="dk1"/>
                </a:solidFill>
                <a:effectLst/>
                <a:uFillTx/>
                <a:latin typeface="+mn-lt"/>
                <a:ea typeface="+mn-ea"/>
              </a:rPr>
              <a:t>27</a:t>
            </a:fld>
            <a:endParaRPr lang="de-DE"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 name="PlaceHolder 1"/>
          <p:cNvSpPr>
            <a:spLocks noGrp="1" noRot="1" noChangeAspect="1"/>
          </p:cNvSpPr>
          <p:nvPr>
            <p:ph type="sldImg"/>
          </p:nvPr>
        </p:nvSpPr>
        <p:spPr>
          <a:xfrm>
            <a:off x="685800" y="1143000"/>
            <a:ext cx="5486040" cy="3085920"/>
          </a:xfrm>
          <a:prstGeom prst="rect">
            <a:avLst/>
          </a:prstGeom>
          <a:ln w="0">
            <a:noFill/>
          </a:ln>
        </p:spPr>
      </p:sp>
      <p:sp>
        <p:nvSpPr>
          <p:cNvPr id="6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Six checks define a good graph. First and non-negotiable: number of paths equals number of input genomes, at high coverage — every genome recoverable. Then complexity, gene completeness via a flattened-graph BUSCO, variant accuracy as an F1 score against a truth set, read-mapping quality, and a saturating growth curve. F1 is the harmonic mean of precision and recall.</a:t>
            </a:r>
            <a:endParaRPr lang="de-DE" sz="2000" b="0" u="none" strike="noStrike">
              <a:solidFill>
                <a:srgbClr val="000000"/>
              </a:solidFill>
              <a:effectLst/>
              <a:uFillTx/>
              <a:latin typeface="Arial"/>
            </a:endParaRPr>
          </a:p>
        </p:txBody>
      </p:sp>
      <p:sp>
        <p:nvSpPr>
          <p:cNvPr id="662"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3207DC1-D358-4325-A192-18D46937D6BC}" type="slidenum">
              <a:rPr lang="en-US" sz="1200" b="0" u="none" strike="noStrike">
                <a:solidFill>
                  <a:schemeClr val="dk1"/>
                </a:solidFill>
                <a:effectLst/>
                <a:uFillTx/>
                <a:latin typeface="+mn-lt"/>
                <a:ea typeface="+mn-ea"/>
              </a:rPr>
              <a:t>28</a:t>
            </a:fld>
            <a:endParaRPr lang="de-DE"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 name="PlaceHolder 1"/>
          <p:cNvSpPr>
            <a:spLocks noGrp="1" noRot="1" noChangeAspect="1"/>
          </p:cNvSpPr>
          <p:nvPr>
            <p:ph type="sldImg"/>
          </p:nvPr>
        </p:nvSpPr>
        <p:spPr>
          <a:xfrm>
            <a:off x="685800" y="1143000"/>
            <a:ext cx="5486040" cy="3085920"/>
          </a:xfrm>
          <a:prstGeom prst="rect">
            <a:avLst/>
          </a:prstGeom>
          <a:ln w="0">
            <a:noFill/>
          </a:ln>
        </p:spPr>
      </p:sp>
      <p:sp>
        <p:nvSpPr>
          <p:cNvPr id="6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 real example tying it together. PG-SMA: 40 chromosome-scale assemblies, 12 communities, a 2.94-gigabase graph encoding over 83,000 structural variants, built reference-free with PGGB after a proper parameter sweep. It yielded 2.1 million SNPs versus 1.2 million from a single reference, powering pangenome genome-wide association — Pan-GWA — across 218 traits.</a:t>
            </a:r>
            <a:endParaRPr lang="de-DE" sz="2000" b="0" u="none" strike="noStrike">
              <a:solidFill>
                <a:srgbClr val="000000"/>
              </a:solidFill>
              <a:effectLst/>
              <a:uFillTx/>
              <a:latin typeface="Arial"/>
            </a:endParaRPr>
          </a:p>
        </p:txBody>
      </p:sp>
      <p:sp>
        <p:nvSpPr>
          <p:cNvPr id="665"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8F220CB-856E-4AA8-95B8-6EA533A76F47}" type="slidenum">
              <a:rPr lang="en-US" sz="1200" b="0" u="none" strike="noStrike">
                <a:solidFill>
                  <a:schemeClr val="dk1"/>
                </a:solidFill>
                <a:effectLst/>
                <a:uFillTx/>
                <a:latin typeface="+mn-lt"/>
                <a:ea typeface="+mn-ea"/>
              </a:rPr>
              <a:t>29</a:t>
            </a:fld>
            <a:endParaRPr lang="de-DE"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 name="PlaceHolder 1"/>
          <p:cNvSpPr>
            <a:spLocks noGrp="1" noRot="1" noChangeAspect="1"/>
          </p:cNvSpPr>
          <p:nvPr>
            <p:ph type="sldImg"/>
          </p:nvPr>
        </p:nvSpPr>
        <p:spPr>
          <a:xfrm>
            <a:off x="685800" y="1143000"/>
            <a:ext cx="5486040" cy="3085920"/>
          </a:xfrm>
          <a:prstGeom prst="rect">
            <a:avLst/>
          </a:prstGeom>
          <a:ln w="0">
            <a:noFill/>
          </a:ln>
        </p:spPr>
      </p:sp>
      <p:sp>
        <p:nvSpPr>
          <p:cNvPr id="6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Here's the concrete payoff. Pan-GWA found that prickliness is controlled by the gene LOG3 on chromosome 6, switched off by a single splice-site SNP. But in a wild relative the entire gene had been translocated to chromosome 1 — a structural variant completely invisible to SNP analysis on one reference. Only the graph, including wild relatives, revealed the full picture. Large SVs, not just SNPs, drive real traits.</a:t>
            </a:r>
            <a:endParaRPr lang="de-DE" sz="2000" b="0" u="none" strike="noStrike">
              <a:solidFill>
                <a:srgbClr val="000000"/>
              </a:solidFill>
              <a:effectLst/>
              <a:uFillTx/>
              <a:latin typeface="Arial"/>
            </a:endParaRPr>
          </a:p>
        </p:txBody>
      </p:sp>
      <p:sp>
        <p:nvSpPr>
          <p:cNvPr id="668"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749E921-1D89-4CCC-99E7-9275A532F63A}" type="slidenum">
              <a:rPr lang="en-US" sz="1200" b="0" u="none" strike="noStrike">
                <a:solidFill>
                  <a:schemeClr val="dk1"/>
                </a:solidFill>
                <a:effectLst/>
                <a:uFillTx/>
                <a:latin typeface="+mn-lt"/>
                <a:ea typeface="+mn-ea"/>
              </a:rPr>
              <a:t>30</a:t>
            </a:fld>
            <a:endParaRPr lang="de-DE"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 name="PlaceHolder 1"/>
          <p:cNvSpPr>
            <a:spLocks noGrp="1" noRot="1" noChangeAspect="1"/>
          </p:cNvSpPr>
          <p:nvPr>
            <p:ph type="sldImg"/>
          </p:nvPr>
        </p:nvSpPr>
        <p:spPr>
          <a:xfrm>
            <a:off x="685800" y="1143000"/>
            <a:ext cx="5486040" cy="3085920"/>
          </a:xfrm>
          <a:prstGeom prst="rect">
            <a:avLst/>
          </a:prstGeom>
          <a:ln w="0">
            <a:noFill/>
          </a:ln>
        </p:spPr>
      </p:sp>
      <p:sp>
        <p:nvSpPr>
          <p:cNvPr id="6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Two halves. The pitfalls: repeats causing false duplications, per-chromosome builds missing translocations, residual reference bias, BUSCO artefacts on graphs, and under-sampling. And the reproducibility discipline: log versions and parameters, use a workflow manager, and package everything FAIRly — Findable, Accessible, Interoperable, Reusable — with full metadata, e.g. as an RO-Crate.</a:t>
            </a:r>
            <a:endParaRPr lang="de-DE" sz="2000" b="0" u="none" strike="noStrike">
              <a:solidFill>
                <a:srgbClr val="000000"/>
              </a:solidFill>
              <a:effectLst/>
              <a:uFillTx/>
              <a:latin typeface="Arial"/>
            </a:endParaRPr>
          </a:p>
        </p:txBody>
      </p:sp>
      <p:sp>
        <p:nvSpPr>
          <p:cNvPr id="671"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7CCD098-C76E-4E66-89A5-75001ECD5491}" type="slidenum">
              <a:rPr lang="en-US" sz="1200" b="0" u="none" strike="noStrike">
                <a:solidFill>
                  <a:schemeClr val="dk1"/>
                </a:solidFill>
                <a:effectLst/>
                <a:uFillTx/>
                <a:latin typeface="+mn-lt"/>
                <a:ea typeface="+mn-ea"/>
              </a:rPr>
              <a:t>31</a:t>
            </a:fld>
            <a:endParaRPr lang="de-DE" sz="1200" b="0" u="none" strike="noStrike">
              <a:solidFill>
                <a:srgbClr val="000000"/>
              </a:solidFill>
              <a:effectLst/>
              <a:uFillTx/>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 name="PlaceHolder 1"/>
          <p:cNvSpPr>
            <a:spLocks noGrp="1" noRot="1" noChangeAspect="1"/>
          </p:cNvSpPr>
          <p:nvPr>
            <p:ph type="sldImg"/>
          </p:nvPr>
        </p:nvSpPr>
        <p:spPr>
          <a:xfrm>
            <a:off x="685800" y="1143000"/>
            <a:ext cx="5486040" cy="3085920"/>
          </a:xfrm>
          <a:prstGeom prst="rect">
            <a:avLst/>
          </a:prstGeom>
          <a:ln w="0">
            <a:noFill/>
          </a:ln>
        </p:spPr>
      </p:sp>
      <p:sp>
        <p:nvSpPr>
          <p:cNvPr id="6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 reference slide you can leave up during questions — every abbreviation used in the session, expanded. Feel free to photograph it.</a:t>
            </a:r>
            <a:endParaRPr lang="de-DE" sz="2000" b="0" u="none" strike="noStrike">
              <a:solidFill>
                <a:srgbClr val="000000"/>
              </a:solidFill>
              <a:effectLst/>
              <a:uFillTx/>
              <a:latin typeface="Arial"/>
            </a:endParaRPr>
          </a:p>
        </p:txBody>
      </p:sp>
      <p:sp>
        <p:nvSpPr>
          <p:cNvPr id="674"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4C4AB6-552B-48D9-84C6-AF15FC285692}" type="slidenum">
              <a:rPr lang="en-US" sz="1200" b="0" u="none" strike="noStrike">
                <a:solidFill>
                  <a:schemeClr val="dk1"/>
                </a:solidFill>
                <a:effectLst/>
                <a:uFillTx/>
                <a:latin typeface="+mn-lt"/>
                <a:ea typeface="+mn-ea"/>
              </a:rPr>
              <a:t>32</a:t>
            </a:fld>
            <a:endParaRPr lang="de-DE" sz="1200" b="0" u="none" strike="noStrike">
              <a:solidFill>
                <a:srgbClr val="000000"/>
              </a:solidFill>
              <a:effectLst/>
              <a:uFillTx/>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 name="PlaceHolder 1"/>
          <p:cNvSpPr>
            <a:spLocks noGrp="1" noRot="1" noChangeAspect="1"/>
          </p:cNvSpPr>
          <p:nvPr>
            <p:ph type="sldImg"/>
          </p:nvPr>
        </p:nvSpPr>
        <p:spPr>
          <a:xfrm>
            <a:off x="685800" y="1143000"/>
            <a:ext cx="5486040" cy="3085920"/>
          </a:xfrm>
          <a:prstGeom prst="rect">
            <a:avLst/>
          </a:prstGeom>
          <a:ln w="0">
            <a:noFill/>
          </a:ln>
        </p:spPr>
      </p:sp>
      <p:sp>
        <p:nvSpPr>
          <p:cNvPr id="6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To summarise: a graph pangenome captures the whole species without reference bias; quality is end-to-end from reads to graph; PGGB builds it per chromosome and hands you variants as a VCF; you then evaluate the graph on representation, saturation, repeats and variant accuracy; structural variants drive real traits; and you log and package everything FAIRly. All of this is codified in our white paper. Session 5 covers sharing. Questions?</a:t>
            </a:r>
            <a:endParaRPr lang="de-DE" sz="2000" b="0" u="none" strike="noStrike">
              <a:solidFill>
                <a:srgbClr val="000000"/>
              </a:solidFill>
              <a:effectLst/>
              <a:uFillTx/>
              <a:latin typeface="Arial"/>
            </a:endParaRPr>
          </a:p>
        </p:txBody>
      </p:sp>
      <p:sp>
        <p:nvSpPr>
          <p:cNvPr id="677"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FB5DD12-9AE0-41BA-9D8D-A77B225B19BF}" type="slidenum">
              <a:rPr lang="en-US" sz="1200" b="0" u="none" strike="noStrike">
                <a:solidFill>
                  <a:schemeClr val="dk1"/>
                </a:solidFill>
                <a:effectLst/>
                <a:uFillTx/>
                <a:latin typeface="+mn-lt"/>
                <a:ea typeface="+mn-ea"/>
              </a:rPr>
              <a:t>33</a:t>
            </a:fld>
            <a:endParaRPr lang="de-DE"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de-DE" sz="1800" b="0" u="none" strike="noStrike">
                <a:solidFill>
                  <a:schemeClr val="dk1"/>
                </a:solidFill>
                <a:effectLst/>
                <a:uFillTx/>
                <a:latin typeface="Calibri"/>
              </a:rPr>
              <a:t>Format des Titeltextes durch Klicken bearbeiten</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3200" b="0" u="none" strike="noStrike">
                <a:solidFill>
                  <a:schemeClr val="dk1"/>
                </a:solidFill>
                <a:effectLst/>
                <a:uFillTx/>
                <a:latin typeface="Calibri"/>
              </a:rPr>
              <a:t>Format des Gliederungstextes durch Klicken bearbeiten</a:t>
            </a:r>
          </a:p>
          <a:p>
            <a:pPr marL="864000" lvl="1" indent="-324000">
              <a:spcBef>
                <a:spcPts val="1134"/>
              </a:spcBef>
              <a:buClr>
                <a:srgbClr val="000000"/>
              </a:buClr>
              <a:buSzPct val="75000"/>
              <a:buFont typeface="Symbol" charset="2"/>
              <a:buChar char=""/>
            </a:pPr>
            <a:r>
              <a:rPr lang="de-DE" sz="2400" b="0" u="none" strike="noStrike">
                <a:solidFill>
                  <a:schemeClr val="dk1"/>
                </a:solidFill>
                <a:effectLst/>
                <a:uFillTx/>
                <a:latin typeface="Calibri"/>
              </a:rPr>
              <a:t>Zweite Gliederungsebene</a:t>
            </a:r>
          </a:p>
          <a:p>
            <a:pPr marL="1296000" lvl="2" indent="-288000">
              <a:spcBef>
                <a:spcPts val="850"/>
              </a:spcBef>
              <a:buClr>
                <a:srgbClr val="000000"/>
              </a:buClr>
              <a:buSzPct val="45000"/>
              <a:buFont typeface="Wingdings" charset="2"/>
              <a:buChar char=""/>
            </a:pPr>
            <a:r>
              <a:rPr lang="de-DE" sz="2000" b="0" u="none" strike="noStrike">
                <a:solidFill>
                  <a:schemeClr val="dk1"/>
                </a:solidFill>
                <a:effectLst/>
                <a:uFillTx/>
                <a:latin typeface="Calibri"/>
              </a:rPr>
              <a:t>Dritte Gliederungsebene</a:t>
            </a:r>
          </a:p>
          <a:p>
            <a:pPr marL="1728000" lvl="3" indent="-216000">
              <a:spcBef>
                <a:spcPts val="567"/>
              </a:spcBef>
              <a:buClr>
                <a:srgbClr val="000000"/>
              </a:buClr>
              <a:buSzPct val="75000"/>
              <a:buFont typeface="Symbol" charset="2"/>
              <a:buChar char=""/>
            </a:pPr>
            <a:r>
              <a:rPr lang="de-DE" sz="2000" b="0" u="none" strike="noStrike">
                <a:solidFill>
                  <a:schemeClr val="dk1"/>
                </a:solidFill>
                <a:effectLst/>
                <a:uFillTx/>
                <a:latin typeface="Calibri"/>
              </a:rPr>
              <a:t>Vierte Gliederungsebene</a:t>
            </a:r>
          </a:p>
          <a:p>
            <a:pPr marL="2160000" lvl="4" indent="-216000">
              <a:spcBef>
                <a:spcPts val="283"/>
              </a:spcBef>
              <a:buClr>
                <a:srgbClr val="000000"/>
              </a:buClr>
              <a:buSzPct val="45000"/>
              <a:buFont typeface="Wingdings" charset="2"/>
              <a:buChar char=""/>
            </a:pPr>
            <a:r>
              <a:rPr lang="de-DE" sz="2000" b="0" u="none" strike="noStrike">
                <a:solidFill>
                  <a:schemeClr val="dk1"/>
                </a:solidFill>
                <a:effectLst/>
                <a:uFillTx/>
                <a:latin typeface="Calibri"/>
              </a:rPr>
              <a:t>Fünfte Gliederungsebene</a:t>
            </a:r>
          </a:p>
          <a:p>
            <a:pPr marL="2592000" lvl="5" indent="-216000">
              <a:spcBef>
                <a:spcPts val="283"/>
              </a:spcBef>
              <a:buClr>
                <a:srgbClr val="000000"/>
              </a:buClr>
              <a:buSzPct val="45000"/>
              <a:buFont typeface="Wingdings" charset="2"/>
              <a:buChar char=""/>
            </a:pPr>
            <a:r>
              <a:rPr lang="de-DE" sz="2000" b="0" u="none" strike="noStrike">
                <a:solidFill>
                  <a:schemeClr val="dk1"/>
                </a:solidFill>
                <a:effectLst/>
                <a:uFillTx/>
                <a:latin typeface="Calibri"/>
              </a:rPr>
              <a:t>Sechste Gliederungsebene</a:t>
            </a:r>
          </a:p>
          <a:p>
            <a:pPr marL="3024000" lvl="6" indent="-216000">
              <a:spcBef>
                <a:spcPts val="283"/>
              </a:spcBef>
              <a:buClr>
                <a:srgbClr val="000000"/>
              </a:buClr>
              <a:buSzPct val="45000"/>
              <a:buFont typeface="Wingdings" charset="2"/>
              <a:buChar char=""/>
            </a:pPr>
            <a:r>
              <a:rPr lang="de-DE" sz="2000" b="0" u="none" strike="noStrike">
                <a:solidFill>
                  <a:schemeClr val="dk1"/>
                </a:solidFill>
                <a:effectLst/>
                <a:uFillTx/>
                <a:latin typeface="Calibri"/>
              </a:rPr>
              <a:t>Siebte Gliederungsebene</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1533"/>
        </a:solidFill>
        <a:effectLst/>
      </p:bgPr>
    </p:bg>
    <p:spTree>
      <p:nvGrpSpPr>
        <p:cNvPr id="1" name=""/>
        <p:cNvGrpSpPr/>
        <p:nvPr/>
      </p:nvGrpSpPr>
      <p:grpSpPr>
        <a:xfrm>
          <a:off x="0" y="0"/>
          <a:ext cx="0" cy="0"/>
          <a:chOff x="0" y="0"/>
          <a:chExt cx="0" cy="0"/>
        </a:xfrm>
      </p:grpSpPr>
      <p:sp>
        <p:nvSpPr>
          <p:cNvPr id="8" name="Shape 0"/>
          <p:cNvSpPr/>
          <p:nvPr/>
        </p:nvSpPr>
        <p:spPr>
          <a:xfrm>
            <a:off x="10094760" y="1042200"/>
            <a:ext cx="731520" cy="502920"/>
          </a:xfrm>
          <a:prstGeom prst="line">
            <a:avLst/>
          </a:prstGeom>
          <a:ln w="25400">
            <a:solidFill>
              <a:srgbClr val="8246A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FFFFFF"/>
              </a:solidFill>
              <a:effectLst/>
              <a:uFillTx/>
              <a:latin typeface="Arial"/>
            </a:endParaRPr>
          </a:p>
        </p:txBody>
      </p:sp>
      <p:sp>
        <p:nvSpPr>
          <p:cNvPr id="9" name="Shape 1"/>
          <p:cNvSpPr/>
          <p:nvPr/>
        </p:nvSpPr>
        <p:spPr>
          <a:xfrm flipV="1">
            <a:off x="10826280" y="1179360"/>
            <a:ext cx="777240" cy="365760"/>
          </a:xfrm>
          <a:prstGeom prst="line">
            <a:avLst/>
          </a:prstGeom>
          <a:ln w="25400">
            <a:solidFill>
              <a:srgbClr val="8246A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FFFFFF"/>
              </a:solidFill>
              <a:effectLst/>
              <a:uFillTx/>
              <a:latin typeface="Arial"/>
            </a:endParaRPr>
          </a:p>
        </p:txBody>
      </p:sp>
      <p:sp>
        <p:nvSpPr>
          <p:cNvPr id="10" name="Shape 2"/>
          <p:cNvSpPr/>
          <p:nvPr/>
        </p:nvSpPr>
        <p:spPr>
          <a:xfrm flipH="1">
            <a:off x="10506240" y="1545120"/>
            <a:ext cx="320040" cy="640080"/>
          </a:xfrm>
          <a:prstGeom prst="line">
            <a:avLst/>
          </a:prstGeom>
          <a:ln w="25400">
            <a:solidFill>
              <a:srgbClr val="8246A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FFFFFF"/>
              </a:solidFill>
              <a:effectLst/>
              <a:uFillTx/>
              <a:latin typeface="Arial"/>
            </a:endParaRPr>
          </a:p>
        </p:txBody>
      </p:sp>
      <p:sp>
        <p:nvSpPr>
          <p:cNvPr id="11" name="Shape 3"/>
          <p:cNvSpPr/>
          <p:nvPr/>
        </p:nvSpPr>
        <p:spPr>
          <a:xfrm>
            <a:off x="10506240" y="2185200"/>
            <a:ext cx="777240" cy="91440"/>
          </a:xfrm>
          <a:prstGeom prst="line">
            <a:avLst/>
          </a:prstGeom>
          <a:ln w="25400">
            <a:solidFill>
              <a:srgbClr val="8246A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FFFFFF"/>
              </a:solidFill>
              <a:effectLst/>
              <a:uFillTx/>
              <a:latin typeface="Arial"/>
            </a:endParaRPr>
          </a:p>
        </p:txBody>
      </p:sp>
      <p:sp>
        <p:nvSpPr>
          <p:cNvPr id="12" name="Shape 4"/>
          <p:cNvSpPr/>
          <p:nvPr/>
        </p:nvSpPr>
        <p:spPr>
          <a:xfrm>
            <a:off x="11603520" y="1179360"/>
            <a:ext cx="320040" cy="731520"/>
          </a:xfrm>
          <a:prstGeom prst="line">
            <a:avLst/>
          </a:prstGeom>
          <a:ln w="25400">
            <a:solidFill>
              <a:srgbClr val="8246A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FFFFFF"/>
              </a:solidFill>
              <a:effectLst/>
              <a:uFillTx/>
              <a:latin typeface="Arial"/>
            </a:endParaRPr>
          </a:p>
        </p:txBody>
      </p:sp>
      <p:sp>
        <p:nvSpPr>
          <p:cNvPr id="13" name="Shape 5"/>
          <p:cNvSpPr/>
          <p:nvPr/>
        </p:nvSpPr>
        <p:spPr>
          <a:xfrm flipV="1">
            <a:off x="11283480" y="1910880"/>
            <a:ext cx="640080" cy="365760"/>
          </a:xfrm>
          <a:prstGeom prst="line">
            <a:avLst/>
          </a:prstGeom>
          <a:ln w="25400">
            <a:solidFill>
              <a:srgbClr val="8246A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FFFFFF"/>
              </a:solidFill>
              <a:effectLst/>
              <a:uFillTx/>
              <a:latin typeface="Arial"/>
            </a:endParaRPr>
          </a:p>
        </p:txBody>
      </p:sp>
      <p:sp>
        <p:nvSpPr>
          <p:cNvPr id="14" name="Shape 6"/>
          <p:cNvSpPr/>
          <p:nvPr/>
        </p:nvSpPr>
        <p:spPr>
          <a:xfrm>
            <a:off x="9966960" y="914400"/>
            <a:ext cx="255600" cy="25560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5" name="Shape 7"/>
          <p:cNvSpPr/>
          <p:nvPr/>
        </p:nvSpPr>
        <p:spPr>
          <a:xfrm>
            <a:off x="10698480" y="1417320"/>
            <a:ext cx="255600" cy="255600"/>
          </a:xfrm>
          <a:prstGeom prst="ellipse">
            <a:avLst/>
          </a:prstGeom>
          <a:solidFill>
            <a:srgbClr val="DE8E2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6" name="Shape 8"/>
          <p:cNvSpPr/>
          <p:nvPr/>
        </p:nvSpPr>
        <p:spPr>
          <a:xfrm>
            <a:off x="11475720" y="1051560"/>
            <a:ext cx="255600" cy="255600"/>
          </a:xfrm>
          <a:prstGeom prst="ellipse">
            <a:avLst/>
          </a:prstGeom>
          <a:solidFill>
            <a:srgbClr val="C9A8D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7" name="Shape 9"/>
          <p:cNvSpPr/>
          <p:nvPr/>
        </p:nvSpPr>
        <p:spPr>
          <a:xfrm>
            <a:off x="10378440" y="2057400"/>
            <a:ext cx="255600" cy="25560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8" name="Shape 10"/>
          <p:cNvSpPr/>
          <p:nvPr/>
        </p:nvSpPr>
        <p:spPr>
          <a:xfrm>
            <a:off x="11155680" y="2148840"/>
            <a:ext cx="255600" cy="255600"/>
          </a:xfrm>
          <a:prstGeom prst="ellipse">
            <a:avLst/>
          </a:prstGeom>
          <a:solidFill>
            <a:srgbClr val="DE8E2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9" name="Shape 11"/>
          <p:cNvSpPr/>
          <p:nvPr/>
        </p:nvSpPr>
        <p:spPr>
          <a:xfrm>
            <a:off x="11795760" y="1783080"/>
            <a:ext cx="255600" cy="255600"/>
          </a:xfrm>
          <a:prstGeom prst="ellipse">
            <a:avLst/>
          </a:prstGeom>
          <a:solidFill>
            <a:srgbClr val="C9A8D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0" name="Text 12"/>
          <p:cNvSpPr/>
          <p:nvPr/>
        </p:nvSpPr>
        <p:spPr>
          <a:xfrm>
            <a:off x="567000" y="1371600"/>
            <a:ext cx="9143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300">
                <a:solidFill>
                  <a:srgbClr val="C9A8DC"/>
                </a:solidFill>
                <a:effectLst/>
                <a:uFillTx/>
                <a:latin typeface="Calibri"/>
                <a:ea typeface="Calibri"/>
              </a:rPr>
              <a:t>ECCB 2026  ·  TUTORIAL 12  ·  SESSION 4</a:t>
            </a:r>
            <a:endParaRPr lang="de-DE" sz="1400" b="0" u="none" strike="noStrike">
              <a:solidFill>
                <a:srgbClr val="FFFFFF"/>
              </a:solidFill>
              <a:effectLst/>
              <a:uFillTx/>
              <a:latin typeface="Arial"/>
            </a:endParaRPr>
          </a:p>
        </p:txBody>
      </p:sp>
      <p:sp>
        <p:nvSpPr>
          <p:cNvPr id="21" name="Text 13"/>
          <p:cNvSpPr/>
          <p:nvPr/>
        </p:nvSpPr>
        <p:spPr>
          <a:xfrm>
            <a:off x="567000" y="1828800"/>
            <a:ext cx="1042380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5200" b="1" u="none" strike="noStrike">
                <a:solidFill>
                  <a:srgbClr val="FFFFFF"/>
                </a:solidFill>
                <a:effectLst/>
                <a:uFillTx/>
                <a:latin typeface="Cambria"/>
                <a:ea typeface="Cambria"/>
              </a:rPr>
              <a:t>Building &amp; Evaluating</a:t>
            </a:r>
            <a:endParaRPr lang="de-DE" sz="5200" b="0" u="none" strike="noStrike">
              <a:solidFill>
                <a:srgbClr val="FFFFFF"/>
              </a:solidFill>
              <a:effectLst/>
              <a:uFillTx/>
              <a:latin typeface="Arial"/>
            </a:endParaRPr>
          </a:p>
          <a:p>
            <a:pPr defTabSz="914400">
              <a:lnSpc>
                <a:spcPct val="98000"/>
              </a:lnSpc>
              <a:tabLst>
                <a:tab pos="0" algn="l"/>
              </a:tabLst>
            </a:pPr>
            <a:r>
              <a:rPr lang="en-US" sz="5200" b="1" u="none" strike="noStrike">
                <a:solidFill>
                  <a:srgbClr val="FFFFFF"/>
                </a:solidFill>
                <a:effectLst/>
                <a:uFillTx/>
                <a:latin typeface="Cambria"/>
                <a:ea typeface="Cambria"/>
              </a:rPr>
              <a:t>Plant Pangenomes</a:t>
            </a:r>
            <a:endParaRPr lang="de-DE" sz="5200" b="0" u="none" strike="noStrike">
              <a:solidFill>
                <a:srgbClr val="FFFFFF"/>
              </a:solidFill>
              <a:effectLst/>
              <a:uFillTx/>
              <a:latin typeface="Arial"/>
            </a:endParaRPr>
          </a:p>
        </p:txBody>
      </p:sp>
      <p:sp>
        <p:nvSpPr>
          <p:cNvPr id="22" name="Shape 14"/>
          <p:cNvSpPr/>
          <p:nvPr/>
        </p:nvSpPr>
        <p:spPr>
          <a:xfrm>
            <a:off x="585000" y="3931920"/>
            <a:ext cx="2743200" cy="360"/>
          </a:xfrm>
          <a:prstGeom prst="line">
            <a:avLst/>
          </a:prstGeom>
          <a:ln w="31750">
            <a:solidFill>
              <a:srgbClr val="E8606B"/>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de-DE" sz="1800" b="0" u="none" strike="noStrike">
              <a:solidFill>
                <a:srgbClr val="FFFFFF"/>
              </a:solidFill>
              <a:effectLst/>
              <a:uFillTx/>
              <a:latin typeface="Arial"/>
            </a:endParaRPr>
          </a:p>
        </p:txBody>
      </p:sp>
      <p:sp>
        <p:nvSpPr>
          <p:cNvPr id="23" name="Text 15"/>
          <p:cNvSpPr/>
          <p:nvPr/>
        </p:nvSpPr>
        <p:spPr>
          <a:xfrm>
            <a:off x="567000" y="4114800"/>
            <a:ext cx="100580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i="1" u="none" strike="noStrike">
                <a:solidFill>
                  <a:srgbClr val="E7DCEF"/>
                </a:solidFill>
                <a:effectLst/>
                <a:uFillTx/>
                <a:latin typeface="Calibri"/>
                <a:ea typeface="Calibri"/>
              </a:rPr>
              <a:t>From many genome assemblies to one graph — and how we know it is good</a:t>
            </a:r>
            <a:endParaRPr lang="de-DE" sz="1700" b="0" u="none" strike="noStrike">
              <a:solidFill>
                <a:srgbClr val="FFFFFF"/>
              </a:solidFill>
              <a:effectLst/>
              <a:uFillTx/>
              <a:latin typeface="Arial"/>
            </a:endParaRPr>
          </a:p>
        </p:txBody>
      </p:sp>
      <p:sp>
        <p:nvSpPr>
          <p:cNvPr id="24" name="Text 16"/>
          <p:cNvSpPr/>
          <p:nvPr/>
        </p:nvSpPr>
        <p:spPr>
          <a:xfrm>
            <a:off x="567000" y="5166360"/>
            <a:ext cx="82292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FFFFFF"/>
                </a:solidFill>
                <a:effectLst/>
                <a:uFillTx/>
                <a:latin typeface="Calibri"/>
                <a:ea typeface="Calibri"/>
              </a:rPr>
              <a:t>Dr. Sebastian Beier</a:t>
            </a:r>
            <a:endParaRPr lang="de-DE" sz="1500" b="0" u="none" strike="noStrike">
              <a:solidFill>
                <a:srgbClr val="FFFFFF"/>
              </a:solidFill>
              <a:effectLst/>
              <a:uFillTx/>
              <a:latin typeface="Arial"/>
            </a:endParaRPr>
          </a:p>
          <a:p>
            <a:pPr defTabSz="914400">
              <a:lnSpc>
                <a:spcPct val="100000"/>
              </a:lnSpc>
              <a:tabLst>
                <a:tab pos="0" algn="l"/>
              </a:tabLst>
            </a:pPr>
            <a:r>
              <a:rPr lang="en-US" sz="1250" b="0" u="none" strike="noStrike">
                <a:solidFill>
                  <a:srgbClr val="BFA8CC"/>
                </a:solidFill>
                <a:effectLst/>
                <a:uFillTx/>
                <a:latin typeface="Calibri"/>
                <a:ea typeface="Calibri"/>
              </a:rPr>
              <a:t>Forschungszentrum Jülich · IBG-4 (Bioinformatics)</a:t>
            </a:r>
            <a:endParaRPr lang="de-DE" sz="1250" b="0" u="none" strike="noStrike">
              <a:solidFill>
                <a:srgbClr val="FFFFFF"/>
              </a:solidFill>
              <a:effectLst/>
              <a:uFillTx/>
              <a:latin typeface="Arial"/>
            </a:endParaRPr>
          </a:p>
        </p:txBody>
      </p:sp>
      <p:sp>
        <p:nvSpPr>
          <p:cNvPr id="25" name="Text 17"/>
          <p:cNvSpPr/>
          <p:nvPr/>
        </p:nvSpPr>
        <p:spPr>
          <a:xfrm>
            <a:off x="567000" y="640080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i="1" u="none" strike="noStrike">
                <a:solidFill>
                  <a:srgbClr val="9A85A8"/>
                </a:solidFill>
                <a:effectLst/>
                <a:uFillTx/>
                <a:latin typeface="Calibri"/>
                <a:ea typeface="Calibri"/>
              </a:rPr>
              <a:t>Resources for plant sciences: data integration &amp; interpretation tools</a:t>
            </a:r>
            <a:endParaRPr lang="de-DE" sz="105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7"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ROADMAP</a:t>
            </a:r>
            <a:endParaRPr lang="de-DE" sz="1200" b="0" u="none" strike="noStrike">
              <a:solidFill>
                <a:srgbClr val="000000"/>
              </a:solidFill>
              <a:effectLst/>
              <a:uFillTx/>
              <a:latin typeface="Arial"/>
            </a:endParaRPr>
          </a:p>
        </p:txBody>
      </p:sp>
      <p:sp>
        <p:nvSpPr>
          <p:cNvPr id="28"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The pangenome workflow — and what this session covers</a:t>
            </a:r>
            <a:endParaRPr lang="de-DE" sz="2900" b="0" u="none" strike="noStrike">
              <a:solidFill>
                <a:srgbClr val="000000"/>
              </a:solidFill>
              <a:effectLst/>
              <a:uFillTx/>
              <a:latin typeface="Arial"/>
            </a:endParaRPr>
          </a:p>
        </p:txBody>
      </p:sp>
      <p:sp>
        <p:nvSpPr>
          <p:cNvPr id="29" name="Shape 3"/>
          <p:cNvSpPr/>
          <p:nvPr/>
        </p:nvSpPr>
        <p:spPr>
          <a:xfrm>
            <a:off x="567000" y="2011680"/>
            <a:ext cx="1629360" cy="1462680"/>
          </a:xfrm>
          <a:prstGeom prst="roundRect">
            <a:avLst>
              <a:gd name="adj" fmla="val 4375"/>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0" name="Shape 4"/>
          <p:cNvSpPr/>
          <p:nvPr/>
        </p:nvSpPr>
        <p:spPr>
          <a:xfrm>
            <a:off x="1125720" y="2212920"/>
            <a:ext cx="511560" cy="511560"/>
          </a:xfrm>
          <a:prstGeom prst="ellipse">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1" name="Text 5"/>
          <p:cNvSpPr/>
          <p:nvPr/>
        </p:nvSpPr>
        <p:spPr>
          <a:xfrm>
            <a:off x="1125720" y="2212920"/>
            <a:ext cx="51156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1</a:t>
            </a:r>
            <a:endParaRPr lang="de-DE" sz="2000" b="0" u="none" strike="noStrike">
              <a:solidFill>
                <a:srgbClr val="000000"/>
              </a:solidFill>
              <a:effectLst/>
              <a:uFillTx/>
              <a:latin typeface="Arial"/>
            </a:endParaRPr>
          </a:p>
        </p:txBody>
      </p:sp>
      <p:sp>
        <p:nvSpPr>
          <p:cNvPr id="32" name="Text 6"/>
          <p:cNvSpPr/>
          <p:nvPr/>
        </p:nvSpPr>
        <p:spPr>
          <a:xfrm>
            <a:off x="612720" y="2797920"/>
            <a:ext cx="1537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2B2331"/>
                </a:solidFill>
                <a:effectLst/>
                <a:uFillTx/>
                <a:latin typeface="Calibri"/>
                <a:ea typeface="Calibri"/>
              </a:rPr>
              <a:t>Sequence</a:t>
            </a:r>
            <a:endParaRPr lang="de-DE" sz="1300" b="0" u="none" strike="noStrike">
              <a:solidFill>
                <a:srgbClr val="000000"/>
              </a:solidFill>
              <a:effectLst/>
              <a:uFillTx/>
              <a:latin typeface="Arial"/>
            </a:endParaRPr>
          </a:p>
        </p:txBody>
      </p:sp>
      <p:sp>
        <p:nvSpPr>
          <p:cNvPr id="33" name="Text 7"/>
          <p:cNvSpPr/>
          <p:nvPr/>
        </p:nvSpPr>
        <p:spPr>
          <a:xfrm>
            <a:off x="612720" y="3072240"/>
            <a:ext cx="15379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726A7A"/>
                </a:solidFill>
                <a:effectLst/>
                <a:uFillTx/>
                <a:latin typeface="Calibri"/>
                <a:ea typeface="Calibri"/>
              </a:rPr>
              <a:t>reads from DNA</a:t>
            </a:r>
            <a:endParaRPr lang="de-DE" sz="1000" b="0" u="none" strike="noStrike">
              <a:solidFill>
                <a:srgbClr val="000000"/>
              </a:solidFill>
              <a:effectLst/>
              <a:uFillTx/>
              <a:latin typeface="Arial"/>
            </a:endParaRPr>
          </a:p>
        </p:txBody>
      </p:sp>
      <p:sp>
        <p:nvSpPr>
          <p:cNvPr id="34" name="Shape 8"/>
          <p:cNvSpPr/>
          <p:nvPr/>
        </p:nvSpPr>
        <p:spPr>
          <a:xfrm>
            <a:off x="2214720" y="2642760"/>
            <a:ext cx="219240" cy="200880"/>
          </a:xfrm>
          <a:prstGeom prst="rtTriangle">
            <a:avLst/>
          </a:prstGeom>
          <a:solidFill>
            <a:srgbClr val="DE8E2C"/>
          </a:solidFill>
          <a:ln w="0">
            <a:noFill/>
          </a:ln>
        </p:spPr>
        <p:style>
          <a:lnRef idx="0">
            <a:scrgbClr r="0" g="0" b="0"/>
          </a:lnRef>
          <a:fillRef idx="0">
            <a:scrgbClr r="0" g="0" b="0"/>
          </a:fillRef>
          <a:effectRef idx="0">
            <a:scrgbClr r="0" g="0" b="0"/>
          </a:effectRef>
          <a:fontRef idx="minor"/>
        </p:style>
        <p:txBody>
          <a:bodyPr lIns="90000" tIns="21960" rIns="90000" bIns="21960" anchor="t">
            <a:noAutofit/>
          </a:bodyPr>
          <a:lstStyle/>
          <a:p>
            <a:endParaRPr lang="de-DE" sz="1800" b="0" u="none" strike="noStrike">
              <a:solidFill>
                <a:srgbClr val="000000"/>
              </a:solidFill>
              <a:effectLst/>
              <a:uFillTx/>
              <a:latin typeface="Arial"/>
            </a:endParaRPr>
          </a:p>
        </p:txBody>
      </p:sp>
      <p:sp>
        <p:nvSpPr>
          <p:cNvPr id="35" name="Shape 9"/>
          <p:cNvSpPr/>
          <p:nvPr/>
        </p:nvSpPr>
        <p:spPr>
          <a:xfrm>
            <a:off x="2452680" y="2011680"/>
            <a:ext cx="1629360" cy="1462680"/>
          </a:xfrm>
          <a:prstGeom prst="roundRect">
            <a:avLst>
              <a:gd name="adj" fmla="val 4375"/>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6" name="Shape 10"/>
          <p:cNvSpPr/>
          <p:nvPr/>
        </p:nvSpPr>
        <p:spPr>
          <a:xfrm>
            <a:off x="3011400" y="2212920"/>
            <a:ext cx="511560" cy="511560"/>
          </a:xfrm>
          <a:prstGeom prst="ellipse">
            <a:avLst/>
          </a:prstGeom>
          <a:solidFill>
            <a:srgbClr val="5E2A7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7" name="Text 11"/>
          <p:cNvSpPr/>
          <p:nvPr/>
        </p:nvSpPr>
        <p:spPr>
          <a:xfrm>
            <a:off x="3011400" y="2212920"/>
            <a:ext cx="51156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2</a:t>
            </a:r>
            <a:endParaRPr lang="de-DE" sz="2000" b="0" u="none" strike="noStrike">
              <a:solidFill>
                <a:srgbClr val="000000"/>
              </a:solidFill>
              <a:effectLst/>
              <a:uFillTx/>
              <a:latin typeface="Arial"/>
            </a:endParaRPr>
          </a:p>
        </p:txBody>
      </p:sp>
      <p:sp>
        <p:nvSpPr>
          <p:cNvPr id="38" name="Text 12"/>
          <p:cNvSpPr/>
          <p:nvPr/>
        </p:nvSpPr>
        <p:spPr>
          <a:xfrm>
            <a:off x="2498400" y="2797920"/>
            <a:ext cx="1537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2B2331"/>
                </a:solidFill>
                <a:effectLst/>
                <a:uFillTx/>
                <a:latin typeface="Calibri"/>
                <a:ea typeface="Calibri"/>
              </a:rPr>
              <a:t>Assemble</a:t>
            </a:r>
            <a:endParaRPr lang="de-DE" sz="1300" b="0" u="none" strike="noStrike">
              <a:solidFill>
                <a:srgbClr val="000000"/>
              </a:solidFill>
              <a:effectLst/>
              <a:uFillTx/>
              <a:latin typeface="Arial"/>
            </a:endParaRPr>
          </a:p>
        </p:txBody>
      </p:sp>
      <p:sp>
        <p:nvSpPr>
          <p:cNvPr id="39" name="Text 13"/>
          <p:cNvSpPr/>
          <p:nvPr/>
        </p:nvSpPr>
        <p:spPr>
          <a:xfrm>
            <a:off x="2498400" y="3072240"/>
            <a:ext cx="15379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726A7A"/>
                </a:solidFill>
                <a:effectLst/>
                <a:uFillTx/>
                <a:latin typeface="Calibri"/>
                <a:ea typeface="Calibri"/>
              </a:rPr>
              <a:t>reads → genomes</a:t>
            </a:r>
            <a:endParaRPr lang="de-DE" sz="1000" b="0" u="none" strike="noStrike">
              <a:solidFill>
                <a:srgbClr val="000000"/>
              </a:solidFill>
              <a:effectLst/>
              <a:uFillTx/>
              <a:latin typeface="Arial"/>
            </a:endParaRPr>
          </a:p>
        </p:txBody>
      </p:sp>
      <p:sp>
        <p:nvSpPr>
          <p:cNvPr id="40" name="Shape 14"/>
          <p:cNvSpPr/>
          <p:nvPr/>
        </p:nvSpPr>
        <p:spPr>
          <a:xfrm>
            <a:off x="4100400" y="2642760"/>
            <a:ext cx="219240" cy="200880"/>
          </a:xfrm>
          <a:prstGeom prst="rtTriangle">
            <a:avLst/>
          </a:prstGeom>
          <a:solidFill>
            <a:srgbClr val="DE8E2C"/>
          </a:solidFill>
          <a:ln w="0">
            <a:noFill/>
          </a:ln>
        </p:spPr>
        <p:style>
          <a:lnRef idx="0">
            <a:scrgbClr r="0" g="0" b="0"/>
          </a:lnRef>
          <a:fillRef idx="0">
            <a:scrgbClr r="0" g="0" b="0"/>
          </a:fillRef>
          <a:effectRef idx="0">
            <a:scrgbClr r="0" g="0" b="0"/>
          </a:effectRef>
          <a:fontRef idx="minor"/>
        </p:style>
        <p:txBody>
          <a:bodyPr lIns="90000" tIns="21960" rIns="90000" bIns="21960" anchor="t">
            <a:noAutofit/>
          </a:bodyPr>
          <a:lstStyle/>
          <a:p>
            <a:endParaRPr lang="de-DE" sz="1800" b="0" u="none" strike="noStrike">
              <a:solidFill>
                <a:srgbClr val="000000"/>
              </a:solidFill>
              <a:effectLst/>
              <a:uFillTx/>
              <a:latin typeface="Arial"/>
            </a:endParaRPr>
          </a:p>
        </p:txBody>
      </p:sp>
      <p:sp>
        <p:nvSpPr>
          <p:cNvPr id="41" name="Shape 15"/>
          <p:cNvSpPr/>
          <p:nvPr/>
        </p:nvSpPr>
        <p:spPr>
          <a:xfrm>
            <a:off x="4338360" y="2011680"/>
            <a:ext cx="1629360" cy="1462680"/>
          </a:xfrm>
          <a:prstGeom prst="roundRect">
            <a:avLst>
              <a:gd name="adj" fmla="val 4375"/>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2" name="Shape 16"/>
          <p:cNvSpPr/>
          <p:nvPr/>
        </p:nvSpPr>
        <p:spPr>
          <a:xfrm>
            <a:off x="4897080" y="2212920"/>
            <a:ext cx="511560" cy="511560"/>
          </a:xfrm>
          <a:prstGeom prst="ellipse">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3" name="Text 17"/>
          <p:cNvSpPr/>
          <p:nvPr/>
        </p:nvSpPr>
        <p:spPr>
          <a:xfrm>
            <a:off x="4897080" y="2212920"/>
            <a:ext cx="51156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3</a:t>
            </a:r>
            <a:endParaRPr lang="de-DE" sz="2000" b="0" u="none" strike="noStrike">
              <a:solidFill>
                <a:srgbClr val="000000"/>
              </a:solidFill>
              <a:effectLst/>
              <a:uFillTx/>
              <a:latin typeface="Arial"/>
            </a:endParaRPr>
          </a:p>
        </p:txBody>
      </p:sp>
      <p:sp>
        <p:nvSpPr>
          <p:cNvPr id="44" name="Text 18"/>
          <p:cNvSpPr/>
          <p:nvPr/>
        </p:nvSpPr>
        <p:spPr>
          <a:xfrm>
            <a:off x="4384080" y="2797920"/>
            <a:ext cx="1537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2B2331"/>
                </a:solidFill>
                <a:effectLst/>
                <a:uFillTx/>
                <a:latin typeface="Calibri"/>
                <a:ea typeface="Calibri"/>
              </a:rPr>
              <a:t>Annotate</a:t>
            </a:r>
            <a:endParaRPr lang="de-DE" sz="1300" b="0" u="none" strike="noStrike">
              <a:solidFill>
                <a:srgbClr val="000000"/>
              </a:solidFill>
              <a:effectLst/>
              <a:uFillTx/>
              <a:latin typeface="Arial"/>
            </a:endParaRPr>
          </a:p>
        </p:txBody>
      </p:sp>
      <p:sp>
        <p:nvSpPr>
          <p:cNvPr id="45" name="Text 19"/>
          <p:cNvSpPr/>
          <p:nvPr/>
        </p:nvSpPr>
        <p:spPr>
          <a:xfrm>
            <a:off x="4384080" y="3072240"/>
            <a:ext cx="15379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726A7A"/>
                </a:solidFill>
                <a:effectLst/>
                <a:uFillTx/>
                <a:latin typeface="Calibri"/>
                <a:ea typeface="Calibri"/>
              </a:rPr>
              <a:t>find the genes</a:t>
            </a:r>
            <a:endParaRPr lang="de-DE" sz="1000" b="0" u="none" strike="noStrike">
              <a:solidFill>
                <a:srgbClr val="000000"/>
              </a:solidFill>
              <a:effectLst/>
              <a:uFillTx/>
              <a:latin typeface="Arial"/>
            </a:endParaRPr>
          </a:p>
        </p:txBody>
      </p:sp>
      <p:sp>
        <p:nvSpPr>
          <p:cNvPr id="46" name="Shape 20"/>
          <p:cNvSpPr/>
          <p:nvPr/>
        </p:nvSpPr>
        <p:spPr>
          <a:xfrm>
            <a:off x="5986080" y="2642760"/>
            <a:ext cx="219240" cy="200880"/>
          </a:xfrm>
          <a:prstGeom prst="rtTriangle">
            <a:avLst/>
          </a:prstGeom>
          <a:solidFill>
            <a:srgbClr val="DE8E2C"/>
          </a:solidFill>
          <a:ln w="0">
            <a:noFill/>
          </a:ln>
        </p:spPr>
        <p:style>
          <a:lnRef idx="0">
            <a:scrgbClr r="0" g="0" b="0"/>
          </a:lnRef>
          <a:fillRef idx="0">
            <a:scrgbClr r="0" g="0" b="0"/>
          </a:fillRef>
          <a:effectRef idx="0">
            <a:scrgbClr r="0" g="0" b="0"/>
          </a:effectRef>
          <a:fontRef idx="minor"/>
        </p:style>
        <p:txBody>
          <a:bodyPr lIns="90000" tIns="21960" rIns="90000" bIns="21960" anchor="t">
            <a:noAutofit/>
          </a:bodyPr>
          <a:lstStyle/>
          <a:p>
            <a:endParaRPr lang="de-DE" sz="1800" b="0" u="none" strike="noStrike">
              <a:solidFill>
                <a:srgbClr val="000000"/>
              </a:solidFill>
              <a:effectLst/>
              <a:uFillTx/>
              <a:latin typeface="Arial"/>
            </a:endParaRPr>
          </a:p>
        </p:txBody>
      </p:sp>
      <p:sp>
        <p:nvSpPr>
          <p:cNvPr id="47" name="Shape 21"/>
          <p:cNvSpPr/>
          <p:nvPr/>
        </p:nvSpPr>
        <p:spPr>
          <a:xfrm>
            <a:off x="6224040" y="2011680"/>
            <a:ext cx="1629360" cy="1462680"/>
          </a:xfrm>
          <a:prstGeom prst="roundRect">
            <a:avLst>
              <a:gd name="adj" fmla="val 4375"/>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8" name="Shape 22"/>
          <p:cNvSpPr/>
          <p:nvPr/>
        </p:nvSpPr>
        <p:spPr>
          <a:xfrm>
            <a:off x="6782760" y="2212920"/>
            <a:ext cx="511560" cy="5115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9" name="Text 23"/>
          <p:cNvSpPr/>
          <p:nvPr/>
        </p:nvSpPr>
        <p:spPr>
          <a:xfrm>
            <a:off x="6782760" y="2212920"/>
            <a:ext cx="51156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4</a:t>
            </a:r>
            <a:endParaRPr lang="de-DE" sz="2000" b="0" u="none" strike="noStrike">
              <a:solidFill>
                <a:srgbClr val="000000"/>
              </a:solidFill>
              <a:effectLst/>
              <a:uFillTx/>
              <a:latin typeface="Arial"/>
            </a:endParaRPr>
          </a:p>
        </p:txBody>
      </p:sp>
      <p:sp>
        <p:nvSpPr>
          <p:cNvPr id="50" name="Text 24"/>
          <p:cNvSpPr/>
          <p:nvPr/>
        </p:nvSpPr>
        <p:spPr>
          <a:xfrm>
            <a:off x="6269760" y="2797920"/>
            <a:ext cx="1537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2B2331"/>
                </a:solidFill>
                <a:effectLst/>
                <a:uFillTx/>
                <a:latin typeface="Calibri"/>
                <a:ea typeface="Calibri"/>
              </a:rPr>
              <a:t>Build graph</a:t>
            </a:r>
            <a:endParaRPr lang="de-DE" sz="1300" b="0" u="none" strike="noStrike">
              <a:solidFill>
                <a:srgbClr val="000000"/>
              </a:solidFill>
              <a:effectLst/>
              <a:uFillTx/>
              <a:latin typeface="Arial"/>
            </a:endParaRPr>
          </a:p>
        </p:txBody>
      </p:sp>
      <p:sp>
        <p:nvSpPr>
          <p:cNvPr id="51" name="Text 25"/>
          <p:cNvSpPr/>
          <p:nvPr/>
        </p:nvSpPr>
        <p:spPr>
          <a:xfrm>
            <a:off x="6269760" y="3072240"/>
            <a:ext cx="15379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726A7A"/>
                </a:solidFill>
                <a:effectLst/>
                <a:uFillTx/>
                <a:latin typeface="Calibri"/>
                <a:ea typeface="Calibri"/>
              </a:rPr>
              <a:t>genomes → graph</a:t>
            </a:r>
            <a:endParaRPr lang="de-DE" sz="1000" b="0" u="none" strike="noStrike">
              <a:solidFill>
                <a:srgbClr val="000000"/>
              </a:solidFill>
              <a:effectLst/>
              <a:uFillTx/>
              <a:latin typeface="Arial"/>
            </a:endParaRPr>
          </a:p>
        </p:txBody>
      </p:sp>
      <p:sp>
        <p:nvSpPr>
          <p:cNvPr id="52" name="Shape 26"/>
          <p:cNvSpPr/>
          <p:nvPr/>
        </p:nvSpPr>
        <p:spPr>
          <a:xfrm>
            <a:off x="7871760" y="2642760"/>
            <a:ext cx="219240" cy="200880"/>
          </a:xfrm>
          <a:prstGeom prst="rtTriangle">
            <a:avLst/>
          </a:prstGeom>
          <a:solidFill>
            <a:srgbClr val="DE8E2C"/>
          </a:solidFill>
          <a:ln w="0">
            <a:noFill/>
          </a:ln>
        </p:spPr>
        <p:style>
          <a:lnRef idx="0">
            <a:scrgbClr r="0" g="0" b="0"/>
          </a:lnRef>
          <a:fillRef idx="0">
            <a:scrgbClr r="0" g="0" b="0"/>
          </a:fillRef>
          <a:effectRef idx="0">
            <a:scrgbClr r="0" g="0" b="0"/>
          </a:effectRef>
          <a:fontRef idx="minor"/>
        </p:style>
        <p:txBody>
          <a:bodyPr lIns="90000" tIns="21960" rIns="90000" bIns="21960" anchor="t">
            <a:noAutofit/>
          </a:bodyPr>
          <a:lstStyle/>
          <a:p>
            <a:endParaRPr lang="de-DE" sz="1800" b="0" u="none" strike="noStrike">
              <a:solidFill>
                <a:srgbClr val="000000"/>
              </a:solidFill>
              <a:effectLst/>
              <a:uFillTx/>
              <a:latin typeface="Arial"/>
            </a:endParaRPr>
          </a:p>
        </p:txBody>
      </p:sp>
      <p:sp>
        <p:nvSpPr>
          <p:cNvPr id="53" name="Shape 27"/>
          <p:cNvSpPr/>
          <p:nvPr/>
        </p:nvSpPr>
        <p:spPr>
          <a:xfrm>
            <a:off x="8109360" y="2011680"/>
            <a:ext cx="1629360" cy="1462680"/>
          </a:xfrm>
          <a:prstGeom prst="roundRect">
            <a:avLst>
              <a:gd name="adj" fmla="val 4375"/>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54" name="Shape 28"/>
          <p:cNvSpPr/>
          <p:nvPr/>
        </p:nvSpPr>
        <p:spPr>
          <a:xfrm>
            <a:off x="8668440" y="2212920"/>
            <a:ext cx="511560" cy="511560"/>
          </a:xfrm>
          <a:prstGeom prst="ellipse">
            <a:avLst/>
          </a:prstGeom>
          <a:solidFill>
            <a:srgbClr val="DE8E2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55" name="Text 29"/>
          <p:cNvSpPr/>
          <p:nvPr/>
        </p:nvSpPr>
        <p:spPr>
          <a:xfrm>
            <a:off x="8668440" y="2212920"/>
            <a:ext cx="51156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5</a:t>
            </a:r>
            <a:endParaRPr lang="de-DE" sz="2000" b="0" u="none" strike="noStrike">
              <a:solidFill>
                <a:srgbClr val="000000"/>
              </a:solidFill>
              <a:effectLst/>
              <a:uFillTx/>
              <a:latin typeface="Arial"/>
            </a:endParaRPr>
          </a:p>
        </p:txBody>
      </p:sp>
      <p:sp>
        <p:nvSpPr>
          <p:cNvPr id="56" name="Text 30"/>
          <p:cNvSpPr/>
          <p:nvPr/>
        </p:nvSpPr>
        <p:spPr>
          <a:xfrm>
            <a:off x="8155080" y="2797920"/>
            <a:ext cx="1537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2B2331"/>
                </a:solidFill>
                <a:effectLst/>
                <a:uFillTx/>
                <a:latin typeface="Calibri"/>
                <a:ea typeface="Calibri"/>
              </a:rPr>
              <a:t>Evaluate</a:t>
            </a:r>
            <a:endParaRPr lang="de-DE" sz="1300" b="0" u="none" strike="noStrike">
              <a:solidFill>
                <a:srgbClr val="000000"/>
              </a:solidFill>
              <a:effectLst/>
              <a:uFillTx/>
              <a:latin typeface="Arial"/>
            </a:endParaRPr>
          </a:p>
        </p:txBody>
      </p:sp>
      <p:sp>
        <p:nvSpPr>
          <p:cNvPr id="57" name="Text 31"/>
          <p:cNvSpPr/>
          <p:nvPr/>
        </p:nvSpPr>
        <p:spPr>
          <a:xfrm>
            <a:off x="8155080" y="3072240"/>
            <a:ext cx="15379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726A7A"/>
                </a:solidFill>
                <a:effectLst/>
                <a:uFillTx/>
                <a:latin typeface="Calibri"/>
                <a:ea typeface="Calibri"/>
              </a:rPr>
              <a:t>is it any good?</a:t>
            </a:r>
            <a:endParaRPr lang="de-DE" sz="1000" b="0" u="none" strike="noStrike">
              <a:solidFill>
                <a:srgbClr val="000000"/>
              </a:solidFill>
              <a:effectLst/>
              <a:uFillTx/>
              <a:latin typeface="Arial"/>
            </a:endParaRPr>
          </a:p>
        </p:txBody>
      </p:sp>
      <p:sp>
        <p:nvSpPr>
          <p:cNvPr id="58" name="Shape 32"/>
          <p:cNvSpPr/>
          <p:nvPr/>
        </p:nvSpPr>
        <p:spPr>
          <a:xfrm>
            <a:off x="9757440" y="2642760"/>
            <a:ext cx="219240" cy="200880"/>
          </a:xfrm>
          <a:prstGeom prst="rtTriangle">
            <a:avLst/>
          </a:prstGeom>
          <a:solidFill>
            <a:srgbClr val="DE8E2C"/>
          </a:solidFill>
          <a:ln w="0">
            <a:noFill/>
          </a:ln>
        </p:spPr>
        <p:style>
          <a:lnRef idx="0">
            <a:scrgbClr r="0" g="0" b="0"/>
          </a:lnRef>
          <a:fillRef idx="0">
            <a:scrgbClr r="0" g="0" b="0"/>
          </a:fillRef>
          <a:effectRef idx="0">
            <a:scrgbClr r="0" g="0" b="0"/>
          </a:effectRef>
          <a:fontRef idx="minor"/>
        </p:style>
        <p:txBody>
          <a:bodyPr lIns="90000" tIns="21960" rIns="90000" bIns="21960" anchor="t">
            <a:noAutofit/>
          </a:bodyPr>
          <a:lstStyle/>
          <a:p>
            <a:endParaRPr lang="de-DE" sz="1800" b="0" u="none" strike="noStrike">
              <a:solidFill>
                <a:srgbClr val="000000"/>
              </a:solidFill>
              <a:effectLst/>
              <a:uFillTx/>
              <a:latin typeface="Arial"/>
            </a:endParaRPr>
          </a:p>
        </p:txBody>
      </p:sp>
      <p:sp>
        <p:nvSpPr>
          <p:cNvPr id="59" name="Shape 33"/>
          <p:cNvSpPr/>
          <p:nvPr/>
        </p:nvSpPr>
        <p:spPr>
          <a:xfrm>
            <a:off x="9995040" y="2011680"/>
            <a:ext cx="1629360" cy="1462680"/>
          </a:xfrm>
          <a:prstGeom prst="roundRect">
            <a:avLst>
              <a:gd name="adj" fmla="val 4375"/>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60" name="Shape 34"/>
          <p:cNvSpPr/>
          <p:nvPr/>
        </p:nvSpPr>
        <p:spPr>
          <a:xfrm>
            <a:off x="10553760" y="2212920"/>
            <a:ext cx="511560" cy="511560"/>
          </a:xfrm>
          <a:prstGeom prst="ellipse">
            <a:avLst/>
          </a:prstGeom>
          <a:solidFill>
            <a:srgbClr val="4E8C7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61" name="Text 35"/>
          <p:cNvSpPr/>
          <p:nvPr/>
        </p:nvSpPr>
        <p:spPr>
          <a:xfrm>
            <a:off x="10553760" y="2212920"/>
            <a:ext cx="51156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6</a:t>
            </a:r>
            <a:endParaRPr lang="de-DE" sz="2000" b="0" u="none" strike="noStrike">
              <a:solidFill>
                <a:srgbClr val="000000"/>
              </a:solidFill>
              <a:effectLst/>
              <a:uFillTx/>
              <a:latin typeface="Arial"/>
            </a:endParaRPr>
          </a:p>
        </p:txBody>
      </p:sp>
      <p:sp>
        <p:nvSpPr>
          <p:cNvPr id="62" name="Text 36"/>
          <p:cNvSpPr/>
          <p:nvPr/>
        </p:nvSpPr>
        <p:spPr>
          <a:xfrm>
            <a:off x="10040760" y="2797920"/>
            <a:ext cx="1537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2B2331"/>
                </a:solidFill>
                <a:effectLst/>
                <a:uFillTx/>
                <a:latin typeface="Calibri"/>
                <a:ea typeface="Calibri"/>
              </a:rPr>
              <a:t>Use</a:t>
            </a:r>
            <a:endParaRPr lang="de-DE" sz="1300" b="0" u="none" strike="noStrike">
              <a:solidFill>
                <a:srgbClr val="000000"/>
              </a:solidFill>
              <a:effectLst/>
              <a:uFillTx/>
              <a:latin typeface="Arial"/>
            </a:endParaRPr>
          </a:p>
        </p:txBody>
      </p:sp>
      <p:sp>
        <p:nvSpPr>
          <p:cNvPr id="63" name="Text 37"/>
          <p:cNvSpPr/>
          <p:nvPr/>
        </p:nvSpPr>
        <p:spPr>
          <a:xfrm>
            <a:off x="10040760" y="3072240"/>
            <a:ext cx="15379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726A7A"/>
                </a:solidFill>
                <a:effectLst/>
                <a:uFillTx/>
                <a:latin typeface="Calibri"/>
                <a:ea typeface="Calibri"/>
              </a:rPr>
              <a:t>variants &amp; traits</a:t>
            </a:r>
            <a:endParaRPr lang="de-DE" sz="1000" b="0" u="none" strike="noStrike">
              <a:solidFill>
                <a:srgbClr val="000000"/>
              </a:solidFill>
              <a:effectLst/>
              <a:uFillTx/>
              <a:latin typeface="Arial"/>
            </a:endParaRPr>
          </a:p>
        </p:txBody>
      </p:sp>
      <p:sp>
        <p:nvSpPr>
          <p:cNvPr id="64" name="Shape 38"/>
          <p:cNvSpPr/>
          <p:nvPr/>
        </p:nvSpPr>
        <p:spPr>
          <a:xfrm>
            <a:off x="567000" y="3977640"/>
            <a:ext cx="7115040" cy="1371240"/>
          </a:xfrm>
          <a:prstGeom prst="roundRect">
            <a:avLst>
              <a:gd name="adj" fmla="val 4667"/>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65" name="Text 39"/>
          <p:cNvSpPr/>
          <p:nvPr/>
        </p:nvSpPr>
        <p:spPr>
          <a:xfrm>
            <a:off x="795600" y="4160520"/>
            <a:ext cx="665784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u="none" strike="noStrike">
                <a:solidFill>
                  <a:srgbClr val="5E2A75"/>
                </a:solidFill>
                <a:effectLst/>
                <a:uFillTx/>
                <a:latin typeface="Calibri"/>
                <a:ea typeface="Calibri"/>
              </a:rPr>
              <a:t>This session (4): </a:t>
            </a:r>
            <a:r>
              <a:rPr lang="en-US" sz="1400" b="0" u="none" strike="noStrike">
                <a:solidFill>
                  <a:srgbClr val="2B2331"/>
                </a:solidFill>
                <a:effectLst/>
                <a:uFillTx/>
                <a:latin typeface="Calibri"/>
                <a:ea typeface="Calibri"/>
              </a:rPr>
              <a:t>stages 1–5 — produce a pangenome graph and a trustworthy quality report.</a:t>
            </a:r>
            <a:endParaRPr lang="de-DE" sz="1400" b="0" u="none" strike="noStrike">
              <a:solidFill>
                <a:srgbClr val="000000"/>
              </a:solidFill>
              <a:effectLst/>
              <a:uFillTx/>
              <a:latin typeface="Arial"/>
            </a:endParaRPr>
          </a:p>
        </p:txBody>
      </p:sp>
      <p:sp>
        <p:nvSpPr>
          <p:cNvPr id="66" name="Shape 40"/>
          <p:cNvSpPr/>
          <p:nvPr/>
        </p:nvSpPr>
        <p:spPr>
          <a:xfrm>
            <a:off x="7865280" y="3977640"/>
            <a:ext cx="3759480" cy="1371240"/>
          </a:xfrm>
          <a:prstGeom prst="roundRect">
            <a:avLst>
              <a:gd name="adj" fmla="val 4667"/>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67" name="Text 41"/>
          <p:cNvSpPr/>
          <p:nvPr/>
        </p:nvSpPr>
        <p:spPr>
          <a:xfrm>
            <a:off x="8093880" y="4160520"/>
            <a:ext cx="330228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u="none" strike="noStrike">
                <a:solidFill>
                  <a:srgbClr val="4E8C72"/>
                </a:solidFill>
                <a:effectLst/>
                <a:uFillTx/>
                <a:latin typeface="Calibri"/>
                <a:ea typeface="Calibri"/>
              </a:rPr>
              <a:t>Session 5: </a:t>
            </a:r>
            <a:r>
              <a:rPr lang="en-US" sz="1400" b="0" u="none" strike="noStrike">
                <a:solidFill>
                  <a:srgbClr val="2B2331"/>
                </a:solidFill>
                <a:effectLst/>
                <a:uFillTx/>
                <a:latin typeface="Calibri"/>
                <a:ea typeface="Calibri"/>
              </a:rPr>
              <a:t>presenting &amp; sharing pangenomes.</a:t>
            </a:r>
            <a:endParaRPr lang="de-DE" sz="14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69"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CONCEPT</a:t>
            </a:r>
            <a:endParaRPr lang="de-DE" sz="1200" b="0" u="none" strike="noStrike">
              <a:solidFill>
                <a:srgbClr val="000000"/>
              </a:solidFill>
              <a:effectLst/>
              <a:uFillTx/>
              <a:latin typeface="Arial"/>
            </a:endParaRPr>
          </a:p>
        </p:txBody>
      </p:sp>
      <p:sp>
        <p:nvSpPr>
          <p:cNvPr id="70"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What is a pangenome?</a:t>
            </a:r>
            <a:endParaRPr lang="de-DE" sz="2900" b="0" u="none" strike="noStrike">
              <a:solidFill>
                <a:srgbClr val="000000"/>
              </a:solidFill>
              <a:effectLst/>
              <a:uFillTx/>
              <a:latin typeface="Arial"/>
            </a:endParaRPr>
          </a:p>
        </p:txBody>
      </p:sp>
      <p:sp>
        <p:nvSpPr>
          <p:cNvPr id="71" name="Text 3"/>
          <p:cNvSpPr/>
          <p:nvPr/>
        </p:nvSpPr>
        <p:spPr>
          <a:xfrm>
            <a:off x="567000" y="1691640"/>
            <a:ext cx="566892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1" u="none" strike="noStrike">
                <a:solidFill>
                  <a:srgbClr val="5E2A75"/>
                </a:solidFill>
                <a:effectLst/>
                <a:uFillTx/>
                <a:latin typeface="Calibri"/>
                <a:ea typeface="Calibri"/>
              </a:rPr>
              <a:t>Pangenome</a:t>
            </a:r>
            <a:r>
              <a:rPr lang="en-US" sz="1500" b="0" u="none" strike="noStrike">
                <a:solidFill>
                  <a:srgbClr val="2B2331"/>
                </a:solidFill>
                <a:effectLst/>
                <a:uFillTx/>
                <a:latin typeface="Calibri"/>
                <a:ea typeface="Calibri"/>
              </a:rPr>
              <a:t>  (Greek </a:t>
            </a:r>
            <a:r>
              <a:rPr lang="en-US" sz="1500" b="0" i="1" u="none" strike="noStrike">
                <a:solidFill>
                  <a:srgbClr val="2B2331"/>
                </a:solidFill>
                <a:effectLst/>
                <a:uFillTx/>
                <a:latin typeface="Calibri"/>
                <a:ea typeface="Calibri"/>
              </a:rPr>
              <a:t>pan</a:t>
            </a:r>
            <a:r>
              <a:rPr lang="en-US" sz="1500" b="0" u="none" strike="noStrike">
                <a:solidFill>
                  <a:srgbClr val="2B2331"/>
                </a:solidFill>
                <a:effectLst/>
                <a:uFillTx/>
                <a:latin typeface="Calibri"/>
                <a:ea typeface="Calibri"/>
              </a:rPr>
              <a:t> = all):  the </a:t>
            </a:r>
            <a:r>
              <a:rPr lang="en-US" sz="1500" b="1" u="none" strike="noStrike">
                <a:solidFill>
                  <a:srgbClr val="2B2331"/>
                </a:solidFill>
                <a:effectLst/>
                <a:uFillTx/>
                <a:latin typeface="Calibri"/>
                <a:ea typeface="Calibri"/>
              </a:rPr>
              <a:t>complete set of DNA sequence found across all individuals of a species</a:t>
            </a:r>
            <a:r>
              <a:rPr lang="en-US" sz="1500" b="0" u="none" strike="noStrike">
                <a:solidFill>
                  <a:srgbClr val="2B2331"/>
                </a:solidFill>
                <a:effectLst/>
                <a:uFillTx/>
                <a:latin typeface="Calibri"/>
                <a:ea typeface="Calibri"/>
              </a:rPr>
              <a:t> — not just one reference individual.</a:t>
            </a:r>
            <a:endParaRPr lang="de-DE" sz="1500" b="0" u="none" strike="noStrike">
              <a:solidFill>
                <a:srgbClr val="000000"/>
              </a:solidFill>
              <a:effectLst/>
              <a:uFillTx/>
              <a:latin typeface="Arial"/>
            </a:endParaRPr>
          </a:p>
        </p:txBody>
      </p:sp>
      <p:sp>
        <p:nvSpPr>
          <p:cNvPr id="72" name="Text 4"/>
          <p:cNvSpPr/>
          <p:nvPr/>
        </p:nvSpPr>
        <p:spPr>
          <a:xfrm>
            <a:off x="567000" y="2743200"/>
            <a:ext cx="5668920" cy="274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Core genome — sequence present in (almost) every individual</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Shell genome — present in some but not all (also called accessory)</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Cloud genome — rare or private to one individual (also called dispensable)</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5E2A75"/>
              </a:buClr>
              <a:buFont typeface="Symbol" charset="2"/>
              <a:buChar char=""/>
            </a:pPr>
            <a:r>
              <a:rPr lang="en-US" sz="1350" b="1" u="none" strike="noStrike">
                <a:solidFill>
                  <a:srgbClr val="5E2A75"/>
                </a:solidFill>
                <a:effectLst/>
                <a:uFillTx/>
                <a:latin typeface="Calibri"/>
                <a:ea typeface="Calibri"/>
              </a:rPr>
              <a:t>Core + shell + cloud = the pangenome</a:t>
            </a:r>
            <a:endParaRPr lang="de-DE" sz="1350" b="0" u="none" strike="noStrike">
              <a:solidFill>
                <a:srgbClr val="000000"/>
              </a:solidFill>
              <a:effectLst/>
              <a:uFillTx/>
              <a:latin typeface="Arial"/>
            </a:endParaRPr>
          </a:p>
        </p:txBody>
      </p:sp>
      <p:sp>
        <p:nvSpPr>
          <p:cNvPr id="73" name="Shape 5"/>
          <p:cNvSpPr/>
          <p:nvPr/>
        </p:nvSpPr>
        <p:spPr>
          <a:xfrm>
            <a:off x="7238880" y="1508760"/>
            <a:ext cx="3565800" cy="3565800"/>
          </a:xfrm>
          <a:prstGeom prst="ellipse">
            <a:avLst/>
          </a:prstGeom>
          <a:solidFill>
            <a:srgbClr val="F0E4D6"/>
          </a:solidFill>
          <a:ln w="15875">
            <a:solidFill>
              <a:srgbClr val="DE8E2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74" name="Shape 6"/>
          <p:cNvSpPr/>
          <p:nvPr/>
        </p:nvSpPr>
        <p:spPr>
          <a:xfrm>
            <a:off x="7787520" y="2057400"/>
            <a:ext cx="2468520" cy="2468520"/>
          </a:xfrm>
          <a:prstGeom prst="ellipse">
            <a:avLst/>
          </a:prstGeom>
          <a:solidFill>
            <a:srgbClr val="EAD9E8"/>
          </a:solidFill>
          <a:ln w="15875">
            <a:solidFill>
              <a:srgbClr val="8246A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75" name="Shape 7"/>
          <p:cNvSpPr/>
          <p:nvPr/>
        </p:nvSpPr>
        <p:spPr>
          <a:xfrm>
            <a:off x="8336160" y="2606040"/>
            <a:ext cx="1371240" cy="1371240"/>
          </a:xfrm>
          <a:prstGeom prst="ellipse">
            <a:avLst/>
          </a:prstGeom>
          <a:solidFill>
            <a:srgbClr val="21476B"/>
          </a:solidFill>
          <a:ln w="15875">
            <a:solidFill>
              <a:srgbClr val="2147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76" name="Text 8"/>
          <p:cNvSpPr/>
          <p:nvPr/>
        </p:nvSpPr>
        <p:spPr>
          <a:xfrm>
            <a:off x="8336160" y="2907720"/>
            <a:ext cx="13712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r>
              <a:rPr lang="en-US" sz="1500" b="1" u="none" strike="noStrike">
                <a:solidFill>
                  <a:srgbClr val="FFFFFF"/>
                </a:solidFill>
                <a:effectLst/>
                <a:uFillTx/>
                <a:latin typeface="Calibri"/>
                <a:ea typeface="Calibri"/>
              </a:rPr>
              <a:t>CORE</a:t>
            </a:r>
            <a:endParaRPr lang="de-DE" sz="1500" b="0" u="none" strike="noStrike">
              <a:solidFill>
                <a:srgbClr val="000000"/>
              </a:solidFill>
              <a:effectLst/>
              <a:uFillTx/>
              <a:latin typeface="Arial"/>
            </a:endParaRPr>
          </a:p>
          <a:p>
            <a:pPr algn="ctr" defTabSz="914400">
              <a:lnSpc>
                <a:spcPct val="100000"/>
              </a:lnSpc>
              <a:tabLst>
                <a:tab pos="0" algn="l"/>
              </a:tabLst>
            </a:pPr>
            <a:r>
              <a:rPr lang="en-US" sz="950" b="0" u="none" strike="noStrike">
                <a:solidFill>
                  <a:srgbClr val="DDE6EF"/>
                </a:solidFill>
                <a:effectLst/>
                <a:uFillTx/>
                <a:latin typeface="Calibri"/>
                <a:ea typeface="Calibri"/>
              </a:rPr>
              <a:t>in (almost) all</a:t>
            </a:r>
            <a:endParaRPr lang="de-DE" sz="950" b="0" u="none" strike="noStrike">
              <a:solidFill>
                <a:srgbClr val="000000"/>
              </a:solidFill>
              <a:effectLst/>
              <a:uFillTx/>
              <a:latin typeface="Arial"/>
            </a:endParaRPr>
          </a:p>
        </p:txBody>
      </p:sp>
      <p:sp>
        <p:nvSpPr>
          <p:cNvPr id="77" name="Text 9"/>
          <p:cNvSpPr/>
          <p:nvPr/>
        </p:nvSpPr>
        <p:spPr>
          <a:xfrm>
            <a:off x="8381880" y="4069080"/>
            <a:ext cx="1279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8246A0"/>
                </a:solidFill>
                <a:effectLst/>
                <a:uFillTx/>
                <a:latin typeface="Calibri"/>
                <a:ea typeface="Calibri"/>
              </a:rPr>
              <a:t>SHELL</a:t>
            </a:r>
            <a:endParaRPr lang="de-DE" sz="1200" b="0" u="none" strike="noStrike">
              <a:solidFill>
                <a:srgbClr val="000000"/>
              </a:solidFill>
              <a:effectLst/>
              <a:uFillTx/>
              <a:latin typeface="Arial"/>
            </a:endParaRPr>
          </a:p>
        </p:txBody>
      </p:sp>
      <p:sp>
        <p:nvSpPr>
          <p:cNvPr id="78" name="Text 10"/>
          <p:cNvSpPr/>
          <p:nvPr/>
        </p:nvSpPr>
        <p:spPr>
          <a:xfrm>
            <a:off x="8381880" y="4663440"/>
            <a:ext cx="1279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DE8E2C"/>
                </a:solidFill>
                <a:effectLst/>
                <a:uFillTx/>
                <a:latin typeface="Calibri"/>
                <a:ea typeface="Calibri"/>
              </a:rPr>
              <a:t>CLOUD</a:t>
            </a:r>
            <a:endParaRPr lang="de-DE" sz="1200" b="0" u="none" strike="noStrike">
              <a:solidFill>
                <a:srgbClr val="000000"/>
              </a:solidFill>
              <a:effectLst/>
              <a:uFillTx/>
              <a:latin typeface="Arial"/>
            </a:endParaRPr>
          </a:p>
        </p:txBody>
      </p:sp>
      <p:sp>
        <p:nvSpPr>
          <p:cNvPr id="79" name="Text 11"/>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These are conventions, not fixed categories — where the boundaries fall depends on how many individuals you sample (we return to this under 'saturation').</a:t>
            </a:r>
            <a:endParaRPr lang="de-DE" sz="95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81"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MOTIVATION</a:t>
            </a:r>
            <a:endParaRPr lang="de-DE" sz="1200" b="0" u="none" strike="noStrike">
              <a:solidFill>
                <a:srgbClr val="000000"/>
              </a:solidFill>
              <a:effectLst/>
              <a:uFillTx/>
              <a:latin typeface="Arial"/>
            </a:endParaRPr>
          </a:p>
        </p:txBody>
      </p:sp>
      <p:sp>
        <p:nvSpPr>
          <p:cNvPr id="82"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Why one reference genome is not enough</a:t>
            </a:r>
            <a:endParaRPr lang="de-DE" sz="2900" b="0" u="none" strike="noStrike">
              <a:solidFill>
                <a:srgbClr val="000000"/>
              </a:solidFill>
              <a:effectLst/>
              <a:uFillTx/>
              <a:latin typeface="Arial"/>
            </a:endParaRPr>
          </a:p>
        </p:txBody>
      </p:sp>
      <p:sp>
        <p:nvSpPr>
          <p:cNvPr id="83" name="Shape 3"/>
          <p:cNvSpPr/>
          <p:nvPr/>
        </p:nvSpPr>
        <p:spPr>
          <a:xfrm>
            <a:off x="567000" y="1645920"/>
            <a:ext cx="5345640" cy="4023000"/>
          </a:xfrm>
          <a:prstGeom prst="roundRect">
            <a:avLst>
              <a:gd name="adj" fmla="val 1591"/>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84" name="Text 4"/>
          <p:cNvSpPr/>
          <p:nvPr/>
        </p:nvSpPr>
        <p:spPr>
          <a:xfrm>
            <a:off x="749880" y="1764720"/>
            <a:ext cx="4979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E8606B"/>
                </a:solidFill>
                <a:effectLst/>
                <a:uFillTx/>
                <a:latin typeface="Calibri"/>
                <a:ea typeface="Calibri"/>
              </a:rPr>
              <a:t>The problem with a single linear reference</a:t>
            </a:r>
            <a:endParaRPr lang="de-DE" sz="1350" b="0" u="none" strike="noStrike">
              <a:solidFill>
                <a:srgbClr val="000000"/>
              </a:solidFill>
              <a:effectLst/>
              <a:uFillTx/>
              <a:latin typeface="Arial"/>
            </a:endParaRPr>
          </a:p>
        </p:txBody>
      </p:sp>
      <p:sp>
        <p:nvSpPr>
          <p:cNvPr id="85" name="Text 5"/>
          <p:cNvSpPr/>
          <p:nvPr/>
        </p:nvSpPr>
        <p:spPr>
          <a:xfrm>
            <a:off x="768240" y="2212920"/>
            <a:ext cx="4943520" cy="3291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A reference describes one individual — sequence absent from it is invisible to every analysis</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Plant genomes are large, repeat-rich and structurally diverse between accessions (varieties)</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Reference bias: reads from divergent regions fail to map, so real variants are missed or miscalled</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Presence/absence variation (PAV) — whole genes present in some accessions, absent in others</a:t>
            </a:r>
            <a:endParaRPr lang="de-DE" sz="1350" b="0" u="none" strike="noStrike">
              <a:solidFill>
                <a:srgbClr val="000000"/>
              </a:solidFill>
              <a:effectLst/>
              <a:uFillTx/>
              <a:latin typeface="Arial"/>
            </a:endParaRPr>
          </a:p>
        </p:txBody>
      </p:sp>
      <p:sp>
        <p:nvSpPr>
          <p:cNvPr id="86" name="Shape 6"/>
          <p:cNvSpPr/>
          <p:nvPr/>
        </p:nvSpPr>
        <p:spPr>
          <a:xfrm>
            <a:off x="6278760" y="1645920"/>
            <a:ext cx="5345640" cy="4023000"/>
          </a:xfrm>
          <a:prstGeom prst="roundRect">
            <a:avLst>
              <a:gd name="adj" fmla="val 1591"/>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87" name="Text 7"/>
          <p:cNvSpPr/>
          <p:nvPr/>
        </p:nvSpPr>
        <p:spPr>
          <a:xfrm>
            <a:off x="6461640" y="1764720"/>
            <a:ext cx="4979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The pangenome answer</a:t>
            </a:r>
            <a:endParaRPr lang="de-DE" sz="1350" b="0" u="none" strike="noStrike">
              <a:solidFill>
                <a:srgbClr val="000000"/>
              </a:solidFill>
              <a:effectLst/>
              <a:uFillTx/>
              <a:latin typeface="Arial"/>
            </a:endParaRPr>
          </a:p>
        </p:txBody>
      </p:sp>
      <p:sp>
        <p:nvSpPr>
          <p:cNvPr id="88" name="Text 8"/>
          <p:cNvSpPr/>
          <p:nvPr/>
        </p:nvSpPr>
        <p:spPr>
          <a:xfrm>
            <a:off x="6480000" y="2212920"/>
            <a:ext cx="4943520" cy="3291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Represent the whole species — every accession's sequence is captured</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Store shared sequence once; differences become alternative routes</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Single-nucleotide changes through to large rearrangements live in one structure</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Build it reference-free so no single genome is privileged — bias is minimised</a:t>
            </a:r>
            <a:endParaRPr lang="de-DE" sz="1350" b="0" u="none" strike="noStrike">
              <a:solidFill>
                <a:srgbClr val="000000"/>
              </a:solidFill>
              <a:effectLst/>
              <a:uFillTx/>
              <a:latin typeface="Arial"/>
            </a:endParaRPr>
          </a:p>
        </p:txBody>
      </p:sp>
      <p:sp>
        <p:nvSpPr>
          <p:cNvPr id="89" name="Text 9"/>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Accession = a uniquely identified plant sample (a variety, landrace or wild collection) held in a genebank.</a:t>
            </a:r>
            <a:endParaRPr lang="de-DE" sz="95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91"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KEY TERMS</a:t>
            </a:r>
            <a:endParaRPr lang="de-DE" sz="1200" b="0" u="none" strike="noStrike">
              <a:solidFill>
                <a:srgbClr val="000000"/>
              </a:solidFill>
              <a:effectLst/>
              <a:uFillTx/>
              <a:latin typeface="Arial"/>
            </a:endParaRPr>
          </a:p>
        </p:txBody>
      </p:sp>
      <p:sp>
        <p:nvSpPr>
          <p:cNvPr id="92"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The vocabulary of genetic variation</a:t>
            </a:r>
            <a:endParaRPr lang="de-DE" sz="2900" b="0" u="none" strike="noStrike">
              <a:solidFill>
                <a:srgbClr val="000000"/>
              </a:solidFill>
              <a:effectLst/>
              <a:uFillTx/>
              <a:latin typeface="Arial"/>
            </a:endParaRPr>
          </a:p>
        </p:txBody>
      </p:sp>
      <p:sp>
        <p:nvSpPr>
          <p:cNvPr id="93" name="Shape 3"/>
          <p:cNvSpPr/>
          <p:nvPr/>
        </p:nvSpPr>
        <p:spPr>
          <a:xfrm>
            <a:off x="1430308" y="1600200"/>
            <a:ext cx="8956955" cy="3200040"/>
          </a:xfrm>
          <a:prstGeom prst="roundRect">
            <a:avLst>
              <a:gd name="adj" fmla="val 1714"/>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94" name="Image 0" descr="C:\Users\fzj\AppData\Local\Temp\claude\C--Users-fzj-git-primer3-rs\110509b7-eac3-44ec-8fe3-ff640ad7d275\scratchpad\assets\spectrum.png"/>
          <p:cNvPicPr/>
          <p:nvPr/>
        </p:nvPicPr>
        <p:blipFill>
          <a:blip r:embed="rId3"/>
          <a:stretch/>
        </p:blipFill>
        <p:spPr>
          <a:xfrm>
            <a:off x="1430308" y="1728180"/>
            <a:ext cx="9147032" cy="2944080"/>
          </a:xfrm>
          <a:prstGeom prst="rect">
            <a:avLst/>
          </a:prstGeom>
          <a:noFill/>
          <a:ln w="0">
            <a:noFill/>
          </a:ln>
        </p:spPr>
      </p:pic>
      <p:sp>
        <p:nvSpPr>
          <p:cNvPr id="95" name="Shape 4"/>
          <p:cNvSpPr/>
          <p:nvPr/>
        </p:nvSpPr>
        <p:spPr>
          <a:xfrm>
            <a:off x="567000" y="4946760"/>
            <a:ext cx="2094120" cy="959760"/>
          </a:xfrm>
          <a:prstGeom prst="roundRect">
            <a:avLst>
              <a:gd name="adj" fmla="val 6667"/>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96" name="Text 5"/>
          <p:cNvSpPr/>
          <p:nvPr/>
        </p:nvSpPr>
        <p:spPr>
          <a:xfrm>
            <a:off x="676800" y="5038200"/>
            <a:ext cx="18748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5E2A75"/>
                </a:solidFill>
                <a:effectLst/>
                <a:uFillTx/>
                <a:latin typeface="Calibri"/>
                <a:ea typeface="Calibri"/>
              </a:rPr>
              <a:t>SNP</a:t>
            </a:r>
            <a:endParaRPr lang="de-DE" sz="1400" b="0" u="none" strike="noStrike">
              <a:solidFill>
                <a:srgbClr val="000000"/>
              </a:solidFill>
              <a:effectLst/>
              <a:uFillTx/>
              <a:latin typeface="Arial"/>
            </a:endParaRPr>
          </a:p>
        </p:txBody>
      </p:sp>
      <p:sp>
        <p:nvSpPr>
          <p:cNvPr id="97" name="Text 6"/>
          <p:cNvSpPr/>
          <p:nvPr/>
        </p:nvSpPr>
        <p:spPr>
          <a:xfrm>
            <a:off x="676800" y="5330880"/>
            <a:ext cx="18748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u="none" strike="noStrike">
                <a:solidFill>
                  <a:srgbClr val="2B2331"/>
                </a:solidFill>
                <a:effectLst/>
                <a:uFillTx/>
                <a:latin typeface="Calibri"/>
                <a:ea typeface="Calibri"/>
              </a:rPr>
              <a:t>single-nucleotide polymorphism — one base changed</a:t>
            </a:r>
            <a:endParaRPr lang="de-DE" sz="950" b="0" u="none" strike="noStrike">
              <a:solidFill>
                <a:srgbClr val="000000"/>
              </a:solidFill>
              <a:effectLst/>
              <a:uFillTx/>
              <a:latin typeface="Arial"/>
            </a:endParaRPr>
          </a:p>
        </p:txBody>
      </p:sp>
      <p:sp>
        <p:nvSpPr>
          <p:cNvPr id="98" name="Shape 7"/>
          <p:cNvSpPr/>
          <p:nvPr/>
        </p:nvSpPr>
        <p:spPr>
          <a:xfrm>
            <a:off x="2807640" y="4946760"/>
            <a:ext cx="2094120" cy="959760"/>
          </a:xfrm>
          <a:prstGeom prst="roundRect">
            <a:avLst>
              <a:gd name="adj" fmla="val 6667"/>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99" name="Text 8"/>
          <p:cNvSpPr/>
          <p:nvPr/>
        </p:nvSpPr>
        <p:spPr>
          <a:xfrm>
            <a:off x="2917440" y="5038200"/>
            <a:ext cx="18748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5E2A75"/>
                </a:solidFill>
                <a:effectLst/>
                <a:uFillTx/>
                <a:latin typeface="Calibri"/>
                <a:ea typeface="Calibri"/>
              </a:rPr>
              <a:t>indel</a:t>
            </a:r>
            <a:endParaRPr lang="de-DE" sz="1400" b="0" u="none" strike="noStrike">
              <a:solidFill>
                <a:srgbClr val="000000"/>
              </a:solidFill>
              <a:effectLst/>
              <a:uFillTx/>
              <a:latin typeface="Arial"/>
            </a:endParaRPr>
          </a:p>
        </p:txBody>
      </p:sp>
      <p:sp>
        <p:nvSpPr>
          <p:cNvPr id="100" name="Text 9"/>
          <p:cNvSpPr/>
          <p:nvPr/>
        </p:nvSpPr>
        <p:spPr>
          <a:xfrm>
            <a:off x="2917440" y="5330880"/>
            <a:ext cx="18748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u="none" strike="noStrike">
                <a:solidFill>
                  <a:srgbClr val="2B2331"/>
                </a:solidFill>
                <a:effectLst/>
                <a:uFillTx/>
                <a:latin typeface="Calibri"/>
                <a:ea typeface="Calibri"/>
              </a:rPr>
              <a:t>insertion or deletion of 1–50 bp</a:t>
            </a:r>
            <a:endParaRPr lang="de-DE" sz="950" b="0" u="none" strike="noStrike">
              <a:solidFill>
                <a:srgbClr val="000000"/>
              </a:solidFill>
              <a:effectLst/>
              <a:uFillTx/>
              <a:latin typeface="Arial"/>
            </a:endParaRPr>
          </a:p>
        </p:txBody>
      </p:sp>
      <p:sp>
        <p:nvSpPr>
          <p:cNvPr id="101" name="Shape 10"/>
          <p:cNvSpPr/>
          <p:nvPr/>
        </p:nvSpPr>
        <p:spPr>
          <a:xfrm>
            <a:off x="5048640" y="4946760"/>
            <a:ext cx="2094120" cy="959760"/>
          </a:xfrm>
          <a:prstGeom prst="roundRect">
            <a:avLst>
              <a:gd name="adj" fmla="val 6667"/>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02" name="Text 11"/>
          <p:cNvSpPr/>
          <p:nvPr/>
        </p:nvSpPr>
        <p:spPr>
          <a:xfrm>
            <a:off x="5158440" y="5038200"/>
            <a:ext cx="18748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5E2A75"/>
                </a:solidFill>
                <a:effectLst/>
                <a:uFillTx/>
                <a:latin typeface="Calibri"/>
                <a:ea typeface="Calibri"/>
              </a:rPr>
              <a:t>SV</a:t>
            </a:r>
            <a:endParaRPr lang="de-DE" sz="1400" b="0" u="none" strike="noStrike">
              <a:solidFill>
                <a:srgbClr val="000000"/>
              </a:solidFill>
              <a:effectLst/>
              <a:uFillTx/>
              <a:latin typeface="Arial"/>
            </a:endParaRPr>
          </a:p>
        </p:txBody>
      </p:sp>
      <p:sp>
        <p:nvSpPr>
          <p:cNvPr id="103" name="Text 12"/>
          <p:cNvSpPr/>
          <p:nvPr/>
        </p:nvSpPr>
        <p:spPr>
          <a:xfrm>
            <a:off x="5158440" y="5330880"/>
            <a:ext cx="18748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u="none" strike="noStrike">
                <a:solidFill>
                  <a:srgbClr val="2B2331"/>
                </a:solidFill>
                <a:effectLst/>
                <a:uFillTx/>
                <a:latin typeface="Calibri"/>
                <a:ea typeface="Calibri"/>
              </a:rPr>
              <a:t>structural variant — change &gt; 50 bp</a:t>
            </a:r>
            <a:endParaRPr lang="de-DE" sz="950" b="0" u="none" strike="noStrike">
              <a:solidFill>
                <a:srgbClr val="000000"/>
              </a:solidFill>
              <a:effectLst/>
              <a:uFillTx/>
              <a:latin typeface="Arial"/>
            </a:endParaRPr>
          </a:p>
        </p:txBody>
      </p:sp>
      <p:sp>
        <p:nvSpPr>
          <p:cNvPr id="104" name="Shape 13"/>
          <p:cNvSpPr/>
          <p:nvPr/>
        </p:nvSpPr>
        <p:spPr>
          <a:xfrm>
            <a:off x="7289280" y="4946760"/>
            <a:ext cx="2094120" cy="959760"/>
          </a:xfrm>
          <a:prstGeom prst="roundRect">
            <a:avLst>
              <a:gd name="adj" fmla="val 6667"/>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05" name="Text 14"/>
          <p:cNvSpPr/>
          <p:nvPr/>
        </p:nvSpPr>
        <p:spPr>
          <a:xfrm>
            <a:off x="7399080" y="5038200"/>
            <a:ext cx="18748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5E2A75"/>
                </a:solidFill>
                <a:effectLst/>
                <a:uFillTx/>
                <a:latin typeface="Calibri"/>
                <a:ea typeface="Calibri"/>
              </a:rPr>
              <a:t>CNV</a:t>
            </a:r>
            <a:endParaRPr lang="de-DE" sz="1400" b="0" u="none" strike="noStrike">
              <a:solidFill>
                <a:srgbClr val="000000"/>
              </a:solidFill>
              <a:effectLst/>
              <a:uFillTx/>
              <a:latin typeface="Arial"/>
            </a:endParaRPr>
          </a:p>
        </p:txBody>
      </p:sp>
      <p:sp>
        <p:nvSpPr>
          <p:cNvPr id="106" name="Text 15"/>
          <p:cNvSpPr/>
          <p:nvPr/>
        </p:nvSpPr>
        <p:spPr>
          <a:xfrm>
            <a:off x="7399080" y="5330880"/>
            <a:ext cx="18748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u="none" strike="noStrike">
                <a:solidFill>
                  <a:srgbClr val="2B2331"/>
                </a:solidFill>
                <a:effectLst/>
                <a:uFillTx/>
                <a:latin typeface="Calibri"/>
                <a:ea typeface="Calibri"/>
              </a:rPr>
              <a:t>copy-number variation — repeated segments</a:t>
            </a:r>
            <a:endParaRPr lang="de-DE" sz="950" b="0" u="none" strike="noStrike">
              <a:solidFill>
                <a:srgbClr val="000000"/>
              </a:solidFill>
              <a:effectLst/>
              <a:uFillTx/>
              <a:latin typeface="Arial"/>
            </a:endParaRPr>
          </a:p>
        </p:txBody>
      </p:sp>
      <p:sp>
        <p:nvSpPr>
          <p:cNvPr id="107" name="Shape 16"/>
          <p:cNvSpPr/>
          <p:nvPr/>
        </p:nvSpPr>
        <p:spPr>
          <a:xfrm>
            <a:off x="9530280" y="4946760"/>
            <a:ext cx="2094120" cy="959760"/>
          </a:xfrm>
          <a:prstGeom prst="roundRect">
            <a:avLst>
              <a:gd name="adj" fmla="val 6667"/>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08" name="Text 17"/>
          <p:cNvSpPr/>
          <p:nvPr/>
        </p:nvSpPr>
        <p:spPr>
          <a:xfrm>
            <a:off x="9640080" y="5038200"/>
            <a:ext cx="18748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5E2A75"/>
                </a:solidFill>
                <a:effectLst/>
                <a:uFillTx/>
                <a:latin typeface="Calibri"/>
                <a:ea typeface="Calibri"/>
              </a:rPr>
              <a:t>PAV</a:t>
            </a:r>
            <a:endParaRPr lang="de-DE" sz="1400" b="0" u="none" strike="noStrike">
              <a:solidFill>
                <a:srgbClr val="000000"/>
              </a:solidFill>
              <a:effectLst/>
              <a:uFillTx/>
              <a:latin typeface="Arial"/>
            </a:endParaRPr>
          </a:p>
        </p:txBody>
      </p:sp>
      <p:sp>
        <p:nvSpPr>
          <p:cNvPr id="109" name="Text 18"/>
          <p:cNvSpPr/>
          <p:nvPr/>
        </p:nvSpPr>
        <p:spPr>
          <a:xfrm>
            <a:off x="9640080" y="5330880"/>
            <a:ext cx="18748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u="none" strike="noStrike">
                <a:solidFill>
                  <a:srgbClr val="2B2331"/>
                </a:solidFill>
                <a:effectLst/>
                <a:uFillTx/>
                <a:latin typeface="Calibri"/>
                <a:ea typeface="Calibri"/>
              </a:rPr>
              <a:t>presence/absence variation — present or gone</a:t>
            </a:r>
            <a:endParaRPr lang="de-DE" sz="95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11"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CONCEPT</a:t>
            </a:r>
            <a:endParaRPr lang="de-DE" sz="1200" b="0" u="none" strike="noStrike">
              <a:solidFill>
                <a:srgbClr val="000000"/>
              </a:solidFill>
              <a:effectLst/>
              <a:uFillTx/>
              <a:latin typeface="Arial"/>
            </a:endParaRPr>
          </a:p>
        </p:txBody>
      </p:sp>
      <p:sp>
        <p:nvSpPr>
          <p:cNvPr id="112"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Two ways to represent a genome</a:t>
            </a:r>
            <a:endParaRPr lang="de-DE" sz="2900" b="0" u="none" strike="noStrike">
              <a:solidFill>
                <a:srgbClr val="000000"/>
              </a:solidFill>
              <a:effectLst/>
              <a:uFillTx/>
              <a:latin typeface="Arial"/>
            </a:endParaRPr>
          </a:p>
        </p:txBody>
      </p:sp>
      <p:sp>
        <p:nvSpPr>
          <p:cNvPr id="113" name="Shape 3"/>
          <p:cNvSpPr/>
          <p:nvPr/>
        </p:nvSpPr>
        <p:spPr>
          <a:xfrm>
            <a:off x="567000" y="1737360"/>
            <a:ext cx="5299920" cy="3748680"/>
          </a:xfrm>
          <a:prstGeom prst="roundRect">
            <a:avLst>
              <a:gd name="adj" fmla="val 1707"/>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14" name="Text 4"/>
          <p:cNvSpPr/>
          <p:nvPr/>
        </p:nvSpPr>
        <p:spPr>
          <a:xfrm>
            <a:off x="749880" y="1856160"/>
            <a:ext cx="49341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E8606B"/>
                </a:solidFill>
                <a:effectLst/>
                <a:uFillTx/>
                <a:latin typeface="Calibri"/>
                <a:ea typeface="Calibri"/>
              </a:rPr>
              <a:t>Linear reference — one path</a:t>
            </a:r>
            <a:endParaRPr lang="de-DE" sz="1350" b="0" u="none" strike="noStrike">
              <a:solidFill>
                <a:srgbClr val="000000"/>
              </a:solidFill>
              <a:effectLst/>
              <a:uFillTx/>
              <a:latin typeface="Arial"/>
            </a:endParaRPr>
          </a:p>
        </p:txBody>
      </p:sp>
      <p:sp>
        <p:nvSpPr>
          <p:cNvPr id="115" name="Shape 5"/>
          <p:cNvSpPr/>
          <p:nvPr/>
        </p:nvSpPr>
        <p:spPr>
          <a:xfrm>
            <a:off x="887040" y="2606040"/>
            <a:ext cx="4659840" cy="365400"/>
          </a:xfrm>
          <a:prstGeom prst="rect">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16" name="Text 6"/>
          <p:cNvSpPr/>
          <p:nvPr/>
        </p:nvSpPr>
        <p:spPr>
          <a:xfrm>
            <a:off x="887040" y="2606040"/>
            <a:ext cx="4659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u="none" strike="noStrike">
                <a:solidFill>
                  <a:srgbClr val="FFFFFF"/>
                </a:solidFill>
                <a:effectLst/>
                <a:uFillTx/>
                <a:latin typeface="Calibri"/>
                <a:ea typeface="Calibri"/>
              </a:rPr>
              <a:t>reference genome</a:t>
            </a:r>
            <a:endParaRPr lang="de-DE" sz="1100" b="0" u="none" strike="noStrike">
              <a:solidFill>
                <a:srgbClr val="000000"/>
              </a:solidFill>
              <a:effectLst/>
              <a:uFillTx/>
              <a:latin typeface="Arial"/>
            </a:endParaRPr>
          </a:p>
        </p:txBody>
      </p:sp>
      <p:sp>
        <p:nvSpPr>
          <p:cNvPr id="117" name="Shape 7"/>
          <p:cNvSpPr/>
          <p:nvPr/>
        </p:nvSpPr>
        <p:spPr>
          <a:xfrm>
            <a:off x="932760" y="3154680"/>
            <a:ext cx="1073160" cy="273960"/>
          </a:xfrm>
          <a:prstGeom prst="rect">
            <a:avLst/>
          </a:prstGeom>
          <a:solidFill>
            <a:srgbClr val="8CA9C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18" name="Shape 8"/>
          <p:cNvSpPr/>
          <p:nvPr/>
        </p:nvSpPr>
        <p:spPr>
          <a:xfrm>
            <a:off x="2097720" y="3154680"/>
            <a:ext cx="1073160" cy="273960"/>
          </a:xfrm>
          <a:prstGeom prst="rect">
            <a:avLst/>
          </a:prstGeom>
          <a:solidFill>
            <a:srgbClr val="8CA9C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19" name="Shape 9"/>
          <p:cNvSpPr/>
          <p:nvPr/>
        </p:nvSpPr>
        <p:spPr>
          <a:xfrm>
            <a:off x="4428000" y="3154680"/>
            <a:ext cx="1073160" cy="273960"/>
          </a:xfrm>
          <a:prstGeom prst="rect">
            <a:avLst/>
          </a:prstGeom>
          <a:solidFill>
            <a:srgbClr val="8CA9C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20" name="Shape 10"/>
          <p:cNvSpPr/>
          <p:nvPr/>
        </p:nvSpPr>
        <p:spPr>
          <a:xfrm>
            <a:off x="3262680" y="3154680"/>
            <a:ext cx="1073160" cy="273960"/>
          </a:xfrm>
          <a:prstGeom prst="rect">
            <a:avLst/>
          </a:prstGeom>
          <a:solidFill>
            <a:srgbClr val="FFFFFF"/>
          </a:solidFill>
          <a:ln w="15875">
            <a:solidFill>
              <a:srgbClr val="E8606B"/>
            </a:solidFill>
            <a:prstDash val="dash"/>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21" name="Text 11"/>
          <p:cNvSpPr/>
          <p:nvPr/>
        </p:nvSpPr>
        <p:spPr>
          <a:xfrm>
            <a:off x="3262680" y="3108960"/>
            <a:ext cx="1073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E8606B"/>
                </a:solidFill>
                <a:effectLst/>
                <a:uFillTx/>
                <a:latin typeface="Calibri"/>
                <a:ea typeface="Calibri"/>
              </a:rPr>
              <a:t>?</a:t>
            </a:r>
            <a:endParaRPr lang="de-DE" sz="1400" b="0" u="none" strike="noStrike">
              <a:solidFill>
                <a:srgbClr val="000000"/>
              </a:solidFill>
              <a:effectLst/>
              <a:uFillTx/>
              <a:latin typeface="Arial"/>
            </a:endParaRPr>
          </a:p>
        </p:txBody>
      </p:sp>
      <p:sp>
        <p:nvSpPr>
          <p:cNvPr id="122" name="Text 12"/>
          <p:cNvSpPr/>
          <p:nvPr/>
        </p:nvSpPr>
        <p:spPr>
          <a:xfrm>
            <a:off x="887040" y="3566160"/>
            <a:ext cx="46598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0" u="none" strike="noStrike">
                <a:solidFill>
                  <a:srgbClr val="2B2331"/>
                </a:solidFill>
                <a:effectLst/>
                <a:uFillTx/>
                <a:latin typeface="Calibri"/>
                <a:ea typeface="Calibri"/>
              </a:rPr>
              <a:t>reads from a divergent / inserted region have nowhere to map → variant missed</a:t>
            </a:r>
            <a:endParaRPr lang="de-DE" sz="1200" b="0" u="none" strike="noStrike">
              <a:solidFill>
                <a:srgbClr val="000000"/>
              </a:solidFill>
              <a:effectLst/>
              <a:uFillTx/>
              <a:latin typeface="Arial"/>
            </a:endParaRPr>
          </a:p>
        </p:txBody>
      </p:sp>
      <p:sp>
        <p:nvSpPr>
          <p:cNvPr id="123" name="Text 13"/>
          <p:cNvSpPr/>
          <p:nvPr/>
        </p:nvSpPr>
        <p:spPr>
          <a:xfrm>
            <a:off x="841320" y="4617720"/>
            <a:ext cx="4751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499"/>
              </a:spcAft>
              <a:buClr>
                <a:srgbClr val="2B2331"/>
              </a:buClr>
              <a:buFont typeface="Symbol" charset="2"/>
              <a:buChar char=""/>
            </a:pPr>
            <a:r>
              <a:rPr lang="en-US" sz="1200" b="0" u="none" strike="noStrike">
                <a:solidFill>
                  <a:srgbClr val="2B2331"/>
                </a:solidFill>
                <a:effectLst/>
                <a:uFillTx/>
                <a:latin typeface="Calibri"/>
                <a:ea typeface="Calibri"/>
              </a:rPr>
              <a:t>Anything not in the reference is lost</a:t>
            </a:r>
            <a:endParaRPr lang="de-DE" sz="1200" b="0" u="none" strike="noStrike">
              <a:solidFill>
                <a:srgbClr val="000000"/>
              </a:solidFill>
              <a:effectLst/>
              <a:uFillTx/>
              <a:latin typeface="Arial"/>
            </a:endParaRPr>
          </a:p>
          <a:p>
            <a:pPr marL="177840" indent="-177840" defTabSz="914400">
              <a:lnSpc>
                <a:spcPct val="100000"/>
              </a:lnSpc>
              <a:spcAft>
                <a:spcPts val="499"/>
              </a:spcAft>
              <a:buClr>
                <a:srgbClr val="2B2331"/>
              </a:buClr>
              <a:buFont typeface="Symbol" charset="2"/>
              <a:buChar char=""/>
            </a:pPr>
            <a:r>
              <a:rPr lang="en-US" sz="1200" b="0" u="none" strike="noStrike">
                <a:solidFill>
                  <a:srgbClr val="2B2331"/>
                </a:solidFill>
                <a:effectLst/>
                <a:uFillTx/>
                <a:latin typeface="Calibri"/>
                <a:ea typeface="Calibri"/>
              </a:rPr>
              <a:t>Reference bias in mapping &amp; calling</a:t>
            </a:r>
            <a:endParaRPr lang="de-DE" sz="1200" b="0" u="none" strike="noStrike">
              <a:solidFill>
                <a:srgbClr val="000000"/>
              </a:solidFill>
              <a:effectLst/>
              <a:uFillTx/>
              <a:latin typeface="Arial"/>
            </a:endParaRPr>
          </a:p>
        </p:txBody>
      </p:sp>
      <p:sp>
        <p:nvSpPr>
          <p:cNvPr id="124" name="Shape 14"/>
          <p:cNvSpPr/>
          <p:nvPr/>
        </p:nvSpPr>
        <p:spPr>
          <a:xfrm>
            <a:off x="6324480" y="1737360"/>
            <a:ext cx="5299920" cy="3748680"/>
          </a:xfrm>
          <a:prstGeom prst="roundRect">
            <a:avLst>
              <a:gd name="adj" fmla="val 1707"/>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25" name="Text 15"/>
          <p:cNvSpPr/>
          <p:nvPr/>
        </p:nvSpPr>
        <p:spPr>
          <a:xfrm>
            <a:off x="6507360" y="1856160"/>
            <a:ext cx="49341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Pangenome graph — many paths</a:t>
            </a:r>
            <a:endParaRPr lang="de-DE" sz="1350" b="0" u="none" strike="noStrike">
              <a:solidFill>
                <a:srgbClr val="000000"/>
              </a:solidFill>
              <a:effectLst/>
              <a:uFillTx/>
              <a:latin typeface="Arial"/>
            </a:endParaRPr>
          </a:p>
        </p:txBody>
      </p:sp>
      <p:sp>
        <p:nvSpPr>
          <p:cNvPr id="126" name="Shape 16"/>
          <p:cNvSpPr/>
          <p:nvPr/>
        </p:nvSpPr>
        <p:spPr>
          <a:xfrm>
            <a:off x="7284240" y="3163680"/>
            <a:ext cx="365760" cy="360"/>
          </a:xfrm>
          <a:prstGeom prst="line">
            <a:avLst/>
          </a:prstGeom>
          <a:ln w="25400">
            <a:solidFill>
              <a:srgbClr val="726A7A"/>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de-DE" sz="1800" b="0" u="none" strike="noStrike">
              <a:solidFill>
                <a:srgbClr val="000000"/>
              </a:solidFill>
              <a:effectLst/>
              <a:uFillTx/>
              <a:latin typeface="Arial"/>
            </a:endParaRPr>
          </a:p>
        </p:txBody>
      </p:sp>
      <p:sp>
        <p:nvSpPr>
          <p:cNvPr id="127" name="Shape 17"/>
          <p:cNvSpPr/>
          <p:nvPr/>
        </p:nvSpPr>
        <p:spPr>
          <a:xfrm flipV="1">
            <a:off x="8198640" y="2926080"/>
            <a:ext cx="457200" cy="237600"/>
          </a:xfrm>
          <a:prstGeom prst="line">
            <a:avLst/>
          </a:prstGeom>
          <a:ln w="25400">
            <a:solidFill>
              <a:srgbClr val="726A7A"/>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128" name="Shape 18"/>
          <p:cNvSpPr/>
          <p:nvPr/>
        </p:nvSpPr>
        <p:spPr>
          <a:xfrm>
            <a:off x="8198640" y="3163680"/>
            <a:ext cx="457200" cy="311040"/>
          </a:xfrm>
          <a:prstGeom prst="line">
            <a:avLst/>
          </a:prstGeom>
          <a:ln w="25400">
            <a:solidFill>
              <a:srgbClr val="726A7A"/>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129" name="Shape 19"/>
          <p:cNvSpPr/>
          <p:nvPr/>
        </p:nvSpPr>
        <p:spPr>
          <a:xfrm>
            <a:off x="9204480" y="3117960"/>
            <a:ext cx="457200" cy="45720"/>
          </a:xfrm>
          <a:prstGeom prst="line">
            <a:avLst/>
          </a:prstGeom>
          <a:ln w="25400">
            <a:solidFill>
              <a:srgbClr val="726A7A"/>
            </a:solidFill>
            <a:round/>
          </a:ln>
        </p:spPr>
        <p:style>
          <a:lnRef idx="0">
            <a:scrgbClr r="0" g="0" b="0"/>
          </a:lnRef>
          <a:fillRef idx="0">
            <a:scrgbClr r="0" g="0" b="0"/>
          </a:fillRef>
          <a:effectRef idx="0">
            <a:scrgbClr r="0" g="0" b="0"/>
          </a:effectRef>
          <a:fontRef idx="minor"/>
        </p:style>
        <p:txBody>
          <a:bodyPr lIns="90000" tIns="720" rIns="90000" bIns="720" anchor="t" anchorCtr="1">
            <a:noAutofit/>
          </a:bodyPr>
          <a:lstStyle/>
          <a:p>
            <a:endParaRPr lang="de-DE" sz="1800" b="0" u="none" strike="noStrike">
              <a:solidFill>
                <a:srgbClr val="000000"/>
              </a:solidFill>
              <a:effectLst/>
              <a:uFillTx/>
              <a:latin typeface="Arial"/>
            </a:endParaRPr>
          </a:p>
        </p:txBody>
      </p:sp>
      <p:sp>
        <p:nvSpPr>
          <p:cNvPr id="130" name="Shape 20"/>
          <p:cNvSpPr/>
          <p:nvPr/>
        </p:nvSpPr>
        <p:spPr>
          <a:xfrm flipV="1">
            <a:off x="9204480" y="3163680"/>
            <a:ext cx="457200" cy="502920"/>
          </a:xfrm>
          <a:prstGeom prst="line">
            <a:avLst/>
          </a:prstGeom>
          <a:ln w="25400">
            <a:solidFill>
              <a:srgbClr val="726A7A"/>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131" name="Shape 21"/>
          <p:cNvSpPr/>
          <p:nvPr/>
        </p:nvSpPr>
        <p:spPr>
          <a:xfrm>
            <a:off x="10210320" y="3163680"/>
            <a:ext cx="274320" cy="360"/>
          </a:xfrm>
          <a:prstGeom prst="line">
            <a:avLst/>
          </a:prstGeom>
          <a:ln w="25400">
            <a:solidFill>
              <a:srgbClr val="726A7A"/>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de-DE" sz="1800" b="0" u="none" strike="noStrike">
              <a:solidFill>
                <a:srgbClr val="000000"/>
              </a:solidFill>
              <a:effectLst/>
              <a:uFillTx/>
              <a:latin typeface="Arial"/>
            </a:endParaRPr>
          </a:p>
        </p:txBody>
      </p:sp>
      <p:sp>
        <p:nvSpPr>
          <p:cNvPr id="132" name="Shape 22"/>
          <p:cNvSpPr/>
          <p:nvPr/>
        </p:nvSpPr>
        <p:spPr>
          <a:xfrm>
            <a:off x="6735960" y="2971800"/>
            <a:ext cx="548280" cy="383760"/>
          </a:xfrm>
          <a:prstGeom prst="roundRect">
            <a:avLst>
              <a:gd name="adj" fmla="val 11905"/>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33" name="Text 23"/>
          <p:cNvSpPr/>
          <p:nvPr/>
        </p:nvSpPr>
        <p:spPr>
          <a:xfrm>
            <a:off x="6735960" y="2971800"/>
            <a:ext cx="5482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n1</a:t>
            </a:r>
            <a:endParaRPr lang="de-DE" sz="1100" b="0" u="none" strike="noStrike">
              <a:solidFill>
                <a:srgbClr val="000000"/>
              </a:solidFill>
              <a:effectLst/>
              <a:uFillTx/>
              <a:latin typeface="Arial"/>
            </a:endParaRPr>
          </a:p>
        </p:txBody>
      </p:sp>
      <p:sp>
        <p:nvSpPr>
          <p:cNvPr id="134" name="Shape 24"/>
          <p:cNvSpPr/>
          <p:nvPr/>
        </p:nvSpPr>
        <p:spPr>
          <a:xfrm>
            <a:off x="7650360" y="2971800"/>
            <a:ext cx="548280" cy="383760"/>
          </a:xfrm>
          <a:prstGeom prst="roundRect">
            <a:avLst>
              <a:gd name="adj" fmla="val 11905"/>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35" name="Text 25"/>
          <p:cNvSpPr/>
          <p:nvPr/>
        </p:nvSpPr>
        <p:spPr>
          <a:xfrm>
            <a:off x="7650360" y="2971800"/>
            <a:ext cx="5482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n2</a:t>
            </a:r>
            <a:endParaRPr lang="de-DE" sz="1100" b="0" u="none" strike="noStrike">
              <a:solidFill>
                <a:srgbClr val="000000"/>
              </a:solidFill>
              <a:effectLst/>
              <a:uFillTx/>
              <a:latin typeface="Arial"/>
            </a:endParaRPr>
          </a:p>
        </p:txBody>
      </p:sp>
      <p:sp>
        <p:nvSpPr>
          <p:cNvPr id="136" name="Shape 26"/>
          <p:cNvSpPr/>
          <p:nvPr/>
        </p:nvSpPr>
        <p:spPr>
          <a:xfrm>
            <a:off x="8656200" y="2926080"/>
            <a:ext cx="548280" cy="383760"/>
          </a:xfrm>
          <a:prstGeom prst="roundRect">
            <a:avLst>
              <a:gd name="adj" fmla="val 11905"/>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37" name="Text 27"/>
          <p:cNvSpPr/>
          <p:nvPr/>
        </p:nvSpPr>
        <p:spPr>
          <a:xfrm>
            <a:off x="8656200" y="2926080"/>
            <a:ext cx="5482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n3</a:t>
            </a:r>
            <a:endParaRPr lang="de-DE" sz="1100" b="0" u="none" strike="noStrike">
              <a:solidFill>
                <a:srgbClr val="000000"/>
              </a:solidFill>
              <a:effectLst/>
              <a:uFillTx/>
              <a:latin typeface="Arial"/>
            </a:endParaRPr>
          </a:p>
        </p:txBody>
      </p:sp>
      <p:sp>
        <p:nvSpPr>
          <p:cNvPr id="138" name="Shape 28"/>
          <p:cNvSpPr/>
          <p:nvPr/>
        </p:nvSpPr>
        <p:spPr>
          <a:xfrm>
            <a:off x="8656200" y="3474720"/>
            <a:ext cx="548280" cy="383760"/>
          </a:xfrm>
          <a:prstGeom prst="roundRect">
            <a:avLst>
              <a:gd name="adj" fmla="val 11905"/>
            </a:avLst>
          </a:prstGeom>
          <a:solidFill>
            <a:srgbClr val="DE8E2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39" name="Text 29"/>
          <p:cNvSpPr/>
          <p:nvPr/>
        </p:nvSpPr>
        <p:spPr>
          <a:xfrm>
            <a:off x="8656200" y="3474720"/>
            <a:ext cx="5482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n4</a:t>
            </a:r>
            <a:endParaRPr lang="de-DE" sz="1100" b="0" u="none" strike="noStrike">
              <a:solidFill>
                <a:srgbClr val="000000"/>
              </a:solidFill>
              <a:effectLst/>
              <a:uFillTx/>
              <a:latin typeface="Arial"/>
            </a:endParaRPr>
          </a:p>
        </p:txBody>
      </p:sp>
      <p:sp>
        <p:nvSpPr>
          <p:cNvPr id="140" name="Shape 30"/>
          <p:cNvSpPr/>
          <p:nvPr/>
        </p:nvSpPr>
        <p:spPr>
          <a:xfrm>
            <a:off x="9662040" y="2971800"/>
            <a:ext cx="548280" cy="383760"/>
          </a:xfrm>
          <a:prstGeom prst="roundRect">
            <a:avLst>
              <a:gd name="adj" fmla="val 11905"/>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41" name="Text 31"/>
          <p:cNvSpPr/>
          <p:nvPr/>
        </p:nvSpPr>
        <p:spPr>
          <a:xfrm>
            <a:off x="9662040" y="2971800"/>
            <a:ext cx="5482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n5</a:t>
            </a:r>
            <a:endParaRPr lang="de-DE" sz="1100" b="0" u="none" strike="noStrike">
              <a:solidFill>
                <a:srgbClr val="000000"/>
              </a:solidFill>
              <a:effectLst/>
              <a:uFillTx/>
              <a:latin typeface="Arial"/>
            </a:endParaRPr>
          </a:p>
        </p:txBody>
      </p:sp>
      <p:sp>
        <p:nvSpPr>
          <p:cNvPr id="142" name="Shape 32"/>
          <p:cNvSpPr/>
          <p:nvPr/>
        </p:nvSpPr>
        <p:spPr>
          <a:xfrm>
            <a:off x="10485000" y="2971800"/>
            <a:ext cx="548280" cy="383760"/>
          </a:xfrm>
          <a:prstGeom prst="roundRect">
            <a:avLst>
              <a:gd name="adj" fmla="val 11905"/>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43" name="Text 33"/>
          <p:cNvSpPr/>
          <p:nvPr/>
        </p:nvSpPr>
        <p:spPr>
          <a:xfrm>
            <a:off x="10485000" y="2971800"/>
            <a:ext cx="5482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n6</a:t>
            </a:r>
            <a:endParaRPr lang="de-DE" sz="1100" b="0" u="none" strike="noStrike">
              <a:solidFill>
                <a:srgbClr val="000000"/>
              </a:solidFill>
              <a:effectLst/>
              <a:uFillTx/>
              <a:latin typeface="Arial"/>
            </a:endParaRPr>
          </a:p>
        </p:txBody>
      </p:sp>
      <p:sp>
        <p:nvSpPr>
          <p:cNvPr id="144" name="Text 34"/>
          <p:cNvSpPr/>
          <p:nvPr/>
        </p:nvSpPr>
        <p:spPr>
          <a:xfrm>
            <a:off x="8519040" y="3931920"/>
            <a:ext cx="1279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E8606B"/>
                </a:solidFill>
                <a:effectLst/>
                <a:uFillTx/>
                <a:latin typeface="Calibri"/>
                <a:ea typeface="Calibri"/>
              </a:rPr>
              <a:t>bubble = a variant</a:t>
            </a:r>
            <a:endParaRPr lang="de-DE" sz="1000" b="0" u="none" strike="noStrike">
              <a:solidFill>
                <a:srgbClr val="000000"/>
              </a:solidFill>
              <a:effectLst/>
              <a:uFillTx/>
              <a:latin typeface="Arial"/>
            </a:endParaRPr>
          </a:p>
        </p:txBody>
      </p:sp>
      <p:sp>
        <p:nvSpPr>
          <p:cNvPr id="145" name="Text 35"/>
          <p:cNvSpPr/>
          <p:nvPr/>
        </p:nvSpPr>
        <p:spPr>
          <a:xfrm>
            <a:off x="6598800" y="4617720"/>
            <a:ext cx="4751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499"/>
              </a:spcAft>
              <a:buClr>
                <a:srgbClr val="2B2331"/>
              </a:buClr>
              <a:buFont typeface="Symbol" charset="2"/>
              <a:buChar char=""/>
            </a:pPr>
            <a:r>
              <a:rPr lang="en-US" sz="1200" b="0" u="none" strike="noStrike">
                <a:solidFill>
                  <a:srgbClr val="2B2331"/>
                </a:solidFill>
                <a:effectLst/>
                <a:uFillTx/>
                <a:latin typeface="Calibri"/>
                <a:ea typeface="Calibri"/>
              </a:rPr>
              <a:t>Every genome is a path; nothing is dropped</a:t>
            </a:r>
            <a:endParaRPr lang="de-DE" sz="1200" b="0" u="none" strike="noStrike">
              <a:solidFill>
                <a:srgbClr val="000000"/>
              </a:solidFill>
              <a:effectLst/>
              <a:uFillTx/>
              <a:latin typeface="Arial"/>
            </a:endParaRPr>
          </a:p>
          <a:p>
            <a:pPr marL="177840" indent="-177840" defTabSz="914400">
              <a:lnSpc>
                <a:spcPct val="100000"/>
              </a:lnSpc>
              <a:spcAft>
                <a:spcPts val="499"/>
              </a:spcAft>
              <a:buClr>
                <a:srgbClr val="2B2331"/>
              </a:buClr>
              <a:buFont typeface="Symbol" charset="2"/>
              <a:buChar char=""/>
            </a:pPr>
            <a:r>
              <a:rPr lang="en-US" sz="1200" b="0" u="none" strike="noStrike">
                <a:solidFill>
                  <a:srgbClr val="2B2331"/>
                </a:solidFill>
                <a:effectLst/>
                <a:uFillTx/>
                <a:latin typeface="Calibri"/>
                <a:ea typeface="Calibri"/>
              </a:rPr>
              <a:t>Variants are alternative routes (bubbles)</a:t>
            </a:r>
            <a:endParaRPr lang="de-DE" sz="12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6"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47"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CONCEPT</a:t>
            </a:r>
            <a:endParaRPr lang="de-DE" sz="1200" b="0" u="none" strike="noStrike">
              <a:solidFill>
                <a:srgbClr val="000000"/>
              </a:solidFill>
              <a:effectLst/>
              <a:uFillTx/>
              <a:latin typeface="Arial"/>
            </a:endParaRPr>
          </a:p>
        </p:txBody>
      </p:sp>
      <p:sp>
        <p:nvSpPr>
          <p:cNvPr id="148"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From an alignment to a graph</a:t>
            </a:r>
            <a:endParaRPr lang="de-DE" sz="2900" b="0" u="none" strike="noStrike">
              <a:solidFill>
                <a:srgbClr val="000000"/>
              </a:solidFill>
              <a:effectLst/>
              <a:uFillTx/>
              <a:latin typeface="Arial"/>
            </a:endParaRPr>
          </a:p>
        </p:txBody>
      </p:sp>
      <p:sp>
        <p:nvSpPr>
          <p:cNvPr id="149" name="Text 3"/>
          <p:cNvSpPr/>
          <p:nvPr/>
        </p:nvSpPr>
        <p:spPr>
          <a:xfrm>
            <a:off x="567000" y="1737360"/>
            <a:ext cx="5120280" cy="3291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Start from a multiple sequence alignment (MSA) — line the genomes up</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Identical columns collapse into one shared node</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Where genomes differ, the path branches into a bubble</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Each genome becomes a labelled walk (path) through the nodes</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Reads or new genomes can be threaded back through the same graph</a:t>
            </a:r>
            <a:endParaRPr lang="de-DE" sz="1350" b="0" u="none" strike="noStrike">
              <a:solidFill>
                <a:srgbClr val="000000"/>
              </a:solidFill>
              <a:effectLst/>
              <a:uFillTx/>
              <a:latin typeface="Arial"/>
            </a:endParaRPr>
          </a:p>
        </p:txBody>
      </p:sp>
      <p:sp>
        <p:nvSpPr>
          <p:cNvPr id="150" name="Text 4"/>
          <p:cNvSpPr/>
          <p:nvPr/>
        </p:nvSpPr>
        <p:spPr>
          <a:xfrm>
            <a:off x="567000" y="5029200"/>
            <a:ext cx="5120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i="1" u="none" strike="noStrike">
                <a:solidFill>
                  <a:srgbClr val="726A7A"/>
                </a:solidFill>
                <a:effectLst/>
                <a:uFillTx/>
                <a:latin typeface="Calibri"/>
                <a:ea typeface="Calibri"/>
              </a:rPr>
              <a:t>MSA = multiple sequence alignment</a:t>
            </a:r>
            <a:endParaRPr lang="de-DE" sz="1100" b="0" u="none" strike="noStrike">
              <a:solidFill>
                <a:srgbClr val="000000"/>
              </a:solidFill>
              <a:effectLst/>
              <a:uFillTx/>
              <a:latin typeface="Arial"/>
            </a:endParaRPr>
          </a:p>
        </p:txBody>
      </p:sp>
      <p:sp>
        <p:nvSpPr>
          <p:cNvPr id="151" name="Shape 5"/>
          <p:cNvSpPr/>
          <p:nvPr/>
        </p:nvSpPr>
        <p:spPr>
          <a:xfrm>
            <a:off x="6099120" y="1691640"/>
            <a:ext cx="5525280" cy="3200040"/>
          </a:xfrm>
          <a:prstGeom prst="roundRect">
            <a:avLst>
              <a:gd name="adj" fmla="val 1714"/>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152" name="Image 0" descr="C:\Users\fzj\AppData\Local\Temp\claude\C--Users-fzj-git-primer3-rs\110509b7-eac3-44ec-8fe3-ff640ad7d275\scratchpad\assets\graphconcept.png"/>
          <p:cNvPicPr/>
          <p:nvPr/>
        </p:nvPicPr>
        <p:blipFill>
          <a:blip r:embed="rId3"/>
          <a:stretch/>
        </p:blipFill>
        <p:spPr>
          <a:xfrm>
            <a:off x="6226920" y="1819800"/>
            <a:ext cx="5269320" cy="2944080"/>
          </a:xfrm>
          <a:prstGeom prst="rect">
            <a:avLst/>
          </a:prstGeom>
          <a:noFill/>
          <a:ln w="0">
            <a:noFill/>
          </a:ln>
        </p:spPr>
      </p:pic>
      <p:sp>
        <p:nvSpPr>
          <p:cNvPr id="153" name="Text 6"/>
          <p:cNvSpPr/>
          <p:nvPr/>
        </p:nvSpPr>
        <p:spPr>
          <a:xfrm>
            <a:off x="6099120" y="4956120"/>
            <a:ext cx="5525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i="1" u="none" strike="noStrike">
                <a:solidFill>
                  <a:srgbClr val="726A7A"/>
                </a:solidFill>
                <a:effectLst/>
                <a:uFillTx/>
                <a:latin typeface="Calibri"/>
                <a:ea typeface="Calibri"/>
              </a:rPr>
              <a:t>(a) aligned sequences  →  (b) sequence graph  →  (c, d) reads mapped to the graph</a:t>
            </a:r>
            <a:endParaRPr lang="de-DE" sz="105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55"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REPRESENTATION</a:t>
            </a:r>
            <a:endParaRPr lang="de-DE" sz="1200" b="0" u="none" strike="noStrike">
              <a:solidFill>
                <a:srgbClr val="000000"/>
              </a:solidFill>
              <a:effectLst/>
              <a:uFillTx/>
              <a:latin typeface="Arial"/>
            </a:endParaRPr>
          </a:p>
        </p:txBody>
      </p:sp>
      <p:sp>
        <p:nvSpPr>
          <p:cNvPr id="156"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Anatomy of a pangenome graph</a:t>
            </a:r>
            <a:endParaRPr lang="de-DE" sz="2900" b="0" u="none" strike="noStrike">
              <a:solidFill>
                <a:srgbClr val="000000"/>
              </a:solidFill>
              <a:effectLst/>
              <a:uFillTx/>
              <a:latin typeface="Arial"/>
            </a:endParaRPr>
          </a:p>
        </p:txBody>
      </p:sp>
      <p:sp>
        <p:nvSpPr>
          <p:cNvPr id="157" name="Shape 3"/>
          <p:cNvSpPr/>
          <p:nvPr/>
        </p:nvSpPr>
        <p:spPr>
          <a:xfrm>
            <a:off x="1983960" y="2560320"/>
            <a:ext cx="777240" cy="360"/>
          </a:xfrm>
          <a:prstGeom prst="line">
            <a:avLst/>
          </a:prstGeom>
          <a:ln w="28575">
            <a:solidFill>
              <a:srgbClr val="726A7A"/>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de-DE" sz="1800" b="0" u="none" strike="noStrike">
              <a:solidFill>
                <a:srgbClr val="000000"/>
              </a:solidFill>
              <a:effectLst/>
              <a:uFillTx/>
              <a:latin typeface="Arial"/>
            </a:endParaRPr>
          </a:p>
        </p:txBody>
      </p:sp>
      <p:sp>
        <p:nvSpPr>
          <p:cNvPr id="158" name="Shape 4"/>
          <p:cNvSpPr/>
          <p:nvPr/>
        </p:nvSpPr>
        <p:spPr>
          <a:xfrm flipV="1">
            <a:off x="3629880" y="2148840"/>
            <a:ext cx="960120" cy="411480"/>
          </a:xfrm>
          <a:prstGeom prst="line">
            <a:avLst/>
          </a:prstGeom>
          <a:ln w="28575">
            <a:solidFill>
              <a:srgbClr val="726A7A"/>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159" name="Shape 5"/>
          <p:cNvSpPr/>
          <p:nvPr/>
        </p:nvSpPr>
        <p:spPr>
          <a:xfrm>
            <a:off x="3629880" y="2560320"/>
            <a:ext cx="960120" cy="411480"/>
          </a:xfrm>
          <a:prstGeom prst="line">
            <a:avLst/>
          </a:prstGeom>
          <a:ln w="28575">
            <a:solidFill>
              <a:srgbClr val="726A7A"/>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160" name="Shape 6"/>
          <p:cNvSpPr/>
          <p:nvPr/>
        </p:nvSpPr>
        <p:spPr>
          <a:xfrm>
            <a:off x="5458680" y="2423160"/>
            <a:ext cx="960120" cy="137160"/>
          </a:xfrm>
          <a:prstGeom prst="line">
            <a:avLst/>
          </a:prstGeom>
          <a:ln w="28575">
            <a:solidFill>
              <a:srgbClr val="726A7A"/>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161" name="Shape 7"/>
          <p:cNvSpPr/>
          <p:nvPr/>
        </p:nvSpPr>
        <p:spPr>
          <a:xfrm flipV="1">
            <a:off x="5458680" y="2560320"/>
            <a:ext cx="960120" cy="685800"/>
          </a:xfrm>
          <a:prstGeom prst="line">
            <a:avLst/>
          </a:prstGeom>
          <a:ln w="28575">
            <a:solidFill>
              <a:srgbClr val="726A7A"/>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162" name="Shape 8"/>
          <p:cNvSpPr/>
          <p:nvPr/>
        </p:nvSpPr>
        <p:spPr>
          <a:xfrm>
            <a:off x="7287480" y="2560320"/>
            <a:ext cx="777240" cy="360"/>
          </a:xfrm>
          <a:prstGeom prst="line">
            <a:avLst/>
          </a:prstGeom>
          <a:ln w="28575">
            <a:solidFill>
              <a:srgbClr val="726A7A"/>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de-DE" sz="1800" b="0" u="none" strike="noStrike">
              <a:solidFill>
                <a:srgbClr val="000000"/>
              </a:solidFill>
              <a:effectLst/>
              <a:uFillTx/>
              <a:latin typeface="Arial"/>
            </a:endParaRPr>
          </a:p>
        </p:txBody>
      </p:sp>
      <p:sp>
        <p:nvSpPr>
          <p:cNvPr id="163" name="Shape 9"/>
          <p:cNvSpPr/>
          <p:nvPr/>
        </p:nvSpPr>
        <p:spPr>
          <a:xfrm>
            <a:off x="1115640" y="2286000"/>
            <a:ext cx="868320" cy="548280"/>
          </a:xfrm>
          <a:prstGeom prst="roundRect">
            <a:avLst>
              <a:gd name="adj" fmla="val 10000"/>
            </a:avLst>
          </a:prstGeom>
          <a:solidFill>
            <a:srgbClr val="21476B"/>
          </a:solidFill>
          <a:ln w="0">
            <a:noFill/>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64" name="Text 10"/>
          <p:cNvSpPr/>
          <p:nvPr/>
        </p:nvSpPr>
        <p:spPr>
          <a:xfrm>
            <a:off x="1115640" y="2286000"/>
            <a:ext cx="8683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Calibri"/>
                <a:ea typeface="Calibri"/>
              </a:rPr>
              <a:t>n1</a:t>
            </a:r>
            <a:endParaRPr lang="de-DE" sz="1300" b="0" u="none" strike="noStrike">
              <a:solidFill>
                <a:srgbClr val="000000"/>
              </a:solidFill>
              <a:effectLst/>
              <a:uFillTx/>
              <a:latin typeface="Arial"/>
            </a:endParaRPr>
          </a:p>
        </p:txBody>
      </p:sp>
      <p:sp>
        <p:nvSpPr>
          <p:cNvPr id="165" name="Shape 11"/>
          <p:cNvSpPr/>
          <p:nvPr/>
        </p:nvSpPr>
        <p:spPr>
          <a:xfrm>
            <a:off x="2761560" y="2286000"/>
            <a:ext cx="868320" cy="548280"/>
          </a:xfrm>
          <a:prstGeom prst="roundRect">
            <a:avLst>
              <a:gd name="adj" fmla="val 10000"/>
            </a:avLst>
          </a:prstGeom>
          <a:solidFill>
            <a:srgbClr val="21476B"/>
          </a:solidFill>
          <a:ln w="0">
            <a:noFill/>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66" name="Text 12"/>
          <p:cNvSpPr/>
          <p:nvPr/>
        </p:nvSpPr>
        <p:spPr>
          <a:xfrm>
            <a:off x="2761560" y="2286000"/>
            <a:ext cx="8683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Calibri"/>
                <a:ea typeface="Calibri"/>
              </a:rPr>
              <a:t>n2</a:t>
            </a:r>
            <a:endParaRPr lang="de-DE" sz="1300" b="0" u="none" strike="noStrike">
              <a:solidFill>
                <a:srgbClr val="000000"/>
              </a:solidFill>
              <a:effectLst/>
              <a:uFillTx/>
              <a:latin typeface="Arial"/>
            </a:endParaRPr>
          </a:p>
        </p:txBody>
      </p:sp>
      <p:sp>
        <p:nvSpPr>
          <p:cNvPr id="167" name="Shape 13"/>
          <p:cNvSpPr/>
          <p:nvPr/>
        </p:nvSpPr>
        <p:spPr>
          <a:xfrm>
            <a:off x="4590360" y="2148840"/>
            <a:ext cx="868320" cy="548280"/>
          </a:xfrm>
          <a:prstGeom prst="roundRect">
            <a:avLst>
              <a:gd name="adj" fmla="val 10000"/>
            </a:avLst>
          </a:prstGeom>
          <a:solidFill>
            <a:srgbClr val="E8606B"/>
          </a:solidFill>
          <a:ln w="0">
            <a:noFill/>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68" name="Text 14"/>
          <p:cNvSpPr/>
          <p:nvPr/>
        </p:nvSpPr>
        <p:spPr>
          <a:xfrm>
            <a:off x="4590360" y="2148840"/>
            <a:ext cx="8683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Calibri"/>
                <a:ea typeface="Calibri"/>
              </a:rPr>
              <a:t>n3a</a:t>
            </a:r>
            <a:endParaRPr lang="de-DE" sz="1300" b="0" u="none" strike="noStrike">
              <a:solidFill>
                <a:srgbClr val="000000"/>
              </a:solidFill>
              <a:effectLst/>
              <a:uFillTx/>
              <a:latin typeface="Arial"/>
            </a:endParaRPr>
          </a:p>
        </p:txBody>
      </p:sp>
      <p:sp>
        <p:nvSpPr>
          <p:cNvPr id="169" name="Shape 15"/>
          <p:cNvSpPr/>
          <p:nvPr/>
        </p:nvSpPr>
        <p:spPr>
          <a:xfrm>
            <a:off x="4590360" y="2971800"/>
            <a:ext cx="868320" cy="548280"/>
          </a:xfrm>
          <a:prstGeom prst="roundRect">
            <a:avLst>
              <a:gd name="adj" fmla="val 10000"/>
            </a:avLst>
          </a:prstGeom>
          <a:solidFill>
            <a:srgbClr val="21476B"/>
          </a:solidFill>
          <a:ln w="0">
            <a:noFill/>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70" name="Text 16"/>
          <p:cNvSpPr/>
          <p:nvPr/>
        </p:nvSpPr>
        <p:spPr>
          <a:xfrm>
            <a:off x="4590360" y="2971800"/>
            <a:ext cx="8683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Calibri"/>
                <a:ea typeface="Calibri"/>
              </a:rPr>
              <a:t>n3b</a:t>
            </a:r>
            <a:endParaRPr lang="de-DE" sz="1300" b="0" u="none" strike="noStrike">
              <a:solidFill>
                <a:srgbClr val="000000"/>
              </a:solidFill>
              <a:effectLst/>
              <a:uFillTx/>
              <a:latin typeface="Arial"/>
            </a:endParaRPr>
          </a:p>
        </p:txBody>
      </p:sp>
      <p:sp>
        <p:nvSpPr>
          <p:cNvPr id="171" name="Shape 17"/>
          <p:cNvSpPr/>
          <p:nvPr/>
        </p:nvSpPr>
        <p:spPr>
          <a:xfrm>
            <a:off x="6419160" y="2286000"/>
            <a:ext cx="868320" cy="548280"/>
          </a:xfrm>
          <a:prstGeom prst="roundRect">
            <a:avLst>
              <a:gd name="adj" fmla="val 10000"/>
            </a:avLst>
          </a:prstGeom>
          <a:solidFill>
            <a:srgbClr val="21476B"/>
          </a:solidFill>
          <a:ln w="0">
            <a:noFill/>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72" name="Text 18"/>
          <p:cNvSpPr/>
          <p:nvPr/>
        </p:nvSpPr>
        <p:spPr>
          <a:xfrm>
            <a:off x="6419160" y="2286000"/>
            <a:ext cx="8683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Calibri"/>
                <a:ea typeface="Calibri"/>
              </a:rPr>
              <a:t>n4</a:t>
            </a:r>
            <a:endParaRPr lang="de-DE" sz="1300" b="0" u="none" strike="noStrike">
              <a:solidFill>
                <a:srgbClr val="000000"/>
              </a:solidFill>
              <a:effectLst/>
              <a:uFillTx/>
              <a:latin typeface="Arial"/>
            </a:endParaRPr>
          </a:p>
        </p:txBody>
      </p:sp>
      <p:sp>
        <p:nvSpPr>
          <p:cNvPr id="173" name="Shape 19"/>
          <p:cNvSpPr/>
          <p:nvPr/>
        </p:nvSpPr>
        <p:spPr>
          <a:xfrm>
            <a:off x="8065080" y="2286000"/>
            <a:ext cx="868320" cy="548280"/>
          </a:xfrm>
          <a:prstGeom prst="roundRect">
            <a:avLst>
              <a:gd name="adj" fmla="val 10000"/>
            </a:avLst>
          </a:prstGeom>
          <a:solidFill>
            <a:srgbClr val="21476B"/>
          </a:solidFill>
          <a:ln w="0">
            <a:noFill/>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74" name="Text 20"/>
          <p:cNvSpPr/>
          <p:nvPr/>
        </p:nvSpPr>
        <p:spPr>
          <a:xfrm>
            <a:off x="8065080" y="2286000"/>
            <a:ext cx="8683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Calibri"/>
                <a:ea typeface="Calibri"/>
              </a:rPr>
              <a:t>n5</a:t>
            </a:r>
            <a:endParaRPr lang="de-DE" sz="1300" b="0" u="none" strike="noStrike">
              <a:solidFill>
                <a:srgbClr val="000000"/>
              </a:solidFill>
              <a:effectLst/>
              <a:uFillTx/>
              <a:latin typeface="Arial"/>
            </a:endParaRPr>
          </a:p>
        </p:txBody>
      </p:sp>
      <p:sp>
        <p:nvSpPr>
          <p:cNvPr id="175" name="Shape 21"/>
          <p:cNvSpPr/>
          <p:nvPr/>
        </p:nvSpPr>
        <p:spPr>
          <a:xfrm>
            <a:off x="4389120" y="1874520"/>
            <a:ext cx="1270800" cy="1508400"/>
          </a:xfrm>
          <a:prstGeom prst="ellipse">
            <a:avLst/>
          </a:prstGeom>
          <a:noFill/>
          <a:ln w="19050">
            <a:solidFill>
              <a:srgbClr val="E8606B"/>
            </a:solidFill>
            <a:prstDash val="dash"/>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76" name="Text 22"/>
          <p:cNvSpPr/>
          <p:nvPr/>
        </p:nvSpPr>
        <p:spPr>
          <a:xfrm>
            <a:off x="932760" y="1371600"/>
            <a:ext cx="30171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21476B"/>
                </a:solidFill>
                <a:effectLst/>
                <a:uFillTx/>
                <a:latin typeface="Calibri"/>
                <a:ea typeface="Calibri"/>
              </a:rPr>
              <a:t>Node — a piece of sequence shared by ≥ 1 genome</a:t>
            </a:r>
            <a:endParaRPr lang="de-DE" sz="1200" b="0" u="none" strike="noStrike">
              <a:solidFill>
                <a:srgbClr val="000000"/>
              </a:solidFill>
              <a:effectLst/>
              <a:uFillTx/>
              <a:latin typeface="Arial"/>
            </a:endParaRPr>
          </a:p>
        </p:txBody>
      </p:sp>
      <p:sp>
        <p:nvSpPr>
          <p:cNvPr id="177" name="Shape 23"/>
          <p:cNvSpPr/>
          <p:nvPr/>
        </p:nvSpPr>
        <p:spPr>
          <a:xfrm>
            <a:off x="3195720" y="1828800"/>
            <a:ext cx="360" cy="457200"/>
          </a:xfrm>
          <a:prstGeom prst="line">
            <a:avLst/>
          </a:prstGeom>
          <a:ln w="12700">
            <a:solidFill>
              <a:srgbClr val="21476B"/>
            </a:solidFill>
            <a:prstDash val="dash"/>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178" name="Text 24"/>
          <p:cNvSpPr/>
          <p:nvPr/>
        </p:nvSpPr>
        <p:spPr>
          <a:xfrm>
            <a:off x="6053400" y="3200400"/>
            <a:ext cx="23770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726A7A"/>
                </a:solidFill>
                <a:effectLst/>
                <a:uFillTx/>
                <a:latin typeface="Calibri"/>
                <a:ea typeface="Calibri"/>
              </a:rPr>
              <a:t>Edge — an allowed connection</a:t>
            </a:r>
            <a:endParaRPr lang="de-DE" sz="1200" b="0" u="none" strike="noStrike">
              <a:solidFill>
                <a:srgbClr val="000000"/>
              </a:solidFill>
              <a:effectLst/>
              <a:uFillTx/>
              <a:latin typeface="Arial"/>
            </a:endParaRPr>
          </a:p>
        </p:txBody>
      </p:sp>
      <p:sp>
        <p:nvSpPr>
          <p:cNvPr id="179" name="Text 25"/>
          <p:cNvSpPr/>
          <p:nvPr/>
        </p:nvSpPr>
        <p:spPr>
          <a:xfrm>
            <a:off x="3675960" y="3520440"/>
            <a:ext cx="27428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E8606B"/>
                </a:solidFill>
                <a:effectLst/>
                <a:uFillTx/>
                <a:latin typeface="Calibri"/>
                <a:ea typeface="Calibri"/>
              </a:rPr>
              <a:t>Bubble — where paths diverge = a variant (SNP, indel or SV)</a:t>
            </a:r>
            <a:endParaRPr lang="de-DE" sz="1200" b="0" u="none" strike="noStrike">
              <a:solidFill>
                <a:srgbClr val="000000"/>
              </a:solidFill>
              <a:effectLst/>
              <a:uFillTx/>
              <a:latin typeface="Arial"/>
            </a:endParaRPr>
          </a:p>
        </p:txBody>
      </p:sp>
      <p:sp>
        <p:nvSpPr>
          <p:cNvPr id="180" name="Shape 26"/>
          <p:cNvSpPr/>
          <p:nvPr/>
        </p:nvSpPr>
        <p:spPr>
          <a:xfrm>
            <a:off x="567000" y="5074920"/>
            <a:ext cx="11057400" cy="959760"/>
          </a:xfrm>
          <a:prstGeom prst="roundRect">
            <a:avLst>
              <a:gd name="adj" fmla="val 6667"/>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81" name="Text 27"/>
          <p:cNvSpPr/>
          <p:nvPr/>
        </p:nvSpPr>
        <p:spPr>
          <a:xfrm>
            <a:off x="841320" y="5239440"/>
            <a:ext cx="105087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5E2A75"/>
                </a:solidFill>
                <a:effectLst/>
                <a:uFillTx/>
                <a:latin typeface="Calibri"/>
                <a:ea typeface="Calibri"/>
              </a:rPr>
              <a:t>Path (walk) — how one genome threads the graph:    </a:t>
            </a:r>
            <a:r>
              <a:rPr lang="en-US" sz="1300" b="0" u="none" strike="noStrike">
                <a:solidFill>
                  <a:srgbClr val="2B2331"/>
                </a:solidFill>
                <a:effectLst/>
                <a:uFillTx/>
                <a:latin typeface="Consolas"/>
                <a:ea typeface="Consolas"/>
              </a:rPr>
              <a:t>Genome A = n1→n2→</a:t>
            </a:r>
            <a:r>
              <a:rPr lang="en-US" sz="1300" b="1" u="none" strike="noStrike">
                <a:solidFill>
                  <a:srgbClr val="E8606B"/>
                </a:solidFill>
                <a:effectLst/>
                <a:uFillTx/>
                <a:latin typeface="Consolas"/>
                <a:ea typeface="Consolas"/>
              </a:rPr>
              <a:t>n3a</a:t>
            </a:r>
            <a:r>
              <a:rPr lang="en-US" sz="1300" b="0" u="none" strike="noStrike">
                <a:solidFill>
                  <a:srgbClr val="2B2331"/>
                </a:solidFill>
                <a:effectLst/>
                <a:uFillTx/>
                <a:latin typeface="Consolas"/>
                <a:ea typeface="Consolas"/>
              </a:rPr>
              <a:t>→n4→n5        Genome B = n1→n2→n3b→n4→n5</a:t>
            </a:r>
            <a:endParaRPr lang="de-DE" sz="13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83"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INPUTS · SEQUENCING</a:t>
            </a:r>
            <a:endParaRPr lang="de-DE" sz="1200" b="0" u="none" strike="noStrike">
              <a:solidFill>
                <a:srgbClr val="000000"/>
              </a:solidFill>
              <a:effectLst/>
              <a:uFillTx/>
              <a:latin typeface="Arial"/>
            </a:endParaRPr>
          </a:p>
        </p:txBody>
      </p:sp>
      <p:sp>
        <p:nvSpPr>
          <p:cNvPr id="184"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Step 1 — the raw material: sequencing technologies</a:t>
            </a:r>
            <a:endParaRPr lang="de-DE" sz="2900" b="0" u="none" strike="noStrike">
              <a:solidFill>
                <a:srgbClr val="000000"/>
              </a:solidFill>
              <a:effectLst/>
              <a:uFillTx/>
              <a:latin typeface="Arial"/>
            </a:endParaRPr>
          </a:p>
        </p:txBody>
      </p:sp>
      <p:sp>
        <p:nvSpPr>
          <p:cNvPr id="185" name="Shape 3"/>
          <p:cNvSpPr/>
          <p:nvPr/>
        </p:nvSpPr>
        <p:spPr>
          <a:xfrm>
            <a:off x="567000" y="1691640"/>
            <a:ext cx="3502800" cy="3382920"/>
          </a:xfrm>
          <a:prstGeom prst="roundRect">
            <a:avLst>
              <a:gd name="adj" fmla="val 1892"/>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86" name="Shape 4"/>
          <p:cNvSpPr/>
          <p:nvPr/>
        </p:nvSpPr>
        <p:spPr>
          <a:xfrm>
            <a:off x="768240" y="1892880"/>
            <a:ext cx="145800" cy="145800"/>
          </a:xfrm>
          <a:prstGeom prst="ellipse">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87" name="Text 5"/>
          <p:cNvSpPr/>
          <p:nvPr/>
        </p:nvSpPr>
        <p:spPr>
          <a:xfrm>
            <a:off x="987480" y="1819800"/>
            <a:ext cx="2954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u="none" strike="noStrike">
                <a:solidFill>
                  <a:srgbClr val="21476B"/>
                </a:solidFill>
                <a:effectLst/>
                <a:uFillTx/>
                <a:latin typeface="Calibri"/>
                <a:ea typeface="Calibri"/>
              </a:rPr>
              <a:t>Illumina</a:t>
            </a:r>
            <a:endParaRPr lang="de-DE" sz="1450" b="0" u="none" strike="noStrike">
              <a:solidFill>
                <a:srgbClr val="000000"/>
              </a:solidFill>
              <a:effectLst/>
              <a:uFillTx/>
              <a:latin typeface="Arial"/>
            </a:endParaRPr>
          </a:p>
        </p:txBody>
      </p:sp>
      <p:sp>
        <p:nvSpPr>
          <p:cNvPr id="188" name="Text 6"/>
          <p:cNvSpPr/>
          <p:nvPr/>
        </p:nvSpPr>
        <p:spPr>
          <a:xfrm>
            <a:off x="987480" y="2148840"/>
            <a:ext cx="2954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i="1" u="none" strike="noStrike">
                <a:solidFill>
                  <a:srgbClr val="726A7A"/>
                </a:solidFill>
                <a:effectLst/>
                <a:uFillTx/>
                <a:latin typeface="Calibri"/>
                <a:ea typeface="Calibri"/>
              </a:rPr>
              <a:t>short reads</a:t>
            </a:r>
            <a:endParaRPr lang="de-DE" sz="1150" b="0" u="none" strike="noStrike">
              <a:solidFill>
                <a:srgbClr val="000000"/>
              </a:solidFill>
              <a:effectLst/>
              <a:uFillTx/>
              <a:latin typeface="Arial"/>
            </a:endParaRPr>
          </a:p>
        </p:txBody>
      </p:sp>
      <p:sp>
        <p:nvSpPr>
          <p:cNvPr id="189" name="Text 7"/>
          <p:cNvSpPr/>
          <p:nvPr/>
        </p:nvSpPr>
        <p:spPr>
          <a:xfrm>
            <a:off x="786240" y="2560320"/>
            <a:ext cx="3063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99"/>
              </a:spcAft>
              <a:buClr>
                <a:srgbClr val="2B2331"/>
              </a:buClr>
              <a:buFont typeface="Symbol" charset="2"/>
              <a:buChar char=""/>
            </a:pPr>
            <a:r>
              <a:rPr lang="en-US" sz="1250" b="0" u="none" strike="noStrike">
                <a:solidFill>
                  <a:srgbClr val="2B2331"/>
                </a:solidFill>
                <a:effectLst/>
                <a:uFillTx/>
                <a:latin typeface="Calibri"/>
                <a:ea typeface="Calibri"/>
              </a:rPr>
              <a:t>100–300 bp, very accurate (Q30+)</a:t>
            </a:r>
            <a:endParaRPr lang="de-DE" sz="125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250" b="0" u="none" strike="noStrike">
                <a:solidFill>
                  <a:srgbClr val="2B2331"/>
                </a:solidFill>
                <a:effectLst/>
                <a:uFillTx/>
                <a:latin typeface="Calibri"/>
                <a:ea typeface="Calibri"/>
              </a:rPr>
              <a:t>Great for polishing &amp; SNP calling</a:t>
            </a:r>
            <a:endParaRPr lang="de-DE" sz="125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250" b="0" u="none" strike="noStrike">
                <a:solidFill>
                  <a:srgbClr val="2B2331"/>
                </a:solidFill>
                <a:effectLst/>
                <a:uFillTx/>
                <a:latin typeface="Calibri"/>
                <a:ea typeface="Calibri"/>
              </a:rPr>
              <a:t>Too short to span repeats</a:t>
            </a:r>
            <a:endParaRPr lang="de-DE" sz="1250" b="0" u="none" strike="noStrike">
              <a:solidFill>
                <a:srgbClr val="000000"/>
              </a:solidFill>
              <a:effectLst/>
              <a:uFillTx/>
              <a:latin typeface="Arial"/>
            </a:endParaRPr>
          </a:p>
        </p:txBody>
      </p:sp>
      <p:sp>
        <p:nvSpPr>
          <p:cNvPr id="190" name="Shape 8"/>
          <p:cNvSpPr/>
          <p:nvPr/>
        </p:nvSpPr>
        <p:spPr>
          <a:xfrm>
            <a:off x="4344480" y="1691640"/>
            <a:ext cx="3502800" cy="3382920"/>
          </a:xfrm>
          <a:prstGeom prst="roundRect">
            <a:avLst>
              <a:gd name="adj" fmla="val 1892"/>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91" name="Shape 9"/>
          <p:cNvSpPr/>
          <p:nvPr/>
        </p:nvSpPr>
        <p:spPr>
          <a:xfrm>
            <a:off x="4545360" y="1892880"/>
            <a:ext cx="145800" cy="145800"/>
          </a:xfrm>
          <a:prstGeom prst="ellipse">
            <a:avLst/>
          </a:prstGeom>
          <a:solidFill>
            <a:srgbClr val="5E2A7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92" name="Text 10"/>
          <p:cNvSpPr/>
          <p:nvPr/>
        </p:nvSpPr>
        <p:spPr>
          <a:xfrm>
            <a:off x="4764960" y="1819800"/>
            <a:ext cx="2954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u="none" strike="noStrike">
                <a:solidFill>
                  <a:srgbClr val="5E2A75"/>
                </a:solidFill>
                <a:effectLst/>
                <a:uFillTx/>
                <a:latin typeface="Calibri"/>
                <a:ea typeface="Calibri"/>
              </a:rPr>
              <a:t>ONT — Oxford Nanopore</a:t>
            </a:r>
            <a:endParaRPr lang="de-DE" sz="1450" b="0" u="none" strike="noStrike">
              <a:solidFill>
                <a:srgbClr val="000000"/>
              </a:solidFill>
              <a:effectLst/>
              <a:uFillTx/>
              <a:latin typeface="Arial"/>
            </a:endParaRPr>
          </a:p>
        </p:txBody>
      </p:sp>
      <p:sp>
        <p:nvSpPr>
          <p:cNvPr id="193" name="Text 11"/>
          <p:cNvSpPr/>
          <p:nvPr/>
        </p:nvSpPr>
        <p:spPr>
          <a:xfrm>
            <a:off x="4764960" y="2148840"/>
            <a:ext cx="2954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i="1" u="none" strike="noStrike">
                <a:solidFill>
                  <a:srgbClr val="726A7A"/>
                </a:solidFill>
                <a:effectLst/>
                <a:uFillTx/>
                <a:latin typeface="Calibri"/>
                <a:ea typeface="Calibri"/>
              </a:rPr>
              <a:t>long reads</a:t>
            </a:r>
            <a:endParaRPr lang="de-DE" sz="1150" b="0" u="none" strike="noStrike">
              <a:solidFill>
                <a:srgbClr val="000000"/>
              </a:solidFill>
              <a:effectLst/>
              <a:uFillTx/>
              <a:latin typeface="Arial"/>
            </a:endParaRPr>
          </a:p>
        </p:txBody>
      </p:sp>
      <p:sp>
        <p:nvSpPr>
          <p:cNvPr id="194" name="Text 12"/>
          <p:cNvSpPr/>
          <p:nvPr/>
        </p:nvSpPr>
        <p:spPr>
          <a:xfrm>
            <a:off x="4563720" y="2560320"/>
            <a:ext cx="3063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99"/>
              </a:spcAft>
              <a:buClr>
                <a:srgbClr val="2B2331"/>
              </a:buClr>
              <a:buFont typeface="Symbol" charset="2"/>
              <a:buChar char=""/>
            </a:pPr>
            <a:r>
              <a:rPr lang="en-US" sz="1250" b="0" u="none" strike="noStrike">
                <a:solidFill>
                  <a:srgbClr val="2B2331"/>
                </a:solidFill>
                <a:effectLst/>
                <a:uFillTx/>
                <a:latin typeface="Calibri"/>
                <a:ea typeface="Calibri"/>
              </a:rPr>
              <a:t>10 kb to &gt; 100 kb reads</a:t>
            </a:r>
            <a:endParaRPr lang="de-DE" sz="125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250" b="0" u="none" strike="noStrike">
                <a:solidFill>
                  <a:srgbClr val="2B2331"/>
                </a:solidFill>
                <a:effectLst/>
                <a:uFillTx/>
                <a:latin typeface="Calibri"/>
                <a:ea typeface="Calibri"/>
              </a:rPr>
              <a:t>Spans repeats &amp; structural variants</a:t>
            </a:r>
            <a:endParaRPr lang="de-DE" sz="125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250" b="0" u="none" strike="noStrike">
                <a:solidFill>
                  <a:srgbClr val="2B2331"/>
                </a:solidFill>
                <a:effectLst/>
                <a:uFillTx/>
                <a:latin typeface="Calibri"/>
                <a:ea typeface="Calibri"/>
              </a:rPr>
              <a:t>Higher raw error → needs polishing</a:t>
            </a:r>
            <a:endParaRPr lang="de-DE" sz="1250" b="0" u="none" strike="noStrike">
              <a:solidFill>
                <a:srgbClr val="000000"/>
              </a:solidFill>
              <a:effectLst/>
              <a:uFillTx/>
              <a:latin typeface="Arial"/>
            </a:endParaRPr>
          </a:p>
        </p:txBody>
      </p:sp>
      <p:sp>
        <p:nvSpPr>
          <p:cNvPr id="195" name="Shape 13"/>
          <p:cNvSpPr/>
          <p:nvPr/>
        </p:nvSpPr>
        <p:spPr>
          <a:xfrm>
            <a:off x="8121600" y="1691640"/>
            <a:ext cx="3502800" cy="3382920"/>
          </a:xfrm>
          <a:prstGeom prst="roundRect">
            <a:avLst>
              <a:gd name="adj" fmla="val 1892"/>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96" name="Shape 14"/>
          <p:cNvSpPr/>
          <p:nvPr/>
        </p:nvSpPr>
        <p:spPr>
          <a:xfrm>
            <a:off x="8322840" y="1892880"/>
            <a:ext cx="145800" cy="145800"/>
          </a:xfrm>
          <a:prstGeom prst="ellipse">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97" name="Text 15"/>
          <p:cNvSpPr/>
          <p:nvPr/>
        </p:nvSpPr>
        <p:spPr>
          <a:xfrm>
            <a:off x="8542440" y="1819800"/>
            <a:ext cx="2954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u="none" strike="noStrike">
                <a:solidFill>
                  <a:srgbClr val="8246A0"/>
                </a:solidFill>
                <a:effectLst/>
                <a:uFillTx/>
                <a:latin typeface="Calibri"/>
                <a:ea typeface="Calibri"/>
              </a:rPr>
              <a:t>PacBio HiFi &amp; Hi-C</a:t>
            </a:r>
            <a:endParaRPr lang="de-DE" sz="1450" b="0" u="none" strike="noStrike">
              <a:solidFill>
                <a:srgbClr val="000000"/>
              </a:solidFill>
              <a:effectLst/>
              <a:uFillTx/>
              <a:latin typeface="Arial"/>
            </a:endParaRPr>
          </a:p>
        </p:txBody>
      </p:sp>
      <p:sp>
        <p:nvSpPr>
          <p:cNvPr id="198" name="Text 16"/>
          <p:cNvSpPr/>
          <p:nvPr/>
        </p:nvSpPr>
        <p:spPr>
          <a:xfrm>
            <a:off x="8542440" y="2148840"/>
            <a:ext cx="2954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i="1" u="none" strike="noStrike">
                <a:solidFill>
                  <a:srgbClr val="726A7A"/>
                </a:solidFill>
                <a:effectLst/>
                <a:uFillTx/>
                <a:latin typeface="Calibri"/>
                <a:ea typeface="Calibri"/>
              </a:rPr>
              <a:t>long+accurate / 3-D</a:t>
            </a:r>
            <a:endParaRPr lang="de-DE" sz="1150" b="0" u="none" strike="noStrike">
              <a:solidFill>
                <a:srgbClr val="000000"/>
              </a:solidFill>
              <a:effectLst/>
              <a:uFillTx/>
              <a:latin typeface="Arial"/>
            </a:endParaRPr>
          </a:p>
        </p:txBody>
      </p:sp>
      <p:sp>
        <p:nvSpPr>
          <p:cNvPr id="199" name="Text 17"/>
          <p:cNvSpPr/>
          <p:nvPr/>
        </p:nvSpPr>
        <p:spPr>
          <a:xfrm>
            <a:off x="8341200" y="2560320"/>
            <a:ext cx="3063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99"/>
              </a:spcAft>
              <a:buClr>
                <a:srgbClr val="2B2331"/>
              </a:buClr>
              <a:buFont typeface="Symbol" charset="2"/>
              <a:buChar char=""/>
            </a:pPr>
            <a:r>
              <a:rPr lang="en-US" sz="1250" b="0" u="none" strike="noStrike">
                <a:solidFill>
                  <a:srgbClr val="2B2331"/>
                </a:solidFill>
                <a:effectLst/>
                <a:uFillTx/>
                <a:latin typeface="Calibri"/>
                <a:ea typeface="Calibri"/>
              </a:rPr>
              <a:t>HiFi: long and highly accurate</a:t>
            </a:r>
            <a:endParaRPr lang="de-DE" sz="125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250" b="0" u="none" strike="noStrike">
                <a:solidFill>
                  <a:srgbClr val="2B2331"/>
                </a:solidFill>
                <a:effectLst/>
                <a:uFillTx/>
                <a:latin typeface="Calibri"/>
                <a:ea typeface="Calibri"/>
              </a:rPr>
              <a:t>Hi-C: captures 3-D contacts</a:t>
            </a:r>
            <a:endParaRPr lang="de-DE" sz="125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250" b="0" u="none" strike="noStrike">
                <a:solidFill>
                  <a:srgbClr val="2B2331"/>
                </a:solidFill>
                <a:effectLst/>
                <a:uFillTx/>
                <a:latin typeface="Calibri"/>
                <a:ea typeface="Calibri"/>
              </a:rPr>
              <a:t>Orders contigs into chromosomes</a:t>
            </a:r>
            <a:endParaRPr lang="de-DE" sz="1250" b="0" u="none" strike="noStrike">
              <a:solidFill>
                <a:srgbClr val="000000"/>
              </a:solidFill>
              <a:effectLst/>
              <a:uFillTx/>
              <a:latin typeface="Arial"/>
            </a:endParaRPr>
          </a:p>
        </p:txBody>
      </p:sp>
      <p:sp>
        <p:nvSpPr>
          <p:cNvPr id="200" name="Shape 18"/>
          <p:cNvSpPr/>
          <p:nvPr/>
        </p:nvSpPr>
        <p:spPr>
          <a:xfrm>
            <a:off x="567000" y="5303520"/>
            <a:ext cx="11057400" cy="776880"/>
          </a:xfrm>
          <a:prstGeom prst="roundRect">
            <a:avLst>
              <a:gd name="adj" fmla="val 8235"/>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01" name="Text 19"/>
          <p:cNvSpPr/>
          <p:nvPr/>
        </p:nvSpPr>
        <p:spPr>
          <a:xfrm>
            <a:off x="841320" y="5303520"/>
            <a:ext cx="1050876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5E2A75"/>
                </a:solidFill>
                <a:effectLst/>
                <a:uFillTx/>
                <a:latin typeface="Calibri"/>
                <a:ea typeface="Calibri"/>
              </a:rPr>
              <a:t>Rule of thumb:  </a:t>
            </a:r>
            <a:r>
              <a:rPr lang="en-US" sz="1400" b="0" u="none" strike="noStrike">
                <a:solidFill>
                  <a:srgbClr val="2B2331"/>
                </a:solidFill>
                <a:effectLst/>
                <a:uFillTx/>
                <a:latin typeface="Calibri"/>
                <a:ea typeface="Calibri"/>
              </a:rPr>
              <a:t>read LENGTH resolves genome structure (repeats, SVs);  read ACCURACY resolves single bases.  </a:t>
            </a:r>
            <a:r>
              <a:rPr lang="en-US" sz="1250" b="0" i="1" u="none" strike="noStrike">
                <a:solidFill>
                  <a:srgbClr val="726A7A"/>
                </a:solidFill>
                <a:effectLst/>
                <a:uFillTx/>
                <a:latin typeface="Calibri"/>
                <a:ea typeface="Calibri"/>
              </a:rPr>
              <a:t>Q = Phred quality = −10·log₁₀(error): Q30 = 0.1 % error.</a:t>
            </a:r>
            <a:endParaRPr lang="de-DE" sz="125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2"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03"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EVALUATING · SEQUENCING QUALITY</a:t>
            </a:r>
            <a:endParaRPr lang="de-DE" sz="1200" b="0" u="none" strike="noStrike">
              <a:solidFill>
                <a:srgbClr val="000000"/>
              </a:solidFill>
              <a:effectLst/>
              <a:uFillTx/>
              <a:latin typeface="Arial"/>
            </a:endParaRPr>
          </a:p>
        </p:txBody>
      </p:sp>
      <p:sp>
        <p:nvSpPr>
          <p:cNvPr id="204"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Know your reads before you assemble</a:t>
            </a:r>
            <a:endParaRPr lang="de-DE" sz="2900" b="0" u="none" strike="noStrike">
              <a:solidFill>
                <a:srgbClr val="000000"/>
              </a:solidFill>
              <a:effectLst/>
              <a:uFillTx/>
              <a:latin typeface="Arial"/>
            </a:endParaRPr>
          </a:p>
        </p:txBody>
      </p:sp>
      <p:sp>
        <p:nvSpPr>
          <p:cNvPr id="205" name="Shape 3"/>
          <p:cNvSpPr/>
          <p:nvPr/>
        </p:nvSpPr>
        <p:spPr>
          <a:xfrm>
            <a:off x="567000" y="1645920"/>
            <a:ext cx="5345640" cy="2331360"/>
          </a:xfrm>
          <a:prstGeom prst="roundRect">
            <a:avLst>
              <a:gd name="adj" fmla="val 2353"/>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206" name="Image 0" descr="C:\Users\fzj\AppData\Local\Temp\claude\C--Users-fzj-git-primer3-rs\110509b7-eac3-44ec-8fe3-ff640ad7d275\scratchpad\assets\nanoplot.png"/>
          <p:cNvPicPr/>
          <p:nvPr/>
        </p:nvPicPr>
        <p:blipFill>
          <a:blip r:embed="rId3"/>
          <a:stretch/>
        </p:blipFill>
        <p:spPr>
          <a:xfrm>
            <a:off x="694800" y="1774080"/>
            <a:ext cx="5089680" cy="2075400"/>
          </a:xfrm>
          <a:prstGeom prst="rect">
            <a:avLst/>
          </a:prstGeom>
          <a:noFill/>
          <a:ln w="0">
            <a:noFill/>
          </a:ln>
        </p:spPr>
      </p:pic>
      <p:sp>
        <p:nvSpPr>
          <p:cNvPr id="207" name="Text 4"/>
          <p:cNvSpPr/>
          <p:nvPr/>
        </p:nvSpPr>
        <p:spPr>
          <a:xfrm>
            <a:off x="567000" y="4023360"/>
            <a:ext cx="5345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i="1" u="none" strike="noStrike">
                <a:solidFill>
                  <a:srgbClr val="726A7A"/>
                </a:solidFill>
                <a:effectLst/>
                <a:uFillTx/>
                <a:latin typeface="Calibri"/>
                <a:ea typeface="Calibri"/>
              </a:rPr>
              <a:t>NanoPlot: read-length distribution &amp; quality (ONT)</a:t>
            </a:r>
            <a:endParaRPr lang="de-DE" sz="1050" b="0" u="none" strike="noStrike">
              <a:solidFill>
                <a:srgbClr val="000000"/>
              </a:solidFill>
              <a:effectLst/>
              <a:uFillTx/>
              <a:latin typeface="Arial"/>
            </a:endParaRPr>
          </a:p>
        </p:txBody>
      </p:sp>
      <p:sp>
        <p:nvSpPr>
          <p:cNvPr id="208" name="Shape 5"/>
          <p:cNvSpPr/>
          <p:nvPr/>
        </p:nvSpPr>
        <p:spPr>
          <a:xfrm>
            <a:off x="6889216" y="1645920"/>
            <a:ext cx="3868048" cy="2331360"/>
          </a:xfrm>
          <a:prstGeom prst="roundRect">
            <a:avLst>
              <a:gd name="adj" fmla="val 2353"/>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209" name="Image 1" descr="C:\Users\fzj\AppData\Local\Temp\claude\C--Users-fzj-git-primer3-rs\110509b7-eac3-44ec-8fe3-ff640ad7d275\scratchpad\assets\genomescope.png"/>
          <p:cNvPicPr/>
          <p:nvPr/>
        </p:nvPicPr>
        <p:blipFill>
          <a:blip r:embed="rId4"/>
          <a:stretch/>
        </p:blipFill>
        <p:spPr>
          <a:xfrm>
            <a:off x="6889216" y="1774080"/>
            <a:ext cx="3868048" cy="2075400"/>
          </a:xfrm>
          <a:prstGeom prst="rect">
            <a:avLst/>
          </a:prstGeom>
          <a:noFill/>
          <a:ln w="0">
            <a:noFill/>
          </a:ln>
        </p:spPr>
      </p:pic>
      <p:sp>
        <p:nvSpPr>
          <p:cNvPr id="210" name="Text 6"/>
          <p:cNvSpPr/>
          <p:nvPr/>
        </p:nvSpPr>
        <p:spPr>
          <a:xfrm>
            <a:off x="6278760" y="4023360"/>
            <a:ext cx="5345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i="1" u="none" strike="noStrike">
                <a:solidFill>
                  <a:srgbClr val="726A7A"/>
                </a:solidFill>
                <a:effectLst/>
                <a:uFillTx/>
                <a:latin typeface="Calibri"/>
                <a:ea typeface="Calibri"/>
              </a:rPr>
              <a:t>k-mer spectrum: estimates depth, error &amp; repeat content</a:t>
            </a:r>
            <a:endParaRPr lang="de-DE" sz="1050" b="0" u="none" strike="noStrike">
              <a:solidFill>
                <a:srgbClr val="000000"/>
              </a:solidFill>
              <a:effectLst/>
              <a:uFillTx/>
              <a:latin typeface="Arial"/>
            </a:endParaRPr>
          </a:p>
        </p:txBody>
      </p:sp>
      <p:sp>
        <p:nvSpPr>
          <p:cNvPr id="211" name="Shape 7"/>
          <p:cNvSpPr/>
          <p:nvPr/>
        </p:nvSpPr>
        <p:spPr>
          <a:xfrm>
            <a:off x="567000" y="4526280"/>
            <a:ext cx="2654280" cy="1005480"/>
          </a:xfrm>
          <a:prstGeom prst="roundRect">
            <a:avLst>
              <a:gd name="adj" fmla="val 6364"/>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12" name="Text 8"/>
          <p:cNvSpPr/>
          <p:nvPr/>
        </p:nvSpPr>
        <p:spPr>
          <a:xfrm>
            <a:off x="676800" y="4617720"/>
            <a:ext cx="2435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Coverage (depth)</a:t>
            </a:r>
            <a:endParaRPr lang="de-DE" sz="1200" b="0" u="none" strike="noStrike">
              <a:solidFill>
                <a:srgbClr val="000000"/>
              </a:solidFill>
              <a:effectLst/>
              <a:uFillTx/>
              <a:latin typeface="Arial"/>
            </a:endParaRPr>
          </a:p>
        </p:txBody>
      </p:sp>
      <p:sp>
        <p:nvSpPr>
          <p:cNvPr id="213" name="Text 9"/>
          <p:cNvSpPr/>
          <p:nvPr/>
        </p:nvSpPr>
        <p:spPr>
          <a:xfrm>
            <a:off x="676800" y="4910400"/>
            <a:ext cx="24350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a:solidFill>
                  <a:srgbClr val="2B2331"/>
                </a:solidFill>
                <a:effectLst/>
                <a:uFillTx/>
                <a:latin typeface="Calibri"/>
                <a:ea typeface="Calibri"/>
              </a:rPr>
              <a:t>total bases ÷ genome size — aim ≥ 30×</a:t>
            </a:r>
            <a:endParaRPr lang="de-DE" sz="1000" b="0" u="none" strike="noStrike">
              <a:solidFill>
                <a:srgbClr val="000000"/>
              </a:solidFill>
              <a:effectLst/>
              <a:uFillTx/>
              <a:latin typeface="Arial"/>
            </a:endParaRPr>
          </a:p>
        </p:txBody>
      </p:sp>
      <p:sp>
        <p:nvSpPr>
          <p:cNvPr id="214" name="Shape 10"/>
          <p:cNvSpPr/>
          <p:nvPr/>
        </p:nvSpPr>
        <p:spPr>
          <a:xfrm>
            <a:off x="3367800" y="4526280"/>
            <a:ext cx="2654280" cy="1005480"/>
          </a:xfrm>
          <a:prstGeom prst="roundRect">
            <a:avLst>
              <a:gd name="adj" fmla="val 6364"/>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15" name="Text 11"/>
          <p:cNvSpPr/>
          <p:nvPr/>
        </p:nvSpPr>
        <p:spPr>
          <a:xfrm>
            <a:off x="3477600" y="4617720"/>
            <a:ext cx="2435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Read N50</a:t>
            </a:r>
            <a:endParaRPr lang="de-DE" sz="1200" b="0" u="none" strike="noStrike">
              <a:solidFill>
                <a:srgbClr val="000000"/>
              </a:solidFill>
              <a:effectLst/>
              <a:uFillTx/>
              <a:latin typeface="Arial"/>
            </a:endParaRPr>
          </a:p>
        </p:txBody>
      </p:sp>
      <p:sp>
        <p:nvSpPr>
          <p:cNvPr id="216" name="Text 12"/>
          <p:cNvSpPr/>
          <p:nvPr/>
        </p:nvSpPr>
        <p:spPr>
          <a:xfrm>
            <a:off x="3477600" y="4910400"/>
            <a:ext cx="24350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a:solidFill>
                  <a:srgbClr val="2B2331"/>
                </a:solidFill>
                <a:effectLst/>
                <a:uFillTx/>
                <a:latin typeface="Calibri"/>
                <a:ea typeface="Calibri"/>
              </a:rPr>
              <a:t>half of all bases sit in reads longer than this — aim ≥ 15 kb</a:t>
            </a:r>
            <a:endParaRPr lang="de-DE" sz="1000" b="0" u="none" strike="noStrike">
              <a:solidFill>
                <a:srgbClr val="000000"/>
              </a:solidFill>
              <a:effectLst/>
              <a:uFillTx/>
              <a:latin typeface="Arial"/>
            </a:endParaRPr>
          </a:p>
        </p:txBody>
      </p:sp>
      <p:sp>
        <p:nvSpPr>
          <p:cNvPr id="217" name="Shape 13"/>
          <p:cNvSpPr/>
          <p:nvPr/>
        </p:nvSpPr>
        <p:spPr>
          <a:xfrm>
            <a:off x="6168960" y="4526280"/>
            <a:ext cx="2654280" cy="1005480"/>
          </a:xfrm>
          <a:prstGeom prst="roundRect">
            <a:avLst>
              <a:gd name="adj" fmla="val 6364"/>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18" name="Text 14"/>
          <p:cNvSpPr/>
          <p:nvPr/>
        </p:nvSpPr>
        <p:spPr>
          <a:xfrm>
            <a:off x="6278760" y="4617720"/>
            <a:ext cx="2435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Base quality</a:t>
            </a:r>
            <a:endParaRPr lang="de-DE" sz="1200" b="0" u="none" strike="noStrike">
              <a:solidFill>
                <a:srgbClr val="000000"/>
              </a:solidFill>
              <a:effectLst/>
              <a:uFillTx/>
              <a:latin typeface="Arial"/>
            </a:endParaRPr>
          </a:p>
        </p:txBody>
      </p:sp>
      <p:sp>
        <p:nvSpPr>
          <p:cNvPr id="219" name="Text 15"/>
          <p:cNvSpPr/>
          <p:nvPr/>
        </p:nvSpPr>
        <p:spPr>
          <a:xfrm>
            <a:off x="6278760" y="4910400"/>
            <a:ext cx="24350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a:solidFill>
                  <a:srgbClr val="2B2331"/>
                </a:solidFill>
                <a:effectLst/>
                <a:uFillTx/>
                <a:latin typeface="Calibri"/>
                <a:ea typeface="Calibri"/>
              </a:rPr>
              <a:t>median Phred Q ≥ 12–15 for ONT</a:t>
            </a:r>
            <a:endParaRPr lang="de-DE" sz="1000" b="0" u="none" strike="noStrike">
              <a:solidFill>
                <a:srgbClr val="000000"/>
              </a:solidFill>
              <a:effectLst/>
              <a:uFillTx/>
              <a:latin typeface="Arial"/>
            </a:endParaRPr>
          </a:p>
        </p:txBody>
      </p:sp>
      <p:sp>
        <p:nvSpPr>
          <p:cNvPr id="220" name="Shape 16"/>
          <p:cNvSpPr/>
          <p:nvPr/>
        </p:nvSpPr>
        <p:spPr>
          <a:xfrm>
            <a:off x="8970120" y="4526280"/>
            <a:ext cx="2654280" cy="1005480"/>
          </a:xfrm>
          <a:prstGeom prst="roundRect">
            <a:avLst>
              <a:gd name="adj" fmla="val 6364"/>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21" name="Text 17"/>
          <p:cNvSpPr/>
          <p:nvPr/>
        </p:nvSpPr>
        <p:spPr>
          <a:xfrm>
            <a:off x="9079920" y="4617720"/>
            <a:ext cx="2435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k-mer</a:t>
            </a:r>
            <a:endParaRPr lang="de-DE" sz="1200" b="0" u="none" strike="noStrike">
              <a:solidFill>
                <a:srgbClr val="000000"/>
              </a:solidFill>
              <a:effectLst/>
              <a:uFillTx/>
              <a:latin typeface="Arial"/>
            </a:endParaRPr>
          </a:p>
        </p:txBody>
      </p:sp>
      <p:sp>
        <p:nvSpPr>
          <p:cNvPr id="222" name="Text 18"/>
          <p:cNvSpPr/>
          <p:nvPr/>
        </p:nvSpPr>
        <p:spPr>
          <a:xfrm>
            <a:off x="9079920" y="4910400"/>
            <a:ext cx="24350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a:solidFill>
                  <a:srgbClr val="2B2331"/>
                </a:solidFill>
                <a:effectLst/>
                <a:uFillTx/>
                <a:latin typeface="Calibri"/>
                <a:ea typeface="Calibri"/>
              </a:rPr>
              <a:t>a substring of length k; the spectrum reveals errors, depth &amp; ploidy</a:t>
            </a:r>
            <a:endParaRPr lang="de-DE" sz="1000" b="0" u="none" strike="noStrike">
              <a:solidFill>
                <a:srgbClr val="000000"/>
              </a:solidFill>
              <a:effectLst/>
              <a:uFillTx/>
              <a:latin typeface="Arial"/>
            </a:endParaRPr>
          </a:p>
        </p:txBody>
      </p:sp>
      <p:sp>
        <p:nvSpPr>
          <p:cNvPr id="223" name="Text 19"/>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Garbage in, garbage out: assembly cannot recover information that is missing from the reads. N50 is a length-weighted median; coverage/depth is how many times each base is read on average.</a:t>
            </a:r>
            <a:endParaRPr lang="de-DE" sz="95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4"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25"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INPUTS · SCAFFOLDING</a:t>
            </a:r>
            <a:endParaRPr lang="de-DE" sz="1200" b="0" u="none" strike="noStrike">
              <a:solidFill>
                <a:srgbClr val="000000"/>
              </a:solidFill>
              <a:effectLst/>
              <a:uFillTx/>
              <a:latin typeface="Arial"/>
            </a:endParaRPr>
          </a:p>
        </p:txBody>
      </p:sp>
      <p:sp>
        <p:nvSpPr>
          <p:cNvPr id="226"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Hi-C: turning contigs into chromosomes</a:t>
            </a:r>
            <a:endParaRPr lang="de-DE" sz="2900" b="0" u="none" strike="noStrike">
              <a:solidFill>
                <a:srgbClr val="000000"/>
              </a:solidFill>
              <a:effectLst/>
              <a:uFillTx/>
              <a:latin typeface="Arial"/>
            </a:endParaRPr>
          </a:p>
        </p:txBody>
      </p:sp>
      <p:sp>
        <p:nvSpPr>
          <p:cNvPr id="227" name="Shape 3"/>
          <p:cNvSpPr/>
          <p:nvPr/>
        </p:nvSpPr>
        <p:spPr>
          <a:xfrm>
            <a:off x="1491916" y="1645920"/>
            <a:ext cx="8045116" cy="2011320"/>
          </a:xfrm>
          <a:prstGeom prst="roundRect">
            <a:avLst>
              <a:gd name="adj" fmla="val 2727"/>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228" name="Image 0" descr="C:\Users\fzj\AppData\Local\Temp\claude\C--Users-fzj-git-primer3-rs\110509b7-eac3-44ec-8fe3-ff640ad7d275\scratchpad\assets\hic_protocol.png"/>
          <p:cNvPicPr/>
          <p:nvPr/>
        </p:nvPicPr>
        <p:blipFill>
          <a:blip r:embed="rId3"/>
          <a:stretch/>
        </p:blipFill>
        <p:spPr>
          <a:xfrm>
            <a:off x="1585137" y="1773900"/>
            <a:ext cx="7815537" cy="1755360"/>
          </a:xfrm>
          <a:prstGeom prst="rect">
            <a:avLst/>
          </a:prstGeom>
          <a:noFill/>
          <a:ln w="0">
            <a:noFill/>
          </a:ln>
        </p:spPr>
      </p:pic>
      <p:sp>
        <p:nvSpPr>
          <p:cNvPr id="229" name="Shape 4"/>
          <p:cNvSpPr/>
          <p:nvPr/>
        </p:nvSpPr>
        <p:spPr>
          <a:xfrm>
            <a:off x="567000" y="3840480"/>
            <a:ext cx="2377080" cy="2102760"/>
          </a:xfrm>
          <a:prstGeom prst="roundRect">
            <a:avLst>
              <a:gd name="adj" fmla="val 2609"/>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230" name="Image 1" descr="C:\Users\fzj\AppData\Local\Temp\claude\C--Users-fzj-git-primer3-rs\110509b7-eac3-44ec-8fe3-ff640ad7d275\scratchpad\assets\hic_map.png"/>
          <p:cNvPicPr/>
          <p:nvPr/>
        </p:nvPicPr>
        <p:blipFill>
          <a:blip r:embed="rId4"/>
          <a:stretch/>
        </p:blipFill>
        <p:spPr>
          <a:xfrm>
            <a:off x="694800" y="3968640"/>
            <a:ext cx="2121120" cy="1846800"/>
          </a:xfrm>
          <a:prstGeom prst="rect">
            <a:avLst/>
          </a:prstGeom>
          <a:noFill/>
          <a:ln w="0">
            <a:noFill/>
          </a:ln>
        </p:spPr>
      </p:pic>
      <p:sp>
        <p:nvSpPr>
          <p:cNvPr id="231" name="Text 5"/>
          <p:cNvSpPr/>
          <p:nvPr/>
        </p:nvSpPr>
        <p:spPr>
          <a:xfrm>
            <a:off x="292680" y="5961960"/>
            <a:ext cx="2925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0" i="1" u="none" strike="noStrike">
                <a:solidFill>
                  <a:srgbClr val="726A7A"/>
                </a:solidFill>
                <a:effectLst/>
                <a:uFillTx/>
                <a:latin typeface="Calibri"/>
                <a:ea typeface="Calibri"/>
              </a:rPr>
              <a:t>Hi-C contact map: bright blocks = chromosomes</a:t>
            </a:r>
            <a:endParaRPr lang="de-DE" sz="950" b="0" u="none" strike="noStrike">
              <a:solidFill>
                <a:srgbClr val="000000"/>
              </a:solidFill>
              <a:effectLst/>
              <a:uFillTx/>
              <a:latin typeface="Arial"/>
            </a:endParaRPr>
          </a:p>
        </p:txBody>
      </p:sp>
      <p:sp>
        <p:nvSpPr>
          <p:cNvPr id="232" name="Text 6"/>
          <p:cNvSpPr/>
          <p:nvPr/>
        </p:nvSpPr>
        <p:spPr>
          <a:xfrm>
            <a:off x="3355920" y="3886200"/>
            <a:ext cx="8268480" cy="210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00"/>
              </a:spcAft>
              <a:buClr>
                <a:srgbClr val="2B2331"/>
              </a:buClr>
              <a:buFont typeface="Symbol" charset="2"/>
              <a:buChar char=""/>
            </a:pPr>
            <a:r>
              <a:rPr lang="en-US" sz="1300" b="0" u="none" strike="noStrike">
                <a:solidFill>
                  <a:srgbClr val="2B2331"/>
                </a:solidFill>
                <a:effectLst/>
                <a:uFillTx/>
                <a:latin typeface="Calibri"/>
                <a:ea typeface="Calibri"/>
              </a:rPr>
              <a:t>Hi-C (high-throughput chromosome conformation capture) records which DNA segments are physically close in 3-D</a:t>
            </a:r>
            <a:endParaRPr lang="de-DE" sz="1300" b="0" u="none" strike="noStrike">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300" b="0" u="none" strike="noStrike">
                <a:solidFill>
                  <a:srgbClr val="2B2331"/>
                </a:solidFill>
                <a:effectLst/>
                <a:uFillTx/>
                <a:latin typeface="Calibri"/>
                <a:ea typeface="Calibri"/>
              </a:rPr>
              <a:t>Segments on the same chromosome contact each other far more often than across chromosomes</a:t>
            </a:r>
            <a:endParaRPr lang="de-DE" sz="1300" b="0" u="none" strike="noStrike">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300" b="0" u="none" strike="noStrike">
                <a:solidFill>
                  <a:srgbClr val="2B2331"/>
                </a:solidFill>
                <a:effectLst/>
                <a:uFillTx/>
                <a:latin typeface="Calibri"/>
                <a:ea typeface="Calibri"/>
              </a:rPr>
              <a:t>That signal orders and orients contigs into chromosome-scale scaffolds</a:t>
            </a:r>
            <a:endParaRPr lang="de-DE" sz="1300" b="0" u="none" strike="noStrike">
              <a:solidFill>
                <a:srgbClr val="000000"/>
              </a:solidFill>
              <a:effectLst/>
              <a:uFillTx/>
              <a:latin typeface="Arial"/>
            </a:endParaRPr>
          </a:p>
          <a:p>
            <a:pPr marL="177840" indent="-177840" defTabSz="914400">
              <a:lnSpc>
                <a:spcPct val="100000"/>
              </a:lnSpc>
              <a:spcAft>
                <a:spcPts val="1100"/>
              </a:spcAft>
              <a:buClr>
                <a:srgbClr val="5E2A75"/>
              </a:buClr>
              <a:buFont typeface="Symbol" charset="2"/>
              <a:buChar char=""/>
            </a:pPr>
            <a:r>
              <a:rPr lang="en-US" sz="1300" b="1" u="none" strike="noStrike">
                <a:solidFill>
                  <a:srgbClr val="5E2A75"/>
                </a:solidFill>
                <a:effectLst/>
                <a:uFillTx/>
                <a:latin typeface="Calibri"/>
                <a:ea typeface="Calibri"/>
              </a:rPr>
              <a:t>Contig = a continuous assembled sequence;  scaffold = ordered contigs with gaps</a:t>
            </a:r>
            <a:endParaRPr lang="de-DE" sz="13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3"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34"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EVALUATING · ASSEMBLIES</a:t>
            </a:r>
            <a:endParaRPr lang="de-DE" sz="1200" b="0" u="none" strike="noStrike">
              <a:solidFill>
                <a:srgbClr val="000000"/>
              </a:solidFill>
              <a:effectLst/>
              <a:uFillTx/>
              <a:latin typeface="Arial"/>
            </a:endParaRPr>
          </a:p>
        </p:txBody>
      </p:sp>
      <p:sp>
        <p:nvSpPr>
          <p:cNvPr id="235"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Three questions to ask of any assembly</a:t>
            </a:r>
            <a:endParaRPr lang="de-DE" sz="2900" b="0" u="none" strike="noStrike">
              <a:solidFill>
                <a:srgbClr val="000000"/>
              </a:solidFill>
              <a:effectLst/>
              <a:uFillTx/>
              <a:latin typeface="Arial"/>
            </a:endParaRPr>
          </a:p>
        </p:txBody>
      </p:sp>
      <p:sp>
        <p:nvSpPr>
          <p:cNvPr id="236" name="Shape 3"/>
          <p:cNvSpPr/>
          <p:nvPr/>
        </p:nvSpPr>
        <p:spPr>
          <a:xfrm>
            <a:off x="567000" y="1645920"/>
            <a:ext cx="5760360" cy="1078560"/>
          </a:xfrm>
          <a:prstGeom prst="roundRect">
            <a:avLst>
              <a:gd name="adj" fmla="val 5932"/>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37" name="Shape 4"/>
          <p:cNvSpPr/>
          <p:nvPr/>
        </p:nvSpPr>
        <p:spPr>
          <a:xfrm>
            <a:off x="731520" y="1828800"/>
            <a:ext cx="127800" cy="127800"/>
          </a:xfrm>
          <a:prstGeom prst="ellipse">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38" name="Text 5"/>
          <p:cNvSpPr/>
          <p:nvPr/>
        </p:nvSpPr>
        <p:spPr>
          <a:xfrm>
            <a:off x="951120" y="1755720"/>
            <a:ext cx="3931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spc="99">
                <a:solidFill>
                  <a:srgbClr val="21476B"/>
                </a:solidFill>
                <a:effectLst/>
                <a:uFillTx/>
                <a:latin typeface="Calibri"/>
                <a:ea typeface="Calibri"/>
              </a:rPr>
              <a:t>CONTIGUITY</a:t>
            </a:r>
            <a:endParaRPr lang="de-DE" sz="1350" b="0" u="none" strike="noStrike">
              <a:solidFill>
                <a:srgbClr val="000000"/>
              </a:solidFill>
              <a:effectLst/>
              <a:uFillTx/>
              <a:latin typeface="Arial"/>
            </a:endParaRPr>
          </a:p>
        </p:txBody>
      </p:sp>
      <p:sp>
        <p:nvSpPr>
          <p:cNvPr id="239" name="Text 6"/>
          <p:cNvSpPr/>
          <p:nvPr/>
        </p:nvSpPr>
        <p:spPr>
          <a:xfrm>
            <a:off x="951120" y="1755720"/>
            <a:ext cx="5211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726A7A"/>
                </a:solidFill>
                <a:effectLst/>
                <a:uFillTx/>
                <a:latin typeface="Consolas"/>
                <a:ea typeface="Consolas"/>
              </a:rPr>
              <a:t>QUAST</a:t>
            </a:r>
            <a:endParaRPr lang="de-DE" sz="1100" b="0" u="none" strike="noStrike">
              <a:solidFill>
                <a:srgbClr val="000000"/>
              </a:solidFill>
              <a:effectLst/>
              <a:uFillTx/>
              <a:latin typeface="Arial"/>
            </a:endParaRPr>
          </a:p>
        </p:txBody>
      </p:sp>
      <p:sp>
        <p:nvSpPr>
          <p:cNvPr id="240" name="Text 7"/>
          <p:cNvSpPr/>
          <p:nvPr/>
        </p:nvSpPr>
        <p:spPr>
          <a:xfrm>
            <a:off x="951120" y="2048400"/>
            <a:ext cx="5211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i="1" u="none" strike="noStrike">
                <a:solidFill>
                  <a:srgbClr val="2B2331"/>
                </a:solidFill>
                <a:effectLst/>
                <a:uFillTx/>
                <a:latin typeface="Calibri"/>
                <a:ea typeface="Calibri"/>
              </a:rPr>
              <a:t>How fragmented?</a:t>
            </a:r>
            <a:endParaRPr lang="de-DE" sz="1100" b="0" u="none" strike="noStrike">
              <a:solidFill>
                <a:srgbClr val="000000"/>
              </a:solidFill>
              <a:effectLst/>
              <a:uFillTx/>
              <a:latin typeface="Arial"/>
            </a:endParaRPr>
          </a:p>
        </p:txBody>
      </p:sp>
      <p:sp>
        <p:nvSpPr>
          <p:cNvPr id="241" name="Text 8"/>
          <p:cNvSpPr/>
          <p:nvPr/>
        </p:nvSpPr>
        <p:spPr>
          <a:xfrm>
            <a:off x="951120" y="2322720"/>
            <a:ext cx="5211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2B2331"/>
                </a:solidFill>
                <a:effectLst/>
                <a:uFillTx/>
                <a:latin typeface="Calibri"/>
                <a:ea typeface="Calibri"/>
              </a:rPr>
              <a:t>N50 / L50, number of contigs, contig→chromosome ratio</a:t>
            </a:r>
            <a:endParaRPr lang="de-DE" sz="1100" b="0" u="none" strike="noStrike">
              <a:solidFill>
                <a:srgbClr val="000000"/>
              </a:solidFill>
              <a:effectLst/>
              <a:uFillTx/>
              <a:latin typeface="Arial"/>
            </a:endParaRPr>
          </a:p>
        </p:txBody>
      </p:sp>
      <p:sp>
        <p:nvSpPr>
          <p:cNvPr id="242" name="Shape 9"/>
          <p:cNvSpPr/>
          <p:nvPr/>
        </p:nvSpPr>
        <p:spPr>
          <a:xfrm>
            <a:off x="567000" y="2871360"/>
            <a:ext cx="5760360" cy="1078560"/>
          </a:xfrm>
          <a:prstGeom prst="roundRect">
            <a:avLst>
              <a:gd name="adj" fmla="val 5932"/>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43" name="Shape 10"/>
          <p:cNvSpPr/>
          <p:nvPr/>
        </p:nvSpPr>
        <p:spPr>
          <a:xfrm>
            <a:off x="731520" y="3054240"/>
            <a:ext cx="127800" cy="127800"/>
          </a:xfrm>
          <a:prstGeom prst="ellipse">
            <a:avLst/>
          </a:prstGeom>
          <a:solidFill>
            <a:srgbClr val="5E2A7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44" name="Text 11"/>
          <p:cNvSpPr/>
          <p:nvPr/>
        </p:nvSpPr>
        <p:spPr>
          <a:xfrm>
            <a:off x="951120" y="2980800"/>
            <a:ext cx="3931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spc="99">
                <a:solidFill>
                  <a:srgbClr val="5E2A75"/>
                </a:solidFill>
                <a:effectLst/>
                <a:uFillTx/>
                <a:latin typeface="Calibri"/>
                <a:ea typeface="Calibri"/>
              </a:rPr>
              <a:t>COMPLETENESS</a:t>
            </a:r>
            <a:endParaRPr lang="de-DE" sz="1350" b="0" u="none" strike="noStrike">
              <a:solidFill>
                <a:srgbClr val="000000"/>
              </a:solidFill>
              <a:effectLst/>
              <a:uFillTx/>
              <a:latin typeface="Arial"/>
            </a:endParaRPr>
          </a:p>
        </p:txBody>
      </p:sp>
      <p:sp>
        <p:nvSpPr>
          <p:cNvPr id="245" name="Text 12"/>
          <p:cNvSpPr/>
          <p:nvPr/>
        </p:nvSpPr>
        <p:spPr>
          <a:xfrm>
            <a:off x="951120" y="2980800"/>
            <a:ext cx="5211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726A7A"/>
                </a:solidFill>
                <a:effectLst/>
                <a:uFillTx/>
                <a:latin typeface="Consolas"/>
                <a:ea typeface="Consolas"/>
              </a:rPr>
              <a:t>BUSCO, Merqury</a:t>
            </a:r>
            <a:endParaRPr lang="de-DE" sz="1100" b="0" u="none" strike="noStrike">
              <a:solidFill>
                <a:srgbClr val="000000"/>
              </a:solidFill>
              <a:effectLst/>
              <a:uFillTx/>
              <a:latin typeface="Arial"/>
            </a:endParaRPr>
          </a:p>
        </p:txBody>
      </p:sp>
      <p:sp>
        <p:nvSpPr>
          <p:cNvPr id="246" name="Text 13"/>
          <p:cNvSpPr/>
          <p:nvPr/>
        </p:nvSpPr>
        <p:spPr>
          <a:xfrm>
            <a:off x="951120" y="3273480"/>
            <a:ext cx="5211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i="1" u="none" strike="noStrike">
                <a:solidFill>
                  <a:srgbClr val="2B2331"/>
                </a:solidFill>
                <a:effectLst/>
                <a:uFillTx/>
                <a:latin typeface="Calibri"/>
                <a:ea typeface="Calibri"/>
              </a:rPr>
              <a:t>Is anything missing?</a:t>
            </a:r>
            <a:endParaRPr lang="de-DE" sz="1100" b="0" u="none" strike="noStrike">
              <a:solidFill>
                <a:srgbClr val="000000"/>
              </a:solidFill>
              <a:effectLst/>
              <a:uFillTx/>
              <a:latin typeface="Arial"/>
            </a:endParaRPr>
          </a:p>
        </p:txBody>
      </p:sp>
      <p:sp>
        <p:nvSpPr>
          <p:cNvPr id="247" name="Text 14"/>
          <p:cNvSpPr/>
          <p:nvPr/>
        </p:nvSpPr>
        <p:spPr>
          <a:xfrm>
            <a:off x="951120" y="3547800"/>
            <a:ext cx="5211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2B2331"/>
                </a:solidFill>
                <a:effectLst/>
                <a:uFillTx/>
                <a:latin typeface="Calibri"/>
                <a:ea typeface="Calibri"/>
              </a:rPr>
              <a:t>expected genes found, k-mer completeness, size vs estimate</a:t>
            </a:r>
            <a:endParaRPr lang="de-DE" sz="1100" b="0" u="none" strike="noStrike">
              <a:solidFill>
                <a:srgbClr val="000000"/>
              </a:solidFill>
              <a:effectLst/>
              <a:uFillTx/>
              <a:latin typeface="Arial"/>
            </a:endParaRPr>
          </a:p>
        </p:txBody>
      </p:sp>
      <p:sp>
        <p:nvSpPr>
          <p:cNvPr id="248" name="Shape 15"/>
          <p:cNvSpPr/>
          <p:nvPr/>
        </p:nvSpPr>
        <p:spPr>
          <a:xfrm>
            <a:off x="567000" y="4096440"/>
            <a:ext cx="5760360" cy="1078560"/>
          </a:xfrm>
          <a:prstGeom prst="roundRect">
            <a:avLst>
              <a:gd name="adj" fmla="val 5932"/>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49" name="Shape 16"/>
          <p:cNvSpPr/>
          <p:nvPr/>
        </p:nvSpPr>
        <p:spPr>
          <a:xfrm>
            <a:off x="731520" y="4279320"/>
            <a:ext cx="127800" cy="12780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50" name="Text 17"/>
          <p:cNvSpPr/>
          <p:nvPr/>
        </p:nvSpPr>
        <p:spPr>
          <a:xfrm>
            <a:off x="951120" y="4206240"/>
            <a:ext cx="3931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spc="99">
                <a:solidFill>
                  <a:srgbClr val="E8606B"/>
                </a:solidFill>
                <a:effectLst/>
                <a:uFillTx/>
                <a:latin typeface="Calibri"/>
                <a:ea typeface="Calibri"/>
              </a:rPr>
              <a:t>CORRECTNESS</a:t>
            </a:r>
            <a:endParaRPr lang="de-DE" sz="1350" b="0" u="none" strike="noStrike">
              <a:solidFill>
                <a:srgbClr val="000000"/>
              </a:solidFill>
              <a:effectLst/>
              <a:uFillTx/>
              <a:latin typeface="Arial"/>
            </a:endParaRPr>
          </a:p>
        </p:txBody>
      </p:sp>
      <p:sp>
        <p:nvSpPr>
          <p:cNvPr id="251" name="Text 18"/>
          <p:cNvSpPr/>
          <p:nvPr/>
        </p:nvSpPr>
        <p:spPr>
          <a:xfrm>
            <a:off x="951120" y="4206240"/>
            <a:ext cx="5211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726A7A"/>
                </a:solidFill>
                <a:effectLst/>
                <a:uFillTx/>
                <a:latin typeface="Consolas"/>
                <a:ea typeface="Consolas"/>
              </a:rPr>
              <a:t>Merqury, CRAQ</a:t>
            </a:r>
            <a:endParaRPr lang="de-DE" sz="1100" b="0" u="none" strike="noStrike">
              <a:solidFill>
                <a:srgbClr val="000000"/>
              </a:solidFill>
              <a:effectLst/>
              <a:uFillTx/>
              <a:latin typeface="Arial"/>
            </a:endParaRPr>
          </a:p>
        </p:txBody>
      </p:sp>
      <p:sp>
        <p:nvSpPr>
          <p:cNvPr id="252" name="Text 19"/>
          <p:cNvSpPr/>
          <p:nvPr/>
        </p:nvSpPr>
        <p:spPr>
          <a:xfrm>
            <a:off x="951120" y="4498920"/>
            <a:ext cx="5211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i="1" u="none" strike="noStrike">
                <a:solidFill>
                  <a:srgbClr val="2B2331"/>
                </a:solidFill>
                <a:effectLst/>
                <a:uFillTx/>
                <a:latin typeface="Calibri"/>
                <a:ea typeface="Calibri"/>
              </a:rPr>
              <a:t>Is it accurate?</a:t>
            </a:r>
            <a:endParaRPr lang="de-DE" sz="1100" b="0" u="none" strike="noStrike">
              <a:solidFill>
                <a:srgbClr val="000000"/>
              </a:solidFill>
              <a:effectLst/>
              <a:uFillTx/>
              <a:latin typeface="Arial"/>
            </a:endParaRPr>
          </a:p>
        </p:txBody>
      </p:sp>
      <p:sp>
        <p:nvSpPr>
          <p:cNvPr id="253" name="Text 20"/>
          <p:cNvSpPr/>
          <p:nvPr/>
        </p:nvSpPr>
        <p:spPr>
          <a:xfrm>
            <a:off x="951120" y="4773240"/>
            <a:ext cx="5211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2B2331"/>
                </a:solidFill>
                <a:effectLst/>
                <a:uFillTx/>
                <a:latin typeface="Calibri"/>
                <a:ea typeface="Calibri"/>
              </a:rPr>
              <a:t>consensus quality value (QV), mis-joins, raw-read check</a:t>
            </a:r>
            <a:endParaRPr lang="de-DE" sz="1100" b="0" u="none" strike="noStrike">
              <a:solidFill>
                <a:srgbClr val="000000"/>
              </a:solidFill>
              <a:effectLst/>
              <a:uFillTx/>
              <a:latin typeface="Arial"/>
            </a:endParaRPr>
          </a:p>
        </p:txBody>
      </p:sp>
      <p:sp>
        <p:nvSpPr>
          <p:cNvPr id="254" name="Shape 21"/>
          <p:cNvSpPr/>
          <p:nvPr/>
        </p:nvSpPr>
        <p:spPr>
          <a:xfrm>
            <a:off x="6739200" y="1645920"/>
            <a:ext cx="4885200" cy="3382920"/>
          </a:xfrm>
          <a:prstGeom prst="roundRect">
            <a:avLst>
              <a:gd name="adj" fmla="val 1622"/>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255" name="Image 0" descr="C:\Users\fzj\AppData\Local\Temp\claude\C--Users-fzj-git-primer3-rs\110509b7-eac3-44ec-8fe3-ff640ad7d275\scratchpad\assets\quast.png"/>
          <p:cNvPicPr/>
          <p:nvPr/>
        </p:nvPicPr>
        <p:blipFill>
          <a:blip r:embed="rId3"/>
          <a:stretch/>
        </p:blipFill>
        <p:spPr>
          <a:xfrm>
            <a:off x="6867000" y="1774080"/>
            <a:ext cx="4629240" cy="3126960"/>
          </a:xfrm>
          <a:prstGeom prst="rect">
            <a:avLst/>
          </a:prstGeom>
          <a:noFill/>
          <a:ln w="0">
            <a:noFill/>
          </a:ln>
        </p:spPr>
      </p:pic>
      <p:sp>
        <p:nvSpPr>
          <p:cNvPr id="256" name="Text 22"/>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N50 = the contig/scaffold length such that 50 % of the genome lies in pieces this size or longer; L50 = how many pieces that takes. A big N50 alone is not enough — a long-but-wrong or long-but-incomplete assembly is still bad. (Wang &amp; Wang 2023)</a:t>
            </a:r>
            <a:endParaRPr lang="de-DE" sz="95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7"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58"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EVALUATING · ASSEMBLIES</a:t>
            </a:r>
            <a:endParaRPr lang="de-DE" sz="1200" b="0" u="none" strike="noStrike">
              <a:solidFill>
                <a:srgbClr val="000000"/>
              </a:solidFill>
              <a:effectLst/>
              <a:uFillTx/>
              <a:latin typeface="Arial"/>
            </a:endParaRPr>
          </a:p>
        </p:txBody>
      </p:sp>
      <p:sp>
        <p:nvSpPr>
          <p:cNvPr id="259"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Completeness &amp; correctness, measured</a:t>
            </a:r>
            <a:endParaRPr lang="de-DE" sz="2900" b="0" u="none" strike="noStrike">
              <a:solidFill>
                <a:srgbClr val="000000"/>
              </a:solidFill>
              <a:effectLst/>
              <a:uFillTx/>
              <a:latin typeface="Arial"/>
            </a:endParaRPr>
          </a:p>
        </p:txBody>
      </p:sp>
      <p:sp>
        <p:nvSpPr>
          <p:cNvPr id="260" name="Shape 3"/>
          <p:cNvSpPr/>
          <p:nvPr/>
        </p:nvSpPr>
        <p:spPr>
          <a:xfrm>
            <a:off x="567000" y="1645920"/>
            <a:ext cx="5322960" cy="2605680"/>
          </a:xfrm>
          <a:prstGeom prst="roundRect">
            <a:avLst>
              <a:gd name="adj" fmla="val 2105"/>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261" name="Image 0" descr="C:\Users\fzj\AppData\Local\Temp\claude\C--Users-fzj-git-primer3-rs\110509b7-eac3-44ec-8fe3-ff640ad7d275\scratchpad\assets\busco.png"/>
          <p:cNvPicPr/>
          <p:nvPr/>
        </p:nvPicPr>
        <p:blipFill>
          <a:blip r:embed="rId3"/>
          <a:stretch/>
        </p:blipFill>
        <p:spPr>
          <a:xfrm>
            <a:off x="694800" y="1774080"/>
            <a:ext cx="5066640" cy="2349720"/>
          </a:xfrm>
          <a:prstGeom prst="rect">
            <a:avLst/>
          </a:prstGeom>
          <a:noFill/>
          <a:ln w="0">
            <a:noFill/>
          </a:ln>
        </p:spPr>
      </p:pic>
      <p:sp>
        <p:nvSpPr>
          <p:cNvPr id="262" name="Shape 4"/>
          <p:cNvSpPr/>
          <p:nvPr/>
        </p:nvSpPr>
        <p:spPr>
          <a:xfrm>
            <a:off x="6301440" y="1645920"/>
            <a:ext cx="5322960" cy="2605680"/>
          </a:xfrm>
          <a:prstGeom prst="roundRect">
            <a:avLst>
              <a:gd name="adj" fmla="val 2105"/>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263" name="Image 1" descr="C:\Users\fzj\AppData\Local\Temp\claude\C--Users-fzj-git-primer3-rs\110509b7-eac3-44ec-8fe3-ff640ad7d275\scratchpad\assets\merqury.png"/>
          <p:cNvPicPr/>
          <p:nvPr/>
        </p:nvPicPr>
        <p:blipFill>
          <a:blip r:embed="rId4"/>
          <a:stretch/>
        </p:blipFill>
        <p:spPr>
          <a:xfrm>
            <a:off x="7087326" y="1773900"/>
            <a:ext cx="3604737" cy="2349720"/>
          </a:xfrm>
          <a:prstGeom prst="rect">
            <a:avLst/>
          </a:prstGeom>
          <a:noFill/>
          <a:ln w="0">
            <a:noFill/>
          </a:ln>
        </p:spPr>
      </p:pic>
      <p:sp>
        <p:nvSpPr>
          <p:cNvPr id="264" name="Shape 5"/>
          <p:cNvSpPr/>
          <p:nvPr/>
        </p:nvSpPr>
        <p:spPr>
          <a:xfrm>
            <a:off x="567000" y="4343400"/>
            <a:ext cx="5322960" cy="1234080"/>
          </a:xfrm>
          <a:prstGeom prst="roundRect">
            <a:avLst>
              <a:gd name="adj" fmla="val 5185"/>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65" name="Text 6"/>
          <p:cNvSpPr/>
          <p:nvPr/>
        </p:nvSpPr>
        <p:spPr>
          <a:xfrm>
            <a:off x="749880" y="4453200"/>
            <a:ext cx="49572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5E2A75"/>
                </a:solidFill>
                <a:effectLst/>
                <a:uFillTx/>
                <a:latin typeface="Calibri"/>
                <a:ea typeface="Calibri"/>
              </a:rPr>
              <a:t>BUSCO</a:t>
            </a:r>
            <a:r>
              <a:rPr lang="en-US" sz="1250" b="0" u="none" strike="noStrike">
                <a:solidFill>
                  <a:srgbClr val="2B2331"/>
                </a:solidFill>
                <a:effectLst/>
                <a:uFillTx/>
                <a:latin typeface="Calibri"/>
                <a:ea typeface="Calibri"/>
              </a:rPr>
              <a:t> = Benchmarking Universal Single-Copy Orthologs.</a:t>
            </a:r>
            <a:endParaRPr lang="de-DE" sz="1250" b="0" u="none" strike="noStrike">
              <a:solidFill>
                <a:srgbClr val="000000"/>
              </a:solidFill>
              <a:effectLst/>
              <a:uFillTx/>
              <a:latin typeface="Arial"/>
            </a:endParaRPr>
          </a:p>
        </p:txBody>
      </p:sp>
      <p:sp>
        <p:nvSpPr>
          <p:cNvPr id="266" name="Text 7"/>
          <p:cNvSpPr/>
          <p:nvPr/>
        </p:nvSpPr>
        <p:spPr>
          <a:xfrm>
            <a:off x="749880" y="4800600"/>
            <a:ext cx="49572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2B2331"/>
                </a:solidFill>
                <a:effectLst/>
                <a:uFillTx/>
                <a:latin typeface="Calibri"/>
                <a:ea typeface="Calibri"/>
              </a:rPr>
              <a:t>Looks for genes expected once in this lineage. High 'Complete' %, low 'Missing'/'Fragmented' = a complete assembly.</a:t>
            </a:r>
            <a:endParaRPr lang="de-DE" sz="1150" b="0" u="none" strike="noStrike">
              <a:solidFill>
                <a:srgbClr val="000000"/>
              </a:solidFill>
              <a:effectLst/>
              <a:uFillTx/>
              <a:latin typeface="Arial"/>
            </a:endParaRPr>
          </a:p>
        </p:txBody>
      </p:sp>
      <p:sp>
        <p:nvSpPr>
          <p:cNvPr id="267" name="Shape 8"/>
          <p:cNvSpPr/>
          <p:nvPr/>
        </p:nvSpPr>
        <p:spPr>
          <a:xfrm>
            <a:off x="6301440" y="4343400"/>
            <a:ext cx="5322960" cy="1234080"/>
          </a:xfrm>
          <a:prstGeom prst="roundRect">
            <a:avLst>
              <a:gd name="adj" fmla="val 5185"/>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68" name="Text 9"/>
          <p:cNvSpPr/>
          <p:nvPr/>
        </p:nvSpPr>
        <p:spPr>
          <a:xfrm>
            <a:off x="6484320" y="4453200"/>
            <a:ext cx="49572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5E2A75"/>
                </a:solidFill>
                <a:effectLst/>
                <a:uFillTx/>
                <a:latin typeface="Calibri"/>
                <a:ea typeface="Calibri"/>
              </a:rPr>
              <a:t>Merqury / QV</a:t>
            </a:r>
            <a:r>
              <a:rPr lang="en-US" sz="1250" b="0" u="none" strike="noStrike">
                <a:solidFill>
                  <a:srgbClr val="2B2331"/>
                </a:solidFill>
                <a:effectLst/>
                <a:uFillTx/>
                <a:latin typeface="Calibri"/>
                <a:ea typeface="Calibri"/>
              </a:rPr>
              <a:t>  (QV = consensus quality value).</a:t>
            </a:r>
            <a:endParaRPr lang="de-DE" sz="1250" b="0" u="none" strike="noStrike">
              <a:solidFill>
                <a:srgbClr val="000000"/>
              </a:solidFill>
              <a:effectLst/>
              <a:uFillTx/>
              <a:latin typeface="Arial"/>
            </a:endParaRPr>
          </a:p>
        </p:txBody>
      </p:sp>
      <p:sp>
        <p:nvSpPr>
          <p:cNvPr id="269" name="Text 10"/>
          <p:cNvSpPr/>
          <p:nvPr/>
        </p:nvSpPr>
        <p:spPr>
          <a:xfrm>
            <a:off x="6484320" y="4800600"/>
            <a:ext cx="49572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2B2331"/>
                </a:solidFill>
                <a:effectLst/>
                <a:uFillTx/>
                <a:latin typeface="Calibri"/>
                <a:ea typeface="Calibri"/>
              </a:rPr>
              <a:t>Compares read k-mers to the assembly. High QV = few base errors (QV 40 ≈ 1 error / 10,000 bp); peaks show single- vs multi-copy.</a:t>
            </a:r>
            <a:endParaRPr lang="de-DE" sz="115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0"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71"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EVALUATING · ANNOTATION</a:t>
            </a:r>
            <a:endParaRPr lang="de-DE" sz="1200" b="0" u="none" strike="noStrike">
              <a:solidFill>
                <a:srgbClr val="000000"/>
              </a:solidFill>
              <a:effectLst/>
              <a:uFillTx/>
              <a:latin typeface="Arial"/>
            </a:endParaRPr>
          </a:p>
        </p:txBody>
      </p:sp>
      <p:sp>
        <p:nvSpPr>
          <p:cNvPr id="272"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Annotating the genomes: where are the genes?</a:t>
            </a:r>
            <a:endParaRPr lang="de-DE" sz="2900" b="0" u="none" strike="noStrike">
              <a:solidFill>
                <a:srgbClr val="000000"/>
              </a:solidFill>
              <a:effectLst/>
              <a:uFillTx/>
              <a:latin typeface="Arial"/>
            </a:endParaRPr>
          </a:p>
        </p:txBody>
      </p:sp>
      <p:sp>
        <p:nvSpPr>
          <p:cNvPr id="273" name="Text 3"/>
          <p:cNvSpPr/>
          <p:nvPr/>
        </p:nvSpPr>
        <p:spPr>
          <a:xfrm>
            <a:off x="567000" y="1737360"/>
            <a:ext cx="5120280" cy="3382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99"/>
              </a:spcAft>
              <a:buClr>
                <a:srgbClr val="2B2331"/>
              </a:buClr>
              <a:buFont typeface="Symbol" charset="2"/>
              <a:buChar char=""/>
            </a:pPr>
            <a:r>
              <a:rPr lang="en-US" sz="1300" b="0" u="none" strike="noStrike" dirty="0">
                <a:solidFill>
                  <a:srgbClr val="2B2331"/>
                </a:solidFill>
                <a:effectLst/>
                <a:uFillTx/>
                <a:latin typeface="Calibri"/>
                <a:ea typeface="Calibri"/>
              </a:rPr>
              <a:t>Structural annotation — locate genes &amp; exons (Helixer, BRAKER3); output in GFF3 format</a:t>
            </a:r>
            <a:endParaRPr lang="de-DE" sz="1300" b="0" u="none" strike="noStrike" dirty="0">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300" b="0" u="none" strike="noStrike" dirty="0">
                <a:solidFill>
                  <a:srgbClr val="2B2331"/>
                </a:solidFill>
                <a:effectLst/>
                <a:uFillTx/>
                <a:latin typeface="Calibri"/>
                <a:ea typeface="Calibri"/>
              </a:rPr>
              <a:t>Functional annotation — assign what each gene does (Mercator4, </a:t>
            </a:r>
            <a:r>
              <a:rPr lang="en-US" sz="1300" b="0" u="none" strike="noStrike" dirty="0" err="1">
                <a:solidFill>
                  <a:srgbClr val="2B2331"/>
                </a:solidFill>
                <a:effectLst/>
                <a:uFillTx/>
                <a:latin typeface="Calibri"/>
                <a:ea typeface="Calibri"/>
              </a:rPr>
              <a:t>InterPro</a:t>
            </a:r>
            <a:r>
              <a:rPr lang="en-US" sz="1300" b="0" u="none" strike="noStrike" dirty="0">
                <a:solidFill>
                  <a:srgbClr val="2B2331"/>
                </a:solidFill>
                <a:effectLst/>
                <a:uFillTx/>
                <a:latin typeface="Calibri"/>
                <a:ea typeface="Calibri"/>
              </a:rPr>
              <a:t>)</a:t>
            </a:r>
            <a:endParaRPr lang="de-DE" sz="1300" b="0" u="none" strike="noStrike" dirty="0">
              <a:solidFill>
                <a:srgbClr val="000000"/>
              </a:solidFill>
              <a:effectLst/>
              <a:uFillTx/>
              <a:latin typeface="Arial"/>
            </a:endParaRPr>
          </a:p>
          <a:p>
            <a:pPr marL="177840" indent="-177840" defTabSz="914400">
              <a:lnSpc>
                <a:spcPct val="100000"/>
              </a:lnSpc>
              <a:spcAft>
                <a:spcPts val="1199"/>
              </a:spcAft>
              <a:buClr>
                <a:srgbClr val="5E2A75"/>
              </a:buClr>
              <a:buFont typeface="Symbol" charset="2"/>
              <a:buChar char=""/>
            </a:pPr>
            <a:r>
              <a:rPr lang="en-US" sz="1300" b="1" u="none" strike="noStrike" dirty="0">
                <a:solidFill>
                  <a:srgbClr val="5E2A75"/>
                </a:solidFill>
                <a:effectLst/>
                <a:uFillTx/>
                <a:latin typeface="Calibri"/>
                <a:ea typeface="Calibri"/>
              </a:rPr>
              <a:t>GFF3 = General Feature Format v3: coordinates of every feature on the genome</a:t>
            </a:r>
            <a:endParaRPr lang="de-DE" sz="1300" b="0" u="none" strike="noStrike" dirty="0">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300" b="0" u="none" strike="noStrike" dirty="0">
                <a:solidFill>
                  <a:srgbClr val="2B2331"/>
                </a:solidFill>
                <a:effectLst/>
                <a:uFillTx/>
                <a:latin typeface="Calibri"/>
                <a:ea typeface="Calibri"/>
              </a:rPr>
              <a:t>ORF = open reading frame — a stretch that can code for protein</a:t>
            </a:r>
            <a:endParaRPr lang="de-DE" sz="1300" b="0" u="none" strike="noStrike" dirty="0">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300" b="0" u="none" strike="noStrike" dirty="0">
                <a:solidFill>
                  <a:srgbClr val="2B2331"/>
                </a:solidFill>
                <a:effectLst/>
                <a:uFillTx/>
                <a:latin typeface="Calibri"/>
                <a:ea typeface="Calibri"/>
              </a:rPr>
              <a:t>QC the annotation too: BUSCO in protein mode, and coverage of expected functional categories</a:t>
            </a:r>
            <a:endParaRPr lang="de-DE" sz="1300" b="0" u="none" strike="noStrike" dirty="0">
              <a:solidFill>
                <a:srgbClr val="000000"/>
              </a:solidFill>
              <a:effectLst/>
              <a:uFillTx/>
              <a:latin typeface="Arial"/>
            </a:endParaRPr>
          </a:p>
        </p:txBody>
      </p:sp>
      <p:sp>
        <p:nvSpPr>
          <p:cNvPr id="274" name="Shape 4"/>
          <p:cNvSpPr/>
          <p:nvPr/>
        </p:nvSpPr>
        <p:spPr>
          <a:xfrm>
            <a:off x="6099120" y="1691640"/>
            <a:ext cx="5525280" cy="3291480"/>
          </a:xfrm>
          <a:prstGeom prst="roundRect">
            <a:avLst>
              <a:gd name="adj" fmla="val 1667"/>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275" name="Image 0" descr="C:\Users\fzj\AppData\Local\Temp\claude\C--Users-fzj-git-primer3-rs\110509b7-eac3-44ec-8fe3-ff640ad7d275\scratchpad\assets\annotation.png"/>
          <p:cNvPicPr/>
          <p:nvPr/>
        </p:nvPicPr>
        <p:blipFill>
          <a:blip r:embed="rId3"/>
          <a:stretch/>
        </p:blipFill>
        <p:spPr>
          <a:xfrm>
            <a:off x="6226920" y="1819800"/>
            <a:ext cx="5269320" cy="3035520"/>
          </a:xfrm>
          <a:prstGeom prst="rect">
            <a:avLst/>
          </a:prstGeom>
          <a:noFill/>
          <a:ln w="0">
            <a:noFill/>
          </a:ln>
        </p:spPr>
      </p:pic>
      <p:sp>
        <p:nvSpPr>
          <p:cNvPr id="276" name="Text 5"/>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Mercator functional-category coverage: most categories near-fully occupied = a complete, well-annotated gene set. Annotations are later projected onto the graph so genes can be queried across all accessions.</a:t>
            </a:r>
            <a:endParaRPr lang="de-DE" sz="95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7"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78"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BUILDING · METHODS</a:t>
            </a:r>
            <a:endParaRPr lang="de-DE" sz="1200" b="0" u="none" strike="noStrike">
              <a:solidFill>
                <a:srgbClr val="000000"/>
              </a:solidFill>
              <a:effectLst/>
              <a:uFillTx/>
              <a:latin typeface="Arial"/>
            </a:endParaRPr>
          </a:p>
        </p:txBody>
      </p:sp>
      <p:sp>
        <p:nvSpPr>
          <p:cNvPr id="279"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Three ways to build a pangenome graph</a:t>
            </a:r>
            <a:endParaRPr lang="de-DE" sz="2900" b="0" u="none" strike="noStrike">
              <a:solidFill>
                <a:srgbClr val="000000"/>
              </a:solidFill>
              <a:effectLst/>
              <a:uFillTx/>
              <a:latin typeface="Arial"/>
            </a:endParaRPr>
          </a:p>
        </p:txBody>
      </p:sp>
      <p:graphicFrame>
        <p:nvGraphicFramePr>
          <p:cNvPr id="280" name="Table 0"/>
          <p:cNvGraphicFramePr/>
          <p:nvPr/>
        </p:nvGraphicFramePr>
        <p:xfrm>
          <a:off x="567000" y="1691640"/>
          <a:ext cx="11057760" cy="2057400"/>
        </p:xfrm>
        <a:graphic>
          <a:graphicData uri="http://schemas.openxmlformats.org/drawingml/2006/table">
            <a:tbl>
              <a:tblPr/>
              <a:tblGrid>
                <a:gridCol w="2743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3559680">
                  <a:extLst>
                    <a:ext uri="{9D8B030D-6E8A-4147-A177-3AD203B41FA5}">
                      <a16:colId xmlns:a16="http://schemas.microsoft.com/office/drawing/2014/main" val="20003"/>
                    </a:ext>
                  </a:extLst>
                </a:gridCol>
              </a:tblGrid>
              <a:tr h="411480">
                <a:tc>
                  <a:txBody>
                    <a:bodyPr/>
                    <a:lstStyle/>
                    <a:p>
                      <a:pPr defTabSz="914400">
                        <a:lnSpc>
                          <a:spcPct val="100000"/>
                        </a:lnSpc>
                        <a:tabLst>
                          <a:tab pos="0" algn="l"/>
                        </a:tabLst>
                      </a:pPr>
                      <a:r>
                        <a:rPr lang="en-US" sz="1350" b="1" u="none" strike="noStrike">
                          <a:solidFill>
                            <a:srgbClr val="FFFFFF"/>
                          </a:solidFill>
                          <a:effectLst/>
                          <a:uFillTx/>
                          <a:latin typeface="Calibri"/>
                          <a:ea typeface="Calibri"/>
                        </a:rPr>
                        <a:t>Tool</a:t>
                      </a:r>
                      <a:endParaRPr lang="de-DE" sz="1350" b="0" u="none" strike="noStrike">
                        <a:solidFill>
                          <a:srgbClr val="FFFFFF"/>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5E2A75"/>
                    </a:solidFill>
                  </a:tcPr>
                </a:tc>
                <a:tc>
                  <a:txBody>
                    <a:bodyPr/>
                    <a:lstStyle/>
                    <a:p>
                      <a:pPr defTabSz="914400">
                        <a:lnSpc>
                          <a:spcPct val="100000"/>
                        </a:lnSpc>
                        <a:tabLst>
                          <a:tab pos="0" algn="l"/>
                        </a:tabLst>
                      </a:pPr>
                      <a:r>
                        <a:rPr lang="en-US" sz="1350" b="1" u="none" strike="noStrike">
                          <a:solidFill>
                            <a:srgbClr val="FFFFFF"/>
                          </a:solidFill>
                          <a:effectLst/>
                          <a:uFillTx/>
                          <a:latin typeface="Calibri"/>
                          <a:ea typeface="Calibri"/>
                        </a:rPr>
                        <a:t>Resolution</a:t>
                      </a:r>
                      <a:endParaRPr lang="de-DE" sz="1350" b="0" u="none" strike="noStrike">
                        <a:solidFill>
                          <a:srgbClr val="FFFFFF"/>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5E2A75"/>
                    </a:solidFill>
                  </a:tcPr>
                </a:tc>
                <a:tc>
                  <a:txBody>
                    <a:bodyPr/>
                    <a:lstStyle/>
                    <a:p>
                      <a:pPr defTabSz="914400">
                        <a:lnSpc>
                          <a:spcPct val="100000"/>
                        </a:lnSpc>
                        <a:tabLst>
                          <a:tab pos="0" algn="l"/>
                        </a:tabLst>
                      </a:pPr>
                      <a:r>
                        <a:rPr lang="en-US" sz="1350" b="1" u="none" strike="noStrike">
                          <a:solidFill>
                            <a:srgbClr val="FFFFFF"/>
                          </a:solidFill>
                          <a:effectLst/>
                          <a:uFillTx/>
                          <a:latin typeface="Calibri"/>
                          <a:ea typeface="Calibri"/>
                        </a:rPr>
                        <a:t>Reference?</a:t>
                      </a:r>
                      <a:endParaRPr lang="de-DE" sz="1350" b="0" u="none" strike="noStrike">
                        <a:solidFill>
                          <a:srgbClr val="FFFFFF"/>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5E2A75"/>
                    </a:solidFill>
                  </a:tcPr>
                </a:tc>
                <a:tc>
                  <a:txBody>
                    <a:bodyPr/>
                    <a:lstStyle/>
                    <a:p>
                      <a:pPr defTabSz="914400">
                        <a:lnSpc>
                          <a:spcPct val="100000"/>
                        </a:lnSpc>
                        <a:tabLst>
                          <a:tab pos="0" algn="l"/>
                        </a:tabLst>
                      </a:pPr>
                      <a:r>
                        <a:rPr lang="en-US" sz="1350" b="1" u="none" strike="noStrike">
                          <a:solidFill>
                            <a:srgbClr val="FFFFFF"/>
                          </a:solidFill>
                          <a:effectLst/>
                          <a:uFillTx/>
                          <a:latin typeface="Calibri"/>
                          <a:ea typeface="Calibri"/>
                        </a:rPr>
                        <a:t>Best for</a:t>
                      </a:r>
                      <a:endParaRPr lang="de-DE" sz="1350" b="0" u="none" strike="noStrike">
                        <a:solidFill>
                          <a:srgbClr val="FFFFFF"/>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5E2A75"/>
                    </a:solidFill>
                  </a:tcPr>
                </a:tc>
                <a:extLst>
                  <a:ext uri="{0D108BD9-81ED-4DB2-BD59-A6C34878D82A}">
                    <a16:rowId xmlns:a16="http://schemas.microsoft.com/office/drawing/2014/main" val="10000"/>
                  </a:ext>
                </a:extLst>
              </a:tr>
              <a:tr h="548640">
                <a:tc>
                  <a:txBody>
                    <a:bodyPr/>
                    <a:lstStyle/>
                    <a:p>
                      <a:pPr defTabSz="914400">
                        <a:lnSpc>
                          <a:spcPct val="100000"/>
                        </a:lnSpc>
                        <a:tabLst>
                          <a:tab pos="0" algn="l"/>
                        </a:tabLst>
                      </a:pPr>
                      <a:r>
                        <a:rPr lang="en-US" sz="1350" b="0" u="none" strike="noStrike">
                          <a:solidFill>
                            <a:srgbClr val="2B2331"/>
                          </a:solidFill>
                          <a:effectLst/>
                          <a:uFillTx/>
                          <a:latin typeface="Calibri"/>
                          <a:ea typeface="Calibri"/>
                        </a:rPr>
                        <a:t>minigraph</a:t>
                      </a:r>
                      <a:endParaRPr lang="de-DE" sz="13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350" b="0" u="none" strike="noStrike">
                          <a:solidFill>
                            <a:srgbClr val="2B2331"/>
                          </a:solidFill>
                          <a:effectLst/>
                          <a:uFillTx/>
                          <a:latin typeface="Calibri"/>
                          <a:ea typeface="Calibri"/>
                        </a:rPr>
                        <a:t>structural (≥ 50 bp)</a:t>
                      </a:r>
                      <a:endParaRPr lang="de-DE" sz="13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350" b="0" u="none" strike="noStrike">
                          <a:solidFill>
                            <a:srgbClr val="2B2331"/>
                          </a:solidFill>
                          <a:effectLst/>
                          <a:uFillTx/>
                          <a:latin typeface="Calibri"/>
                          <a:ea typeface="Calibri"/>
                        </a:rPr>
                        <a:t>starts from one</a:t>
                      </a:r>
                      <a:endParaRPr lang="de-DE" sz="13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350" b="0" u="none" strike="noStrike">
                          <a:solidFill>
                            <a:srgbClr val="2B2331"/>
                          </a:solidFill>
                          <a:effectLst/>
                          <a:uFillTx/>
                          <a:latin typeface="Calibri"/>
                          <a:ea typeface="Calibri"/>
                        </a:rPr>
                        <a:t>Fast SV graph, many genomes</a:t>
                      </a:r>
                      <a:endParaRPr lang="de-DE" sz="13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extLst>
                  <a:ext uri="{0D108BD9-81ED-4DB2-BD59-A6C34878D82A}">
                    <a16:rowId xmlns:a16="http://schemas.microsoft.com/office/drawing/2014/main" val="10001"/>
                  </a:ext>
                </a:extLst>
              </a:tr>
              <a:tr h="548640">
                <a:tc>
                  <a:txBody>
                    <a:bodyPr/>
                    <a:lstStyle/>
                    <a:p>
                      <a:pPr defTabSz="914400">
                        <a:lnSpc>
                          <a:spcPct val="100000"/>
                        </a:lnSpc>
                        <a:tabLst>
                          <a:tab pos="0" algn="l"/>
                        </a:tabLst>
                      </a:pPr>
                      <a:r>
                        <a:rPr lang="en-US" sz="1350" b="0" u="none" strike="noStrike">
                          <a:solidFill>
                            <a:srgbClr val="2B2331"/>
                          </a:solidFill>
                          <a:effectLst/>
                          <a:uFillTx/>
                          <a:latin typeface="Calibri"/>
                          <a:ea typeface="Calibri"/>
                        </a:rPr>
                        <a:t>Minigraph-Cactus (MC)</a:t>
                      </a:r>
                      <a:endParaRPr lang="de-DE" sz="13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350" b="0" u="none" strike="noStrike">
                          <a:solidFill>
                            <a:srgbClr val="2B2331"/>
                          </a:solidFill>
                          <a:effectLst/>
                          <a:uFillTx/>
                          <a:latin typeface="Calibri"/>
                          <a:ea typeface="Calibri"/>
                        </a:rPr>
                        <a:t>base-level</a:t>
                      </a:r>
                      <a:endParaRPr lang="de-DE" sz="13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350" b="0" u="none" strike="noStrike">
                          <a:solidFill>
                            <a:srgbClr val="2B2331"/>
                          </a:solidFill>
                          <a:effectLst/>
                          <a:uFillTx/>
                          <a:latin typeface="Calibri"/>
                          <a:ea typeface="Calibri"/>
                        </a:rPr>
                        <a:t>reference-guided</a:t>
                      </a:r>
                      <a:endParaRPr lang="de-DE" sz="13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350" b="0" u="none" strike="noStrike">
                          <a:solidFill>
                            <a:srgbClr val="2B2331"/>
                          </a:solidFill>
                          <a:effectLst/>
                          <a:uFillTx/>
                          <a:latin typeface="Calibri"/>
                          <a:ea typeface="Calibri"/>
                        </a:rPr>
                        <a:t>Human-style, reference-anchored graphs</a:t>
                      </a:r>
                      <a:endParaRPr lang="de-DE" sz="13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extLst>
                  <a:ext uri="{0D108BD9-81ED-4DB2-BD59-A6C34878D82A}">
                    <a16:rowId xmlns:a16="http://schemas.microsoft.com/office/drawing/2014/main" val="10002"/>
                  </a:ext>
                </a:extLst>
              </a:tr>
              <a:tr h="548640">
                <a:tc>
                  <a:txBody>
                    <a:bodyPr/>
                    <a:lstStyle/>
                    <a:p>
                      <a:pPr defTabSz="914400">
                        <a:lnSpc>
                          <a:spcPct val="100000"/>
                        </a:lnSpc>
                        <a:tabLst>
                          <a:tab pos="0" algn="l"/>
                        </a:tabLst>
                      </a:pPr>
                      <a:r>
                        <a:rPr lang="en-US" sz="1350" b="1" u="none" strike="noStrike">
                          <a:solidFill>
                            <a:srgbClr val="5E2A75"/>
                          </a:solidFill>
                          <a:effectLst/>
                          <a:uFillTx/>
                          <a:latin typeface="Calibri"/>
                          <a:ea typeface="Calibri"/>
                        </a:rPr>
                        <a:t>PGGB</a:t>
                      </a:r>
                      <a:endParaRPr lang="de-DE" sz="13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350" b="1" u="none" strike="noStrike">
                          <a:solidFill>
                            <a:srgbClr val="2B2331"/>
                          </a:solidFill>
                          <a:effectLst/>
                          <a:uFillTx/>
                          <a:latin typeface="Calibri"/>
                          <a:ea typeface="Calibri"/>
                        </a:rPr>
                        <a:t>base-level</a:t>
                      </a:r>
                      <a:endParaRPr lang="de-DE" sz="13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350" b="1" u="none" strike="noStrike">
                          <a:solidFill>
                            <a:srgbClr val="2B2331"/>
                          </a:solidFill>
                          <a:effectLst/>
                          <a:uFillTx/>
                          <a:latin typeface="Calibri"/>
                          <a:ea typeface="Calibri"/>
                        </a:rPr>
                        <a:t>reference-free</a:t>
                      </a:r>
                      <a:endParaRPr lang="de-DE" sz="13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350" b="1" u="none" strike="noStrike">
                          <a:solidFill>
                            <a:srgbClr val="2B2331"/>
                          </a:solidFill>
                          <a:effectLst/>
                          <a:uFillTx/>
                          <a:latin typeface="Calibri"/>
                          <a:ea typeface="Calibri"/>
                        </a:rPr>
                        <a:t>All-vs-all, unbiased — our choice</a:t>
                      </a:r>
                      <a:endParaRPr lang="de-DE" sz="13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281" name="Shape 3"/>
          <p:cNvSpPr/>
          <p:nvPr/>
        </p:nvSpPr>
        <p:spPr>
          <a:xfrm>
            <a:off x="567000" y="4114800"/>
            <a:ext cx="5345640" cy="1645560"/>
          </a:xfrm>
          <a:prstGeom prst="roundRect">
            <a:avLst>
              <a:gd name="adj" fmla="val 3889"/>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82" name="Text 4"/>
          <p:cNvSpPr/>
          <p:nvPr/>
        </p:nvSpPr>
        <p:spPr>
          <a:xfrm>
            <a:off x="749880" y="4233600"/>
            <a:ext cx="4979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PGGB = PanGenome Graph Builder</a:t>
            </a:r>
            <a:endParaRPr lang="de-DE" sz="1350" b="0" u="none" strike="noStrike">
              <a:solidFill>
                <a:srgbClr val="000000"/>
              </a:solidFill>
              <a:effectLst/>
              <a:uFillTx/>
              <a:latin typeface="Arial"/>
            </a:endParaRPr>
          </a:p>
        </p:txBody>
      </p:sp>
      <p:sp>
        <p:nvSpPr>
          <p:cNvPr id="283" name="Text 5"/>
          <p:cNvSpPr/>
          <p:nvPr/>
        </p:nvSpPr>
        <p:spPr>
          <a:xfrm>
            <a:off x="768240" y="4645080"/>
            <a:ext cx="494352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u="none" strike="noStrike">
                <a:solidFill>
                  <a:srgbClr val="2B2331"/>
                </a:solidFill>
                <a:effectLst/>
                <a:uFillTx/>
                <a:latin typeface="Calibri"/>
                <a:ea typeface="Calibri"/>
              </a:rPr>
              <a:t>Reference-free &amp; symmetric: every genome enters an all-vs-all comparison, so no single genome is privileged and bias is minimised.</a:t>
            </a:r>
            <a:endParaRPr lang="de-DE" sz="1300" b="0" u="none" strike="noStrike">
              <a:solidFill>
                <a:srgbClr val="000000"/>
              </a:solidFill>
              <a:effectLst/>
              <a:uFillTx/>
              <a:latin typeface="Arial"/>
            </a:endParaRPr>
          </a:p>
        </p:txBody>
      </p:sp>
      <p:sp>
        <p:nvSpPr>
          <p:cNvPr id="284" name="Shape 6"/>
          <p:cNvSpPr/>
          <p:nvPr/>
        </p:nvSpPr>
        <p:spPr>
          <a:xfrm>
            <a:off x="6278760" y="4114800"/>
            <a:ext cx="5345640" cy="1645560"/>
          </a:xfrm>
          <a:prstGeom prst="roundRect">
            <a:avLst>
              <a:gd name="adj" fmla="val 3889"/>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85" name="Text 7"/>
          <p:cNvSpPr/>
          <p:nvPr/>
        </p:nvSpPr>
        <p:spPr>
          <a:xfrm>
            <a:off x="6461640" y="4233600"/>
            <a:ext cx="4979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Base-level resolution</a:t>
            </a:r>
            <a:endParaRPr lang="de-DE" sz="1350" b="0" u="none" strike="noStrike">
              <a:solidFill>
                <a:srgbClr val="000000"/>
              </a:solidFill>
              <a:effectLst/>
              <a:uFillTx/>
              <a:latin typeface="Arial"/>
            </a:endParaRPr>
          </a:p>
        </p:txBody>
      </p:sp>
      <p:sp>
        <p:nvSpPr>
          <p:cNvPr id="286" name="Text 8"/>
          <p:cNvSpPr/>
          <p:nvPr/>
        </p:nvSpPr>
        <p:spPr>
          <a:xfrm>
            <a:off x="6480000" y="4645080"/>
            <a:ext cx="494352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u="none" strike="noStrike">
                <a:solidFill>
                  <a:srgbClr val="2B2331"/>
                </a:solidFill>
                <a:effectLst/>
                <a:uFillTx/>
                <a:latin typeface="Calibri"/>
                <a:ea typeface="Calibri"/>
              </a:rPr>
              <a:t>Captures single-nucleotide changes through to large structural variants in one graph; widely used for plant pangenomes.</a:t>
            </a:r>
            <a:endParaRPr lang="de-DE" sz="130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7"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88"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BUILDING · PGGB</a:t>
            </a:r>
            <a:endParaRPr lang="de-DE" sz="1200" b="0" u="none" strike="noStrike">
              <a:solidFill>
                <a:srgbClr val="000000"/>
              </a:solidFill>
              <a:effectLst/>
              <a:uFillTx/>
              <a:latin typeface="Arial"/>
            </a:endParaRPr>
          </a:p>
        </p:txBody>
      </p:sp>
      <p:sp>
        <p:nvSpPr>
          <p:cNvPr id="289"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Inside PGGB: four steps to a graph</a:t>
            </a:r>
            <a:endParaRPr lang="de-DE" sz="2900" b="0" u="none" strike="noStrike">
              <a:solidFill>
                <a:srgbClr val="000000"/>
              </a:solidFill>
              <a:effectLst/>
              <a:uFillTx/>
              <a:latin typeface="Arial"/>
            </a:endParaRPr>
          </a:p>
        </p:txBody>
      </p:sp>
      <p:sp>
        <p:nvSpPr>
          <p:cNvPr id="290" name="Shape 3"/>
          <p:cNvSpPr/>
          <p:nvPr/>
        </p:nvSpPr>
        <p:spPr>
          <a:xfrm>
            <a:off x="567000" y="1874520"/>
            <a:ext cx="2421360" cy="2239920"/>
          </a:xfrm>
          <a:prstGeom prst="roundRect">
            <a:avLst>
              <a:gd name="adj" fmla="val 2857"/>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91" name="Shape 4"/>
          <p:cNvSpPr/>
          <p:nvPr/>
        </p:nvSpPr>
        <p:spPr>
          <a:xfrm>
            <a:off x="749880" y="2075760"/>
            <a:ext cx="456840" cy="456840"/>
          </a:xfrm>
          <a:prstGeom prst="ellipse">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92" name="Text 5"/>
          <p:cNvSpPr/>
          <p:nvPr/>
        </p:nvSpPr>
        <p:spPr>
          <a:xfrm>
            <a:off x="749880" y="207576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1</a:t>
            </a:r>
            <a:endParaRPr lang="de-DE" sz="2000" b="0" u="none" strike="noStrike">
              <a:solidFill>
                <a:srgbClr val="000000"/>
              </a:solidFill>
              <a:effectLst/>
              <a:uFillTx/>
              <a:latin typeface="Arial"/>
            </a:endParaRPr>
          </a:p>
        </p:txBody>
      </p:sp>
      <p:sp>
        <p:nvSpPr>
          <p:cNvPr id="293" name="Text 6"/>
          <p:cNvSpPr/>
          <p:nvPr/>
        </p:nvSpPr>
        <p:spPr>
          <a:xfrm>
            <a:off x="749880" y="2642760"/>
            <a:ext cx="20556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1476B"/>
                </a:solidFill>
                <a:effectLst/>
                <a:uFillTx/>
                <a:latin typeface="Consolas"/>
                <a:ea typeface="Consolas"/>
              </a:rPr>
              <a:t>wfmash</a:t>
            </a:r>
            <a:endParaRPr lang="de-DE" sz="1500" b="0" u="none" strike="noStrike">
              <a:solidFill>
                <a:srgbClr val="000000"/>
              </a:solidFill>
              <a:effectLst/>
              <a:uFillTx/>
              <a:latin typeface="Arial"/>
            </a:endParaRPr>
          </a:p>
        </p:txBody>
      </p:sp>
      <p:sp>
        <p:nvSpPr>
          <p:cNvPr id="294" name="Text 7"/>
          <p:cNvSpPr/>
          <p:nvPr/>
        </p:nvSpPr>
        <p:spPr>
          <a:xfrm>
            <a:off x="749880" y="2935080"/>
            <a:ext cx="2055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i="1" u="none" strike="noStrike">
                <a:solidFill>
                  <a:srgbClr val="726A7A"/>
                </a:solidFill>
                <a:effectLst/>
                <a:uFillTx/>
                <a:latin typeface="Calibri"/>
                <a:ea typeface="Calibri"/>
              </a:rPr>
              <a:t>all-vs-all alignment</a:t>
            </a:r>
            <a:endParaRPr lang="de-DE" sz="1100" b="0" u="none" strike="noStrike">
              <a:solidFill>
                <a:srgbClr val="000000"/>
              </a:solidFill>
              <a:effectLst/>
              <a:uFillTx/>
              <a:latin typeface="Arial"/>
            </a:endParaRPr>
          </a:p>
        </p:txBody>
      </p:sp>
      <p:sp>
        <p:nvSpPr>
          <p:cNvPr id="295" name="Text 8"/>
          <p:cNvSpPr/>
          <p:nvPr/>
        </p:nvSpPr>
        <p:spPr>
          <a:xfrm>
            <a:off x="749880" y="3209400"/>
            <a:ext cx="20556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2B2331"/>
                </a:solidFill>
                <a:effectLst/>
                <a:uFillTx/>
                <a:latin typeface="Calibri"/>
                <a:ea typeface="Calibri"/>
              </a:rPr>
              <a:t>Finds homologous segments between every pair of genomes (uses wavefront alignment, WFA).</a:t>
            </a:r>
            <a:endParaRPr lang="de-DE" sz="1100" b="0" u="none" strike="noStrike">
              <a:solidFill>
                <a:srgbClr val="000000"/>
              </a:solidFill>
              <a:effectLst/>
              <a:uFillTx/>
              <a:latin typeface="Arial"/>
            </a:endParaRPr>
          </a:p>
        </p:txBody>
      </p:sp>
      <p:sp>
        <p:nvSpPr>
          <p:cNvPr id="296" name="Shape 9"/>
          <p:cNvSpPr/>
          <p:nvPr/>
        </p:nvSpPr>
        <p:spPr>
          <a:xfrm>
            <a:off x="3052440" y="2875680"/>
            <a:ext cx="292320" cy="237240"/>
          </a:xfrm>
          <a:prstGeom prst="rtTriangle">
            <a:avLst/>
          </a:prstGeom>
          <a:solidFill>
            <a:srgbClr val="DE8E2C"/>
          </a:solidFill>
          <a:ln w="0">
            <a:noFill/>
          </a:ln>
        </p:spPr>
        <p:style>
          <a:lnRef idx="0">
            <a:scrgbClr r="0" g="0" b="0"/>
          </a:lnRef>
          <a:fillRef idx="0">
            <a:scrgbClr r="0" g="0" b="0"/>
          </a:fillRef>
          <a:effectRef idx="0">
            <a:scrgbClr r="0" g="0" b="0"/>
          </a:effectRef>
          <a:fontRef idx="minor"/>
        </p:style>
        <p:txBody>
          <a:bodyPr lIns="90000" tIns="34200" rIns="90000" bIns="34200" anchor="t">
            <a:noAutofit/>
          </a:bodyPr>
          <a:lstStyle/>
          <a:p>
            <a:endParaRPr lang="de-DE" sz="1800" b="0" u="none" strike="noStrike">
              <a:solidFill>
                <a:srgbClr val="000000"/>
              </a:solidFill>
              <a:effectLst/>
              <a:uFillTx/>
              <a:latin typeface="Arial"/>
            </a:endParaRPr>
          </a:p>
        </p:txBody>
      </p:sp>
      <p:sp>
        <p:nvSpPr>
          <p:cNvPr id="297" name="Shape 10"/>
          <p:cNvSpPr/>
          <p:nvPr/>
        </p:nvSpPr>
        <p:spPr>
          <a:xfrm>
            <a:off x="3445560" y="1874520"/>
            <a:ext cx="2421360" cy="2239920"/>
          </a:xfrm>
          <a:prstGeom prst="roundRect">
            <a:avLst>
              <a:gd name="adj" fmla="val 2857"/>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98" name="Shape 11"/>
          <p:cNvSpPr/>
          <p:nvPr/>
        </p:nvSpPr>
        <p:spPr>
          <a:xfrm>
            <a:off x="3628440" y="2075760"/>
            <a:ext cx="456840" cy="456840"/>
          </a:xfrm>
          <a:prstGeom prst="ellipse">
            <a:avLst/>
          </a:prstGeom>
          <a:solidFill>
            <a:srgbClr val="5E2A7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99" name="Text 12"/>
          <p:cNvSpPr/>
          <p:nvPr/>
        </p:nvSpPr>
        <p:spPr>
          <a:xfrm>
            <a:off x="3628440" y="207576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2</a:t>
            </a:r>
            <a:endParaRPr lang="de-DE" sz="2000" b="0" u="none" strike="noStrike">
              <a:solidFill>
                <a:srgbClr val="000000"/>
              </a:solidFill>
              <a:effectLst/>
              <a:uFillTx/>
              <a:latin typeface="Arial"/>
            </a:endParaRPr>
          </a:p>
        </p:txBody>
      </p:sp>
      <p:sp>
        <p:nvSpPr>
          <p:cNvPr id="300" name="Text 13"/>
          <p:cNvSpPr/>
          <p:nvPr/>
        </p:nvSpPr>
        <p:spPr>
          <a:xfrm>
            <a:off x="3628440" y="2642760"/>
            <a:ext cx="20556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E2A75"/>
                </a:solidFill>
                <a:effectLst/>
                <a:uFillTx/>
                <a:latin typeface="Consolas"/>
                <a:ea typeface="Consolas"/>
              </a:rPr>
              <a:t>seqwish</a:t>
            </a:r>
            <a:endParaRPr lang="de-DE" sz="1500" b="0" u="none" strike="noStrike">
              <a:solidFill>
                <a:srgbClr val="000000"/>
              </a:solidFill>
              <a:effectLst/>
              <a:uFillTx/>
              <a:latin typeface="Arial"/>
            </a:endParaRPr>
          </a:p>
        </p:txBody>
      </p:sp>
      <p:sp>
        <p:nvSpPr>
          <p:cNvPr id="301" name="Text 14"/>
          <p:cNvSpPr/>
          <p:nvPr/>
        </p:nvSpPr>
        <p:spPr>
          <a:xfrm>
            <a:off x="3628440" y="2935080"/>
            <a:ext cx="2055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i="1" u="none" strike="noStrike">
                <a:solidFill>
                  <a:srgbClr val="726A7A"/>
                </a:solidFill>
                <a:effectLst/>
                <a:uFillTx/>
                <a:latin typeface="Calibri"/>
                <a:ea typeface="Calibri"/>
              </a:rPr>
              <a:t>alignments → graph</a:t>
            </a:r>
            <a:endParaRPr lang="de-DE" sz="1100" b="0" u="none" strike="noStrike">
              <a:solidFill>
                <a:srgbClr val="000000"/>
              </a:solidFill>
              <a:effectLst/>
              <a:uFillTx/>
              <a:latin typeface="Arial"/>
            </a:endParaRPr>
          </a:p>
        </p:txBody>
      </p:sp>
      <p:sp>
        <p:nvSpPr>
          <p:cNvPr id="302" name="Text 15"/>
          <p:cNvSpPr/>
          <p:nvPr/>
        </p:nvSpPr>
        <p:spPr>
          <a:xfrm>
            <a:off x="3628440" y="3209400"/>
            <a:ext cx="20556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2B2331"/>
                </a:solidFill>
                <a:effectLst/>
                <a:uFillTx/>
                <a:latin typeface="Calibri"/>
                <a:ea typeface="Calibri"/>
              </a:rPr>
              <a:t>Induces a lossless sequence graph — no information is thrown away.</a:t>
            </a:r>
            <a:endParaRPr lang="de-DE" sz="1100" b="0" u="none" strike="noStrike">
              <a:solidFill>
                <a:srgbClr val="000000"/>
              </a:solidFill>
              <a:effectLst/>
              <a:uFillTx/>
              <a:latin typeface="Arial"/>
            </a:endParaRPr>
          </a:p>
        </p:txBody>
      </p:sp>
      <p:sp>
        <p:nvSpPr>
          <p:cNvPr id="303" name="Shape 16"/>
          <p:cNvSpPr/>
          <p:nvPr/>
        </p:nvSpPr>
        <p:spPr>
          <a:xfrm>
            <a:off x="5931360" y="2875680"/>
            <a:ext cx="292320" cy="237240"/>
          </a:xfrm>
          <a:prstGeom prst="rtTriangle">
            <a:avLst/>
          </a:prstGeom>
          <a:solidFill>
            <a:srgbClr val="DE8E2C"/>
          </a:solidFill>
          <a:ln w="0">
            <a:noFill/>
          </a:ln>
        </p:spPr>
        <p:style>
          <a:lnRef idx="0">
            <a:scrgbClr r="0" g="0" b="0"/>
          </a:lnRef>
          <a:fillRef idx="0">
            <a:scrgbClr r="0" g="0" b="0"/>
          </a:fillRef>
          <a:effectRef idx="0">
            <a:scrgbClr r="0" g="0" b="0"/>
          </a:effectRef>
          <a:fontRef idx="minor"/>
        </p:style>
        <p:txBody>
          <a:bodyPr lIns="90000" tIns="34200" rIns="90000" bIns="34200" anchor="t">
            <a:noAutofit/>
          </a:bodyPr>
          <a:lstStyle/>
          <a:p>
            <a:endParaRPr lang="de-DE" sz="1800" b="0" u="none" strike="noStrike">
              <a:solidFill>
                <a:srgbClr val="000000"/>
              </a:solidFill>
              <a:effectLst/>
              <a:uFillTx/>
              <a:latin typeface="Arial"/>
            </a:endParaRPr>
          </a:p>
        </p:txBody>
      </p:sp>
      <p:sp>
        <p:nvSpPr>
          <p:cNvPr id="304" name="Shape 17"/>
          <p:cNvSpPr/>
          <p:nvPr/>
        </p:nvSpPr>
        <p:spPr>
          <a:xfrm>
            <a:off x="6324480" y="1874520"/>
            <a:ext cx="2421360" cy="2239920"/>
          </a:xfrm>
          <a:prstGeom prst="roundRect">
            <a:avLst>
              <a:gd name="adj" fmla="val 2857"/>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05" name="Shape 18"/>
          <p:cNvSpPr/>
          <p:nvPr/>
        </p:nvSpPr>
        <p:spPr>
          <a:xfrm>
            <a:off x="6507360" y="2075760"/>
            <a:ext cx="456840" cy="456840"/>
          </a:xfrm>
          <a:prstGeom prst="ellipse">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06" name="Text 19"/>
          <p:cNvSpPr/>
          <p:nvPr/>
        </p:nvSpPr>
        <p:spPr>
          <a:xfrm>
            <a:off x="6507360" y="207576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3</a:t>
            </a:r>
            <a:endParaRPr lang="de-DE" sz="2000" b="0" u="none" strike="noStrike">
              <a:solidFill>
                <a:srgbClr val="000000"/>
              </a:solidFill>
              <a:effectLst/>
              <a:uFillTx/>
              <a:latin typeface="Arial"/>
            </a:endParaRPr>
          </a:p>
        </p:txBody>
      </p:sp>
      <p:sp>
        <p:nvSpPr>
          <p:cNvPr id="307" name="Text 20"/>
          <p:cNvSpPr/>
          <p:nvPr/>
        </p:nvSpPr>
        <p:spPr>
          <a:xfrm>
            <a:off x="6507360" y="2642760"/>
            <a:ext cx="20556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8246A0"/>
                </a:solidFill>
                <a:effectLst/>
                <a:uFillTx/>
                <a:latin typeface="Consolas"/>
                <a:ea typeface="Consolas"/>
              </a:rPr>
              <a:t>smoothxg</a:t>
            </a:r>
            <a:endParaRPr lang="de-DE" sz="1500" b="0" u="none" strike="noStrike">
              <a:solidFill>
                <a:srgbClr val="000000"/>
              </a:solidFill>
              <a:effectLst/>
              <a:uFillTx/>
              <a:latin typeface="Arial"/>
            </a:endParaRPr>
          </a:p>
        </p:txBody>
      </p:sp>
      <p:sp>
        <p:nvSpPr>
          <p:cNvPr id="308" name="Text 21"/>
          <p:cNvSpPr/>
          <p:nvPr/>
        </p:nvSpPr>
        <p:spPr>
          <a:xfrm>
            <a:off x="6507360" y="2935080"/>
            <a:ext cx="2055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i="1" u="none" strike="noStrike">
                <a:solidFill>
                  <a:srgbClr val="726A7A"/>
                </a:solidFill>
                <a:effectLst/>
                <a:uFillTx/>
                <a:latin typeface="Calibri"/>
                <a:ea typeface="Calibri"/>
              </a:rPr>
              <a:t>normalise &amp; smooth</a:t>
            </a:r>
            <a:endParaRPr lang="de-DE" sz="1100" b="0" u="none" strike="noStrike">
              <a:solidFill>
                <a:srgbClr val="000000"/>
              </a:solidFill>
              <a:effectLst/>
              <a:uFillTx/>
              <a:latin typeface="Arial"/>
            </a:endParaRPr>
          </a:p>
        </p:txBody>
      </p:sp>
      <p:sp>
        <p:nvSpPr>
          <p:cNvPr id="309" name="Text 22"/>
          <p:cNvSpPr/>
          <p:nvPr/>
        </p:nvSpPr>
        <p:spPr>
          <a:xfrm>
            <a:off x="6507360" y="3209400"/>
            <a:ext cx="20556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2B2331"/>
                </a:solidFill>
                <a:effectLst/>
                <a:uFillTx/>
                <a:latin typeface="Calibri"/>
                <a:ea typeface="Calibri"/>
              </a:rPr>
              <a:t>Local realignment with partial-order alignment (POA) tidies the graph.</a:t>
            </a:r>
            <a:endParaRPr lang="de-DE" sz="1100" b="0" u="none" strike="noStrike">
              <a:solidFill>
                <a:srgbClr val="000000"/>
              </a:solidFill>
              <a:effectLst/>
              <a:uFillTx/>
              <a:latin typeface="Arial"/>
            </a:endParaRPr>
          </a:p>
        </p:txBody>
      </p:sp>
      <p:sp>
        <p:nvSpPr>
          <p:cNvPr id="310" name="Shape 23"/>
          <p:cNvSpPr/>
          <p:nvPr/>
        </p:nvSpPr>
        <p:spPr>
          <a:xfrm>
            <a:off x="8809920" y="2875680"/>
            <a:ext cx="292320" cy="237240"/>
          </a:xfrm>
          <a:prstGeom prst="rtTriangle">
            <a:avLst/>
          </a:prstGeom>
          <a:solidFill>
            <a:srgbClr val="DE8E2C"/>
          </a:solidFill>
          <a:ln w="0">
            <a:noFill/>
          </a:ln>
        </p:spPr>
        <p:style>
          <a:lnRef idx="0">
            <a:scrgbClr r="0" g="0" b="0"/>
          </a:lnRef>
          <a:fillRef idx="0">
            <a:scrgbClr r="0" g="0" b="0"/>
          </a:fillRef>
          <a:effectRef idx="0">
            <a:scrgbClr r="0" g="0" b="0"/>
          </a:effectRef>
          <a:fontRef idx="minor"/>
        </p:style>
        <p:txBody>
          <a:bodyPr lIns="90000" tIns="34200" rIns="90000" bIns="34200" anchor="t">
            <a:noAutofit/>
          </a:bodyPr>
          <a:lstStyle/>
          <a:p>
            <a:endParaRPr lang="de-DE" sz="1800" b="0" u="none" strike="noStrike">
              <a:solidFill>
                <a:srgbClr val="000000"/>
              </a:solidFill>
              <a:effectLst/>
              <a:uFillTx/>
              <a:latin typeface="Arial"/>
            </a:endParaRPr>
          </a:p>
        </p:txBody>
      </p:sp>
      <p:sp>
        <p:nvSpPr>
          <p:cNvPr id="311" name="Shape 24"/>
          <p:cNvSpPr/>
          <p:nvPr/>
        </p:nvSpPr>
        <p:spPr>
          <a:xfrm>
            <a:off x="9203040" y="1874520"/>
            <a:ext cx="2421360" cy="2239920"/>
          </a:xfrm>
          <a:prstGeom prst="roundRect">
            <a:avLst>
              <a:gd name="adj" fmla="val 2857"/>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12" name="Shape 25"/>
          <p:cNvSpPr/>
          <p:nvPr/>
        </p:nvSpPr>
        <p:spPr>
          <a:xfrm>
            <a:off x="9385920" y="2075760"/>
            <a:ext cx="456840" cy="45684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13" name="Text 26"/>
          <p:cNvSpPr/>
          <p:nvPr/>
        </p:nvSpPr>
        <p:spPr>
          <a:xfrm>
            <a:off x="9385920" y="207576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4</a:t>
            </a:r>
            <a:endParaRPr lang="de-DE" sz="2000" b="0" u="none" strike="noStrike">
              <a:solidFill>
                <a:srgbClr val="000000"/>
              </a:solidFill>
              <a:effectLst/>
              <a:uFillTx/>
              <a:latin typeface="Arial"/>
            </a:endParaRPr>
          </a:p>
        </p:txBody>
      </p:sp>
      <p:sp>
        <p:nvSpPr>
          <p:cNvPr id="314" name="Text 27"/>
          <p:cNvSpPr/>
          <p:nvPr/>
        </p:nvSpPr>
        <p:spPr>
          <a:xfrm>
            <a:off x="9385920" y="2642760"/>
            <a:ext cx="20556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E8606B"/>
                </a:solidFill>
                <a:effectLst/>
                <a:uFillTx/>
                <a:latin typeface="Consolas"/>
                <a:ea typeface="Consolas"/>
              </a:rPr>
              <a:t>gfaffix</a:t>
            </a:r>
            <a:endParaRPr lang="de-DE" sz="1500" b="0" u="none" strike="noStrike">
              <a:solidFill>
                <a:srgbClr val="000000"/>
              </a:solidFill>
              <a:effectLst/>
              <a:uFillTx/>
              <a:latin typeface="Arial"/>
            </a:endParaRPr>
          </a:p>
        </p:txBody>
      </p:sp>
      <p:sp>
        <p:nvSpPr>
          <p:cNvPr id="315" name="Text 28"/>
          <p:cNvSpPr/>
          <p:nvPr/>
        </p:nvSpPr>
        <p:spPr>
          <a:xfrm>
            <a:off x="9385920" y="2935080"/>
            <a:ext cx="2055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i="1" u="none" strike="noStrike">
                <a:solidFill>
                  <a:srgbClr val="726A7A"/>
                </a:solidFill>
                <a:effectLst/>
                <a:uFillTx/>
                <a:latin typeface="Calibri"/>
                <a:ea typeface="Calibri"/>
              </a:rPr>
              <a:t>collapse redundancy</a:t>
            </a:r>
            <a:endParaRPr lang="de-DE" sz="1100" b="0" u="none" strike="noStrike">
              <a:solidFill>
                <a:srgbClr val="000000"/>
              </a:solidFill>
              <a:effectLst/>
              <a:uFillTx/>
              <a:latin typeface="Arial"/>
            </a:endParaRPr>
          </a:p>
        </p:txBody>
      </p:sp>
      <p:sp>
        <p:nvSpPr>
          <p:cNvPr id="316" name="Text 29"/>
          <p:cNvSpPr/>
          <p:nvPr/>
        </p:nvSpPr>
        <p:spPr>
          <a:xfrm>
            <a:off x="9385920" y="3209400"/>
            <a:ext cx="20556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2B2331"/>
                </a:solidFill>
                <a:effectLst/>
                <a:uFillTx/>
                <a:latin typeface="Calibri"/>
                <a:ea typeface="Calibri"/>
              </a:rPr>
              <a:t>Removes duplicated / redundant nodes for a compact graph.</a:t>
            </a:r>
            <a:endParaRPr lang="de-DE" sz="1100" b="0" u="none" strike="noStrike">
              <a:solidFill>
                <a:srgbClr val="000000"/>
              </a:solidFill>
              <a:effectLst/>
              <a:uFillTx/>
              <a:latin typeface="Arial"/>
            </a:endParaRPr>
          </a:p>
        </p:txBody>
      </p:sp>
      <p:sp>
        <p:nvSpPr>
          <p:cNvPr id="317" name="Shape 30"/>
          <p:cNvSpPr/>
          <p:nvPr/>
        </p:nvSpPr>
        <p:spPr>
          <a:xfrm>
            <a:off x="567000" y="4480560"/>
            <a:ext cx="11057400" cy="822600"/>
          </a:xfrm>
          <a:prstGeom prst="roundRect">
            <a:avLst>
              <a:gd name="adj" fmla="val 7778"/>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18" name="Text 31"/>
          <p:cNvSpPr/>
          <p:nvPr/>
        </p:nvSpPr>
        <p:spPr>
          <a:xfrm>
            <a:off x="841320" y="4480560"/>
            <a:ext cx="105087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5E2A75"/>
                </a:solidFill>
                <a:effectLst/>
                <a:uFillTx/>
                <a:latin typeface="Calibri"/>
                <a:ea typeface="Calibri"/>
              </a:rPr>
              <a:t>Output:  </a:t>
            </a:r>
            <a:r>
              <a:rPr lang="en-US" sz="1400" b="0" u="none" strike="noStrike">
                <a:solidFill>
                  <a:srgbClr val="2B2331"/>
                </a:solidFill>
                <a:effectLst/>
                <a:uFillTx/>
                <a:latin typeface="Calibri"/>
                <a:ea typeface="Calibri"/>
              </a:rPr>
              <a:t>a graph in GFA format (Graphical Fragment Assembly) + a native </a:t>
            </a:r>
            <a:r>
              <a:rPr lang="en-US" sz="1300" b="0" u="none" strike="noStrike">
                <a:solidFill>
                  <a:srgbClr val="21476B"/>
                </a:solidFill>
                <a:effectLst/>
                <a:uFillTx/>
                <a:latin typeface="Consolas"/>
                <a:ea typeface="Consolas"/>
              </a:rPr>
              <a:t>.og</a:t>
            </a:r>
            <a:r>
              <a:rPr lang="en-US" sz="1400" b="0" u="none" strike="noStrike">
                <a:solidFill>
                  <a:srgbClr val="2B2331"/>
                </a:solidFill>
                <a:effectLst/>
                <a:uFillTx/>
                <a:latin typeface="Calibri"/>
                <a:ea typeface="Calibri"/>
              </a:rPr>
              <a:t> file, plus odgi visualisations &amp; statistics for QC.</a:t>
            </a:r>
            <a:endParaRPr lang="de-DE" sz="140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9"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20"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BUILDING · CONVENTIONS</a:t>
            </a:r>
            <a:endParaRPr lang="de-DE" sz="1200" b="0" u="none" strike="noStrike">
              <a:solidFill>
                <a:srgbClr val="000000"/>
              </a:solidFill>
              <a:effectLst/>
              <a:uFillTx/>
              <a:latin typeface="Arial"/>
            </a:endParaRPr>
          </a:p>
        </p:txBody>
      </p:sp>
      <p:sp>
        <p:nvSpPr>
          <p:cNvPr id="321"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Naming sequences: the PanSN convention</a:t>
            </a:r>
            <a:endParaRPr lang="de-DE" sz="2900" b="0" u="none" strike="noStrike">
              <a:solidFill>
                <a:srgbClr val="000000"/>
              </a:solidFill>
              <a:effectLst/>
              <a:uFillTx/>
              <a:latin typeface="Arial"/>
            </a:endParaRPr>
          </a:p>
        </p:txBody>
      </p:sp>
      <p:sp>
        <p:nvSpPr>
          <p:cNvPr id="322" name="Shape 3"/>
          <p:cNvSpPr/>
          <p:nvPr/>
        </p:nvSpPr>
        <p:spPr>
          <a:xfrm>
            <a:off x="1847160" y="2011680"/>
            <a:ext cx="2468520" cy="822600"/>
          </a:xfrm>
          <a:prstGeom prst="roundRect">
            <a:avLst>
              <a:gd name="adj" fmla="val 6667"/>
            </a:avLst>
          </a:prstGeom>
          <a:solidFill>
            <a:srgbClr val="21476B"/>
          </a:solidFill>
          <a:ln w="0">
            <a:noFill/>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23" name="Text 4"/>
          <p:cNvSpPr/>
          <p:nvPr/>
        </p:nvSpPr>
        <p:spPr>
          <a:xfrm>
            <a:off x="1847160" y="2011680"/>
            <a:ext cx="24685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u="none" strike="noStrike">
                <a:solidFill>
                  <a:srgbClr val="FFFFFF"/>
                </a:solidFill>
                <a:effectLst/>
                <a:uFillTx/>
                <a:latin typeface="Consolas"/>
                <a:ea typeface="Consolas"/>
              </a:rPr>
              <a:t>GPE001970</a:t>
            </a:r>
            <a:endParaRPr lang="de-DE" sz="2400" b="0" u="none" strike="noStrike">
              <a:solidFill>
                <a:srgbClr val="000000"/>
              </a:solidFill>
              <a:effectLst/>
              <a:uFillTx/>
              <a:latin typeface="Arial"/>
            </a:endParaRPr>
          </a:p>
        </p:txBody>
      </p:sp>
      <p:sp>
        <p:nvSpPr>
          <p:cNvPr id="324" name="Text 5"/>
          <p:cNvSpPr/>
          <p:nvPr/>
        </p:nvSpPr>
        <p:spPr>
          <a:xfrm>
            <a:off x="1572840" y="2926080"/>
            <a:ext cx="3017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21476B"/>
                </a:solidFill>
                <a:effectLst/>
                <a:uFillTx/>
                <a:latin typeface="Calibri"/>
                <a:ea typeface="Calibri"/>
              </a:rPr>
              <a:t>sample</a:t>
            </a:r>
            <a:endParaRPr lang="de-DE" sz="1300" b="0" u="none" strike="noStrike">
              <a:solidFill>
                <a:srgbClr val="000000"/>
              </a:solidFill>
              <a:effectLst/>
              <a:uFillTx/>
              <a:latin typeface="Arial"/>
            </a:endParaRPr>
          </a:p>
        </p:txBody>
      </p:sp>
      <p:sp>
        <p:nvSpPr>
          <p:cNvPr id="325" name="Text 6"/>
          <p:cNvSpPr/>
          <p:nvPr/>
        </p:nvSpPr>
        <p:spPr>
          <a:xfrm>
            <a:off x="4389120" y="2011680"/>
            <a:ext cx="4568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400" b="1" u="none" strike="noStrike">
                <a:solidFill>
                  <a:srgbClr val="726A7A"/>
                </a:solidFill>
                <a:effectLst/>
                <a:uFillTx/>
                <a:latin typeface="Consolas"/>
                <a:ea typeface="Consolas"/>
              </a:rPr>
              <a:t>#</a:t>
            </a:r>
            <a:endParaRPr lang="de-DE" sz="3400" b="0" u="none" strike="noStrike">
              <a:solidFill>
                <a:srgbClr val="000000"/>
              </a:solidFill>
              <a:effectLst/>
              <a:uFillTx/>
              <a:latin typeface="Arial"/>
            </a:endParaRPr>
          </a:p>
        </p:txBody>
      </p:sp>
      <p:sp>
        <p:nvSpPr>
          <p:cNvPr id="326" name="Shape 7"/>
          <p:cNvSpPr/>
          <p:nvPr/>
        </p:nvSpPr>
        <p:spPr>
          <a:xfrm>
            <a:off x="4919400" y="2011680"/>
            <a:ext cx="1279800" cy="822600"/>
          </a:xfrm>
          <a:prstGeom prst="roundRect">
            <a:avLst>
              <a:gd name="adj" fmla="val 6667"/>
            </a:avLst>
          </a:prstGeom>
          <a:solidFill>
            <a:srgbClr val="E8606B"/>
          </a:solidFill>
          <a:ln w="0">
            <a:noFill/>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27" name="Text 8"/>
          <p:cNvSpPr/>
          <p:nvPr/>
        </p:nvSpPr>
        <p:spPr>
          <a:xfrm>
            <a:off x="4919400" y="2011680"/>
            <a:ext cx="12798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u="none" strike="noStrike">
                <a:solidFill>
                  <a:srgbClr val="FFFFFF"/>
                </a:solidFill>
                <a:effectLst/>
                <a:uFillTx/>
                <a:latin typeface="Consolas"/>
                <a:ea typeface="Consolas"/>
              </a:rPr>
              <a:t>1</a:t>
            </a:r>
            <a:endParaRPr lang="de-DE" sz="2400" b="0" u="none" strike="noStrike">
              <a:solidFill>
                <a:srgbClr val="000000"/>
              </a:solidFill>
              <a:effectLst/>
              <a:uFillTx/>
              <a:latin typeface="Arial"/>
            </a:endParaRPr>
          </a:p>
        </p:txBody>
      </p:sp>
      <p:sp>
        <p:nvSpPr>
          <p:cNvPr id="328" name="Text 9"/>
          <p:cNvSpPr/>
          <p:nvPr/>
        </p:nvSpPr>
        <p:spPr>
          <a:xfrm>
            <a:off x="4645080" y="2926080"/>
            <a:ext cx="1828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E8606B"/>
                </a:solidFill>
                <a:effectLst/>
                <a:uFillTx/>
                <a:latin typeface="Calibri"/>
                <a:ea typeface="Calibri"/>
              </a:rPr>
              <a:t>haplotype</a:t>
            </a:r>
            <a:endParaRPr lang="de-DE" sz="1300" b="0" u="none" strike="noStrike">
              <a:solidFill>
                <a:srgbClr val="000000"/>
              </a:solidFill>
              <a:effectLst/>
              <a:uFillTx/>
              <a:latin typeface="Arial"/>
            </a:endParaRPr>
          </a:p>
        </p:txBody>
      </p:sp>
      <p:sp>
        <p:nvSpPr>
          <p:cNvPr id="329" name="Text 10"/>
          <p:cNvSpPr/>
          <p:nvPr/>
        </p:nvSpPr>
        <p:spPr>
          <a:xfrm>
            <a:off x="6272640" y="2011680"/>
            <a:ext cx="4568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400" b="1" u="none" strike="noStrike">
                <a:solidFill>
                  <a:srgbClr val="726A7A"/>
                </a:solidFill>
                <a:effectLst/>
                <a:uFillTx/>
                <a:latin typeface="Consolas"/>
                <a:ea typeface="Consolas"/>
              </a:rPr>
              <a:t>#</a:t>
            </a:r>
            <a:endParaRPr lang="de-DE" sz="3400" b="0" u="none" strike="noStrike">
              <a:solidFill>
                <a:srgbClr val="000000"/>
              </a:solidFill>
              <a:effectLst/>
              <a:uFillTx/>
              <a:latin typeface="Arial"/>
            </a:endParaRPr>
          </a:p>
        </p:txBody>
      </p:sp>
      <p:sp>
        <p:nvSpPr>
          <p:cNvPr id="330" name="Shape 11"/>
          <p:cNvSpPr/>
          <p:nvPr/>
        </p:nvSpPr>
        <p:spPr>
          <a:xfrm>
            <a:off x="6803280" y="2011680"/>
            <a:ext cx="2194200" cy="822600"/>
          </a:xfrm>
          <a:prstGeom prst="roundRect">
            <a:avLst>
              <a:gd name="adj" fmla="val 6667"/>
            </a:avLst>
          </a:prstGeom>
          <a:solidFill>
            <a:srgbClr val="DE8E2C"/>
          </a:solidFill>
          <a:ln w="0">
            <a:noFill/>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31" name="Text 12"/>
          <p:cNvSpPr/>
          <p:nvPr/>
        </p:nvSpPr>
        <p:spPr>
          <a:xfrm>
            <a:off x="6803280" y="2011680"/>
            <a:ext cx="21942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u="none" strike="noStrike">
                <a:solidFill>
                  <a:srgbClr val="FFFFFF"/>
                </a:solidFill>
                <a:effectLst/>
                <a:uFillTx/>
                <a:latin typeface="Consolas"/>
                <a:ea typeface="Consolas"/>
              </a:rPr>
              <a:t>chr2</a:t>
            </a:r>
            <a:endParaRPr lang="de-DE" sz="2400" b="0" u="none" strike="noStrike">
              <a:solidFill>
                <a:srgbClr val="000000"/>
              </a:solidFill>
              <a:effectLst/>
              <a:uFillTx/>
              <a:latin typeface="Arial"/>
            </a:endParaRPr>
          </a:p>
        </p:txBody>
      </p:sp>
      <p:sp>
        <p:nvSpPr>
          <p:cNvPr id="332" name="Text 13"/>
          <p:cNvSpPr/>
          <p:nvPr/>
        </p:nvSpPr>
        <p:spPr>
          <a:xfrm>
            <a:off x="6528960" y="2926080"/>
            <a:ext cx="2742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DE8E2C"/>
                </a:solidFill>
                <a:effectLst/>
                <a:uFillTx/>
                <a:latin typeface="Calibri"/>
                <a:ea typeface="Calibri"/>
              </a:rPr>
              <a:t>contig / chromosome</a:t>
            </a:r>
            <a:endParaRPr lang="de-DE" sz="1300" b="0" u="none" strike="noStrike">
              <a:solidFill>
                <a:srgbClr val="000000"/>
              </a:solidFill>
              <a:effectLst/>
              <a:uFillTx/>
              <a:latin typeface="Arial"/>
            </a:endParaRPr>
          </a:p>
        </p:txBody>
      </p:sp>
      <p:sp>
        <p:nvSpPr>
          <p:cNvPr id="333" name="Shape 14"/>
          <p:cNvSpPr/>
          <p:nvPr/>
        </p:nvSpPr>
        <p:spPr>
          <a:xfrm>
            <a:off x="567000" y="4114800"/>
            <a:ext cx="11057400" cy="1371240"/>
          </a:xfrm>
          <a:prstGeom prst="roundRect">
            <a:avLst>
              <a:gd name="adj" fmla="val 4667"/>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34" name="Text 15"/>
          <p:cNvSpPr/>
          <p:nvPr/>
        </p:nvSpPr>
        <p:spPr>
          <a:xfrm>
            <a:off x="841320" y="4251960"/>
            <a:ext cx="10508760" cy="114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99"/>
              </a:spcAft>
              <a:buClr>
                <a:srgbClr val="5E2A75"/>
              </a:buClr>
              <a:buFont typeface="Symbol" charset="2"/>
              <a:buChar char=""/>
            </a:pPr>
            <a:r>
              <a:rPr lang="en-US" sz="1300" b="1" u="none" strike="noStrike">
                <a:solidFill>
                  <a:srgbClr val="5E2A75"/>
                </a:solidFill>
                <a:effectLst/>
                <a:uFillTx/>
                <a:latin typeface="Calibri"/>
                <a:ea typeface="Calibri"/>
              </a:rPr>
              <a:t>PanSN = Pangenome Sequence Naming: sample # haplotype # contig</a:t>
            </a:r>
            <a:endParaRPr lang="de-DE" sz="1300" b="0" u="none" strike="noStrike">
              <a:solidFill>
                <a:srgbClr val="000000"/>
              </a:solidFill>
              <a:effectLst/>
              <a:uFillTx/>
              <a:latin typeface="Arial"/>
            </a:endParaRPr>
          </a:p>
          <a:p>
            <a:pPr marL="177840" indent="-177840" defTabSz="914400">
              <a:lnSpc>
                <a:spcPct val="100000"/>
              </a:lnSpc>
              <a:spcAft>
                <a:spcPts val="799"/>
              </a:spcAft>
              <a:buClr>
                <a:srgbClr val="2B2331"/>
              </a:buClr>
              <a:buFont typeface="Symbol" charset="2"/>
              <a:buChar char=""/>
            </a:pPr>
            <a:r>
              <a:rPr lang="en-US" sz="1300" b="0" u="none" strike="noStrike">
                <a:solidFill>
                  <a:srgbClr val="2B2331"/>
                </a:solidFill>
                <a:effectLst/>
                <a:uFillTx/>
                <a:latin typeface="Calibri"/>
                <a:ea typeface="Calibri"/>
              </a:rPr>
              <a:t>Haplotype = one of the chromosome copies (e.g. 1 or 2 in a diploid)</a:t>
            </a:r>
            <a:endParaRPr lang="de-DE" sz="1300" b="0" u="none" strike="noStrike">
              <a:solidFill>
                <a:srgbClr val="000000"/>
              </a:solidFill>
              <a:effectLst/>
              <a:uFillTx/>
              <a:latin typeface="Arial"/>
            </a:endParaRPr>
          </a:p>
          <a:p>
            <a:pPr marL="177840" indent="-177840" defTabSz="914400">
              <a:lnSpc>
                <a:spcPct val="100000"/>
              </a:lnSpc>
              <a:spcAft>
                <a:spcPts val="799"/>
              </a:spcAft>
              <a:buClr>
                <a:srgbClr val="2B2331"/>
              </a:buClr>
              <a:buFont typeface="Symbol" charset="2"/>
              <a:buChar char=""/>
            </a:pPr>
            <a:r>
              <a:rPr lang="en-US" sz="1300" b="0" u="none" strike="noStrike">
                <a:solidFill>
                  <a:srgbClr val="2B2331"/>
                </a:solidFill>
                <a:effectLst/>
                <a:uFillTx/>
                <a:latin typeface="Calibri"/>
                <a:ea typeface="Calibri"/>
              </a:rPr>
              <a:t>The shared scheme lets every tool track which path belongs to which genome through the graph</a:t>
            </a:r>
            <a:endParaRPr lang="de-DE" sz="13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5"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36"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BUILDING · STRATEGY</a:t>
            </a:r>
            <a:endParaRPr lang="de-DE" sz="1200" b="0" u="none" strike="noStrike">
              <a:solidFill>
                <a:srgbClr val="000000"/>
              </a:solidFill>
              <a:effectLst/>
              <a:uFillTx/>
              <a:latin typeface="Arial"/>
            </a:endParaRPr>
          </a:p>
        </p:txBody>
      </p:sp>
      <p:sp>
        <p:nvSpPr>
          <p:cNvPr id="337"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Build per chromosome (communities)</a:t>
            </a:r>
            <a:endParaRPr lang="de-DE" sz="2900" b="0" u="none" strike="noStrike">
              <a:solidFill>
                <a:srgbClr val="000000"/>
              </a:solidFill>
              <a:effectLst/>
              <a:uFillTx/>
              <a:latin typeface="Arial"/>
            </a:endParaRPr>
          </a:p>
        </p:txBody>
      </p:sp>
      <p:sp>
        <p:nvSpPr>
          <p:cNvPr id="338" name="Text 3"/>
          <p:cNvSpPr/>
          <p:nvPr/>
        </p:nvSpPr>
        <p:spPr>
          <a:xfrm>
            <a:off x="567000" y="1737360"/>
            <a:ext cx="5394600" cy="3291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99"/>
              </a:spcAft>
              <a:buClr>
                <a:srgbClr val="E8606B"/>
              </a:buClr>
              <a:buFont typeface="Symbol" charset="2"/>
              <a:buChar char=""/>
            </a:pPr>
            <a:r>
              <a:rPr lang="en-US" sz="1350" b="1" u="none" strike="noStrike">
                <a:solidFill>
                  <a:srgbClr val="E8606B"/>
                </a:solidFill>
                <a:effectLst/>
                <a:uFillTx/>
                <a:latin typeface="Calibri"/>
                <a:ea typeface="Calibri"/>
              </a:rPr>
              <a:t>Don't align a whole ~1.1 Gb genome at once (Gb = gigabase = 10⁹ bp)</a:t>
            </a:r>
            <a:endParaRPr lang="de-DE" sz="135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350" b="0" u="none" strike="noStrike">
                <a:solidFill>
                  <a:srgbClr val="2B2331"/>
                </a:solidFill>
                <a:effectLst/>
                <a:uFillTx/>
                <a:latin typeface="Calibri"/>
                <a:ea typeface="Calibri"/>
              </a:rPr>
              <a:t>Partition sequences into communities = chromosomes first (whole-genome alignment groups homologous sequence)</a:t>
            </a:r>
            <a:endParaRPr lang="de-DE" sz="135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350" b="0" u="none" strike="noStrike">
                <a:solidFill>
                  <a:srgbClr val="2B2331"/>
                </a:solidFill>
                <a:effectLst/>
                <a:uFillTx/>
                <a:latin typeface="Calibri"/>
                <a:ea typeface="Calibri"/>
              </a:rPr>
              <a:t>Build one graph per chromosome — independent runs</a:t>
            </a:r>
            <a:endParaRPr lang="de-DE" sz="135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350" b="0" u="none" strike="noStrike">
                <a:solidFill>
                  <a:srgbClr val="2B2331"/>
                </a:solidFill>
                <a:effectLst/>
                <a:uFillTx/>
                <a:latin typeface="Calibri"/>
                <a:ea typeface="Calibri"/>
              </a:rPr>
              <a:t>Runs in parallel: tractable, teachable, reproducible</a:t>
            </a:r>
            <a:endParaRPr lang="de-DE" sz="135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350" b="0" u="none" strike="noStrike">
                <a:solidFill>
                  <a:srgbClr val="2B2331"/>
                </a:solidFill>
                <a:effectLst/>
                <a:uFillTx/>
                <a:latin typeface="Calibri"/>
                <a:ea typeface="Calibri"/>
              </a:rPr>
              <a:t>Combine afterwards (odgi squeeze) for genome-wide statistics</a:t>
            </a:r>
            <a:endParaRPr lang="de-DE" sz="1350" b="0" u="none" strike="noStrike">
              <a:solidFill>
                <a:srgbClr val="000000"/>
              </a:solidFill>
              <a:effectLst/>
              <a:uFillTx/>
              <a:latin typeface="Arial"/>
            </a:endParaRPr>
          </a:p>
        </p:txBody>
      </p:sp>
      <p:sp>
        <p:nvSpPr>
          <p:cNvPr id="339" name="Text 4"/>
          <p:cNvSpPr/>
          <p:nvPr/>
        </p:nvSpPr>
        <p:spPr>
          <a:xfrm>
            <a:off x="567000" y="5029200"/>
            <a:ext cx="53946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i="1" u="none" strike="noStrike">
                <a:solidFill>
                  <a:srgbClr val="726A7A"/>
                </a:solidFill>
                <a:effectLst/>
                <a:uFillTx/>
                <a:latin typeface="Calibri"/>
                <a:ea typeface="Calibri"/>
              </a:rPr>
              <a:t>The eggplant pangenome partitioned into 12 communities, one per chromosome.</a:t>
            </a:r>
            <a:endParaRPr lang="de-DE" sz="1100" b="0" u="none" strike="noStrike">
              <a:solidFill>
                <a:srgbClr val="000000"/>
              </a:solidFill>
              <a:effectLst/>
              <a:uFillTx/>
              <a:latin typeface="Arial"/>
            </a:endParaRPr>
          </a:p>
        </p:txBody>
      </p:sp>
      <p:sp>
        <p:nvSpPr>
          <p:cNvPr id="340" name="Shape 5"/>
          <p:cNvSpPr/>
          <p:nvPr/>
        </p:nvSpPr>
        <p:spPr>
          <a:xfrm>
            <a:off x="6419160" y="1691640"/>
            <a:ext cx="5205240" cy="4114440"/>
          </a:xfrm>
          <a:prstGeom prst="roundRect">
            <a:avLst>
              <a:gd name="adj" fmla="val 1556"/>
            </a:avLst>
          </a:prstGeom>
          <a:solidFill>
            <a:srgbClr val="FBF8FD"/>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41" name="Text 6"/>
          <p:cNvSpPr/>
          <p:nvPr/>
        </p:nvSpPr>
        <p:spPr>
          <a:xfrm>
            <a:off x="6647760" y="1874520"/>
            <a:ext cx="474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u="none" strike="noStrike">
                <a:solidFill>
                  <a:srgbClr val="5E2A75"/>
                </a:solidFill>
                <a:effectLst/>
                <a:uFillTx/>
                <a:latin typeface="Calibri"/>
                <a:ea typeface="Calibri"/>
              </a:rPr>
              <a:t>all genomes  →  split by chromosome</a:t>
            </a:r>
            <a:endParaRPr lang="de-DE" sz="1250" b="0" u="none" strike="noStrike">
              <a:solidFill>
                <a:srgbClr val="000000"/>
              </a:solidFill>
              <a:effectLst/>
              <a:uFillTx/>
              <a:latin typeface="Arial"/>
            </a:endParaRPr>
          </a:p>
        </p:txBody>
      </p:sp>
      <p:sp>
        <p:nvSpPr>
          <p:cNvPr id="342" name="Shape 7"/>
          <p:cNvSpPr/>
          <p:nvPr/>
        </p:nvSpPr>
        <p:spPr>
          <a:xfrm>
            <a:off x="6830640" y="2377440"/>
            <a:ext cx="958320" cy="566640"/>
          </a:xfrm>
          <a:prstGeom prst="roundRect">
            <a:avLst>
              <a:gd name="adj" fmla="val 8065"/>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43" name="Text 8"/>
          <p:cNvSpPr/>
          <p:nvPr/>
        </p:nvSpPr>
        <p:spPr>
          <a:xfrm>
            <a:off x="6830640" y="2377440"/>
            <a:ext cx="9583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chr1</a:t>
            </a:r>
            <a:endParaRPr lang="de-DE" sz="1200" b="0" u="none" strike="noStrike">
              <a:solidFill>
                <a:srgbClr val="000000"/>
              </a:solidFill>
              <a:effectLst/>
              <a:uFillTx/>
              <a:latin typeface="Arial"/>
            </a:endParaRPr>
          </a:p>
        </p:txBody>
      </p:sp>
      <p:sp>
        <p:nvSpPr>
          <p:cNvPr id="344" name="Shape 9"/>
          <p:cNvSpPr/>
          <p:nvPr/>
        </p:nvSpPr>
        <p:spPr>
          <a:xfrm>
            <a:off x="7971840" y="2377440"/>
            <a:ext cx="958320" cy="566640"/>
          </a:xfrm>
          <a:prstGeom prst="roundRect">
            <a:avLst>
              <a:gd name="adj" fmla="val 8065"/>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45" name="Text 10"/>
          <p:cNvSpPr/>
          <p:nvPr/>
        </p:nvSpPr>
        <p:spPr>
          <a:xfrm>
            <a:off x="7971840" y="2377440"/>
            <a:ext cx="9583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chr2</a:t>
            </a:r>
            <a:endParaRPr lang="de-DE" sz="1200" b="0" u="none" strike="noStrike">
              <a:solidFill>
                <a:srgbClr val="000000"/>
              </a:solidFill>
              <a:effectLst/>
              <a:uFillTx/>
              <a:latin typeface="Arial"/>
            </a:endParaRPr>
          </a:p>
        </p:txBody>
      </p:sp>
      <p:sp>
        <p:nvSpPr>
          <p:cNvPr id="346" name="Shape 11"/>
          <p:cNvSpPr/>
          <p:nvPr/>
        </p:nvSpPr>
        <p:spPr>
          <a:xfrm>
            <a:off x="9113400" y="2377440"/>
            <a:ext cx="958320" cy="566640"/>
          </a:xfrm>
          <a:prstGeom prst="roundRect">
            <a:avLst>
              <a:gd name="adj" fmla="val 8065"/>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47" name="Text 12"/>
          <p:cNvSpPr/>
          <p:nvPr/>
        </p:nvSpPr>
        <p:spPr>
          <a:xfrm>
            <a:off x="9113400" y="2377440"/>
            <a:ext cx="9583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chr3</a:t>
            </a:r>
            <a:endParaRPr lang="de-DE" sz="1200" b="0" u="none" strike="noStrike">
              <a:solidFill>
                <a:srgbClr val="000000"/>
              </a:solidFill>
              <a:effectLst/>
              <a:uFillTx/>
              <a:latin typeface="Arial"/>
            </a:endParaRPr>
          </a:p>
        </p:txBody>
      </p:sp>
      <p:sp>
        <p:nvSpPr>
          <p:cNvPr id="348" name="Shape 13"/>
          <p:cNvSpPr/>
          <p:nvPr/>
        </p:nvSpPr>
        <p:spPr>
          <a:xfrm>
            <a:off x="10254600" y="2377440"/>
            <a:ext cx="958320" cy="566640"/>
          </a:xfrm>
          <a:prstGeom prst="roundRect">
            <a:avLst>
              <a:gd name="adj" fmla="val 8065"/>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49" name="Text 14"/>
          <p:cNvSpPr/>
          <p:nvPr/>
        </p:nvSpPr>
        <p:spPr>
          <a:xfrm>
            <a:off x="10254600" y="2377440"/>
            <a:ext cx="9583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chr4</a:t>
            </a:r>
            <a:endParaRPr lang="de-DE" sz="1200" b="0" u="none" strike="noStrike">
              <a:solidFill>
                <a:srgbClr val="000000"/>
              </a:solidFill>
              <a:effectLst/>
              <a:uFillTx/>
              <a:latin typeface="Arial"/>
            </a:endParaRPr>
          </a:p>
        </p:txBody>
      </p:sp>
      <p:sp>
        <p:nvSpPr>
          <p:cNvPr id="350" name="Shape 15"/>
          <p:cNvSpPr/>
          <p:nvPr/>
        </p:nvSpPr>
        <p:spPr>
          <a:xfrm>
            <a:off x="6830640" y="3127320"/>
            <a:ext cx="958320" cy="566640"/>
          </a:xfrm>
          <a:prstGeom prst="roundRect">
            <a:avLst>
              <a:gd name="adj" fmla="val 8065"/>
            </a:avLst>
          </a:prstGeom>
          <a:solidFill>
            <a:srgbClr val="5E2A7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51" name="Text 16"/>
          <p:cNvSpPr/>
          <p:nvPr/>
        </p:nvSpPr>
        <p:spPr>
          <a:xfrm>
            <a:off x="6830640" y="3127320"/>
            <a:ext cx="9583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chr5</a:t>
            </a:r>
            <a:endParaRPr lang="de-DE" sz="1200" b="0" u="none" strike="noStrike">
              <a:solidFill>
                <a:srgbClr val="000000"/>
              </a:solidFill>
              <a:effectLst/>
              <a:uFillTx/>
              <a:latin typeface="Arial"/>
            </a:endParaRPr>
          </a:p>
        </p:txBody>
      </p:sp>
      <p:sp>
        <p:nvSpPr>
          <p:cNvPr id="352" name="Shape 17"/>
          <p:cNvSpPr/>
          <p:nvPr/>
        </p:nvSpPr>
        <p:spPr>
          <a:xfrm>
            <a:off x="7971840" y="3127320"/>
            <a:ext cx="958320" cy="566640"/>
          </a:xfrm>
          <a:prstGeom prst="roundRect">
            <a:avLst>
              <a:gd name="adj" fmla="val 8065"/>
            </a:avLst>
          </a:prstGeom>
          <a:solidFill>
            <a:srgbClr val="5E2A7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53" name="Text 18"/>
          <p:cNvSpPr/>
          <p:nvPr/>
        </p:nvSpPr>
        <p:spPr>
          <a:xfrm>
            <a:off x="7971840" y="3127320"/>
            <a:ext cx="9583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chr6</a:t>
            </a:r>
            <a:endParaRPr lang="de-DE" sz="1200" b="0" u="none" strike="noStrike">
              <a:solidFill>
                <a:srgbClr val="000000"/>
              </a:solidFill>
              <a:effectLst/>
              <a:uFillTx/>
              <a:latin typeface="Arial"/>
            </a:endParaRPr>
          </a:p>
        </p:txBody>
      </p:sp>
      <p:sp>
        <p:nvSpPr>
          <p:cNvPr id="354" name="Shape 19"/>
          <p:cNvSpPr/>
          <p:nvPr/>
        </p:nvSpPr>
        <p:spPr>
          <a:xfrm>
            <a:off x="9113400" y="3127320"/>
            <a:ext cx="958320" cy="566640"/>
          </a:xfrm>
          <a:prstGeom prst="roundRect">
            <a:avLst>
              <a:gd name="adj" fmla="val 8065"/>
            </a:avLst>
          </a:prstGeom>
          <a:solidFill>
            <a:srgbClr val="5E2A7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55" name="Text 20"/>
          <p:cNvSpPr/>
          <p:nvPr/>
        </p:nvSpPr>
        <p:spPr>
          <a:xfrm>
            <a:off x="9113400" y="3127320"/>
            <a:ext cx="9583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chr7</a:t>
            </a:r>
            <a:endParaRPr lang="de-DE" sz="1200" b="0" u="none" strike="noStrike">
              <a:solidFill>
                <a:srgbClr val="000000"/>
              </a:solidFill>
              <a:effectLst/>
              <a:uFillTx/>
              <a:latin typeface="Arial"/>
            </a:endParaRPr>
          </a:p>
        </p:txBody>
      </p:sp>
      <p:sp>
        <p:nvSpPr>
          <p:cNvPr id="356" name="Shape 21"/>
          <p:cNvSpPr/>
          <p:nvPr/>
        </p:nvSpPr>
        <p:spPr>
          <a:xfrm>
            <a:off x="10254600" y="3127320"/>
            <a:ext cx="958320" cy="566640"/>
          </a:xfrm>
          <a:prstGeom prst="roundRect">
            <a:avLst>
              <a:gd name="adj" fmla="val 8065"/>
            </a:avLst>
          </a:prstGeom>
          <a:solidFill>
            <a:srgbClr val="5E2A7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57" name="Text 22"/>
          <p:cNvSpPr/>
          <p:nvPr/>
        </p:nvSpPr>
        <p:spPr>
          <a:xfrm>
            <a:off x="10254600" y="3127320"/>
            <a:ext cx="9583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chr8</a:t>
            </a:r>
            <a:endParaRPr lang="de-DE" sz="1200" b="0" u="none" strike="noStrike">
              <a:solidFill>
                <a:srgbClr val="000000"/>
              </a:solidFill>
              <a:effectLst/>
              <a:uFillTx/>
              <a:latin typeface="Arial"/>
            </a:endParaRPr>
          </a:p>
        </p:txBody>
      </p:sp>
      <p:sp>
        <p:nvSpPr>
          <p:cNvPr id="358" name="Shape 23"/>
          <p:cNvSpPr/>
          <p:nvPr/>
        </p:nvSpPr>
        <p:spPr>
          <a:xfrm>
            <a:off x="6830640" y="3877200"/>
            <a:ext cx="958320" cy="566640"/>
          </a:xfrm>
          <a:prstGeom prst="roundRect">
            <a:avLst>
              <a:gd name="adj" fmla="val 8065"/>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59" name="Text 24"/>
          <p:cNvSpPr/>
          <p:nvPr/>
        </p:nvSpPr>
        <p:spPr>
          <a:xfrm>
            <a:off x="6830640" y="3877200"/>
            <a:ext cx="9583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chr9</a:t>
            </a:r>
            <a:endParaRPr lang="de-DE" sz="1200" b="0" u="none" strike="noStrike">
              <a:solidFill>
                <a:srgbClr val="000000"/>
              </a:solidFill>
              <a:effectLst/>
              <a:uFillTx/>
              <a:latin typeface="Arial"/>
            </a:endParaRPr>
          </a:p>
        </p:txBody>
      </p:sp>
      <p:sp>
        <p:nvSpPr>
          <p:cNvPr id="360" name="Shape 25"/>
          <p:cNvSpPr/>
          <p:nvPr/>
        </p:nvSpPr>
        <p:spPr>
          <a:xfrm>
            <a:off x="7971840" y="3877200"/>
            <a:ext cx="958320" cy="566640"/>
          </a:xfrm>
          <a:prstGeom prst="roundRect">
            <a:avLst>
              <a:gd name="adj" fmla="val 8065"/>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61" name="Text 26"/>
          <p:cNvSpPr/>
          <p:nvPr/>
        </p:nvSpPr>
        <p:spPr>
          <a:xfrm>
            <a:off x="7971840" y="3877200"/>
            <a:ext cx="9583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chr10</a:t>
            </a:r>
            <a:endParaRPr lang="de-DE" sz="1200" b="0" u="none" strike="noStrike">
              <a:solidFill>
                <a:srgbClr val="000000"/>
              </a:solidFill>
              <a:effectLst/>
              <a:uFillTx/>
              <a:latin typeface="Arial"/>
            </a:endParaRPr>
          </a:p>
        </p:txBody>
      </p:sp>
      <p:sp>
        <p:nvSpPr>
          <p:cNvPr id="362" name="Shape 27"/>
          <p:cNvSpPr/>
          <p:nvPr/>
        </p:nvSpPr>
        <p:spPr>
          <a:xfrm>
            <a:off x="9113400" y="3877200"/>
            <a:ext cx="958320" cy="566640"/>
          </a:xfrm>
          <a:prstGeom prst="roundRect">
            <a:avLst>
              <a:gd name="adj" fmla="val 8065"/>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63" name="Text 28"/>
          <p:cNvSpPr/>
          <p:nvPr/>
        </p:nvSpPr>
        <p:spPr>
          <a:xfrm>
            <a:off x="9113400" y="3877200"/>
            <a:ext cx="9583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chr11</a:t>
            </a:r>
            <a:endParaRPr lang="de-DE" sz="1200" b="0" u="none" strike="noStrike">
              <a:solidFill>
                <a:srgbClr val="000000"/>
              </a:solidFill>
              <a:effectLst/>
              <a:uFillTx/>
              <a:latin typeface="Arial"/>
            </a:endParaRPr>
          </a:p>
        </p:txBody>
      </p:sp>
      <p:sp>
        <p:nvSpPr>
          <p:cNvPr id="364" name="Shape 29"/>
          <p:cNvSpPr/>
          <p:nvPr/>
        </p:nvSpPr>
        <p:spPr>
          <a:xfrm>
            <a:off x="10254600" y="3877200"/>
            <a:ext cx="958320" cy="566640"/>
          </a:xfrm>
          <a:prstGeom prst="roundRect">
            <a:avLst>
              <a:gd name="adj" fmla="val 8065"/>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65" name="Text 30"/>
          <p:cNvSpPr/>
          <p:nvPr/>
        </p:nvSpPr>
        <p:spPr>
          <a:xfrm>
            <a:off x="10254600" y="3877200"/>
            <a:ext cx="9583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chr12</a:t>
            </a:r>
            <a:endParaRPr lang="de-DE" sz="1200" b="0" u="none" strike="noStrike">
              <a:solidFill>
                <a:srgbClr val="000000"/>
              </a:solidFill>
              <a:effectLst/>
              <a:uFillTx/>
              <a:latin typeface="Arial"/>
            </a:endParaRPr>
          </a:p>
        </p:txBody>
      </p:sp>
      <p:sp>
        <p:nvSpPr>
          <p:cNvPr id="366" name="Text 31"/>
          <p:cNvSpPr/>
          <p:nvPr/>
        </p:nvSpPr>
        <p:spPr>
          <a:xfrm>
            <a:off x="6647760" y="5349240"/>
            <a:ext cx="47480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u="none" strike="noStrike">
                <a:solidFill>
                  <a:srgbClr val="E8606B"/>
                </a:solidFill>
                <a:effectLst/>
                <a:uFillTx/>
                <a:latin typeface="Calibri"/>
                <a:ea typeface="Calibri"/>
              </a:rPr>
              <a:t>→  12 graphs, built in parallel</a:t>
            </a:r>
            <a:endParaRPr lang="de-DE" sz="125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7"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68"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BUILDING · TUNING</a:t>
            </a:r>
            <a:endParaRPr lang="de-DE" sz="1200" b="0" u="none" strike="noStrike">
              <a:solidFill>
                <a:srgbClr val="000000"/>
              </a:solidFill>
              <a:effectLst/>
              <a:uFillTx/>
              <a:latin typeface="Arial"/>
            </a:endParaRPr>
          </a:p>
        </p:txBody>
      </p:sp>
      <p:sp>
        <p:nvSpPr>
          <p:cNvPr id="369"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Choosing parameters: a small sweep first</a:t>
            </a:r>
            <a:endParaRPr lang="de-DE" sz="2900" b="0" u="none" strike="noStrike">
              <a:solidFill>
                <a:srgbClr val="000000"/>
              </a:solidFill>
              <a:effectLst/>
              <a:uFillTx/>
              <a:latin typeface="Arial"/>
            </a:endParaRPr>
          </a:p>
        </p:txBody>
      </p:sp>
      <p:sp>
        <p:nvSpPr>
          <p:cNvPr id="370" name="Text 3"/>
          <p:cNvSpPr/>
          <p:nvPr/>
        </p:nvSpPr>
        <p:spPr>
          <a:xfrm>
            <a:off x="567000" y="1783080"/>
            <a:ext cx="5028840" cy="3200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Estimate divergence first (mash dist) → set −p, the minimum % identity</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Sweep segment length −s and minimum match −k on one chromosome</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Judge each with odgi stats: graph length, node count, maximum node degree</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5E2A75"/>
              </a:buClr>
              <a:buFont typeface="Symbol" charset="2"/>
              <a:buChar char=""/>
            </a:pPr>
            <a:r>
              <a:rPr lang="en-US" sz="1350" b="1" u="none" strike="noStrike">
                <a:solidFill>
                  <a:srgbClr val="5E2A75"/>
                </a:solidFill>
                <a:effectLst/>
                <a:uFillTx/>
                <a:latin typeface="Calibri"/>
                <a:ea typeface="Calibri"/>
              </a:rPr>
              <a:t>Pick the balanced graph — avoid both over-collapse and over-fragmentation</a:t>
            </a:r>
            <a:endParaRPr lang="de-DE" sz="1350" b="0" u="none" strike="noStrike">
              <a:solidFill>
                <a:srgbClr val="000000"/>
              </a:solidFill>
              <a:effectLst/>
              <a:uFillTx/>
              <a:latin typeface="Arial"/>
            </a:endParaRPr>
          </a:p>
        </p:txBody>
      </p:sp>
      <p:sp>
        <p:nvSpPr>
          <p:cNvPr id="371" name="Text 4"/>
          <p:cNvSpPr/>
          <p:nvPr/>
        </p:nvSpPr>
        <p:spPr>
          <a:xfrm>
            <a:off x="567000" y="4846320"/>
            <a:ext cx="5028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21476B"/>
                </a:solidFill>
                <a:effectLst/>
                <a:uFillTx/>
                <a:latin typeface="Consolas"/>
                <a:ea typeface="Consolas"/>
              </a:rPr>
              <a:t>Eggplant choice: −s 20000  −k 23  −p 93</a:t>
            </a:r>
            <a:endParaRPr lang="de-DE" sz="1400" b="0" u="none" strike="noStrike">
              <a:solidFill>
                <a:srgbClr val="000000"/>
              </a:solidFill>
              <a:effectLst/>
              <a:uFillTx/>
              <a:latin typeface="Arial"/>
            </a:endParaRPr>
          </a:p>
        </p:txBody>
      </p:sp>
      <p:sp>
        <p:nvSpPr>
          <p:cNvPr id="372" name="Text 5"/>
          <p:cNvSpPr/>
          <p:nvPr/>
        </p:nvSpPr>
        <p:spPr>
          <a:xfrm>
            <a:off x="6419160" y="1645920"/>
            <a:ext cx="3099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1" u="none" strike="noStrike">
                <a:solidFill>
                  <a:srgbClr val="726A7A"/>
                </a:solidFill>
                <a:effectLst/>
                <a:uFillTx/>
                <a:latin typeface="Calibri"/>
                <a:ea typeface="Calibri"/>
              </a:rPr>
              <a:t>minimum match  −k  →</a:t>
            </a:r>
            <a:endParaRPr lang="de-DE" sz="1150" b="0" u="none" strike="noStrike">
              <a:solidFill>
                <a:srgbClr val="000000"/>
              </a:solidFill>
              <a:effectLst/>
              <a:uFillTx/>
              <a:latin typeface="Arial"/>
            </a:endParaRPr>
          </a:p>
        </p:txBody>
      </p:sp>
      <p:sp>
        <p:nvSpPr>
          <p:cNvPr id="373" name="Text 6"/>
          <p:cNvSpPr/>
          <p:nvPr/>
        </p:nvSpPr>
        <p:spPr>
          <a:xfrm>
            <a:off x="5001840" y="3383280"/>
            <a:ext cx="1279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1" u="none" strike="noStrike">
                <a:solidFill>
                  <a:srgbClr val="726A7A"/>
                </a:solidFill>
                <a:effectLst/>
                <a:uFillTx/>
                <a:latin typeface="Calibri"/>
                <a:ea typeface="Calibri"/>
              </a:rPr>
              <a:t>segment  −s</a:t>
            </a:r>
            <a:endParaRPr lang="de-DE" sz="1150" b="0" u="none" strike="noStrike">
              <a:solidFill>
                <a:srgbClr val="000000"/>
              </a:solidFill>
              <a:effectLst/>
              <a:uFillTx/>
              <a:latin typeface="Arial"/>
            </a:endParaRPr>
          </a:p>
        </p:txBody>
      </p:sp>
      <p:sp>
        <p:nvSpPr>
          <p:cNvPr id="374" name="Text 7"/>
          <p:cNvSpPr/>
          <p:nvPr/>
        </p:nvSpPr>
        <p:spPr>
          <a:xfrm>
            <a:off x="6419160" y="2057400"/>
            <a:ext cx="9597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u="none" strike="noStrike">
                <a:solidFill>
                  <a:srgbClr val="2B2331"/>
                </a:solidFill>
                <a:effectLst/>
                <a:uFillTx/>
                <a:latin typeface="Consolas"/>
                <a:ea typeface="Consolas"/>
              </a:rPr>
              <a:t>k 19</a:t>
            </a:r>
            <a:endParaRPr lang="de-DE" sz="1050" b="0" u="none" strike="noStrike">
              <a:solidFill>
                <a:srgbClr val="000000"/>
              </a:solidFill>
              <a:effectLst/>
              <a:uFillTx/>
              <a:latin typeface="Arial"/>
            </a:endParaRPr>
          </a:p>
        </p:txBody>
      </p:sp>
      <p:sp>
        <p:nvSpPr>
          <p:cNvPr id="375" name="Text 8"/>
          <p:cNvSpPr/>
          <p:nvPr/>
        </p:nvSpPr>
        <p:spPr>
          <a:xfrm>
            <a:off x="7489080" y="2057400"/>
            <a:ext cx="9597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u="none" strike="noStrike">
                <a:solidFill>
                  <a:srgbClr val="2B2331"/>
                </a:solidFill>
                <a:effectLst/>
                <a:uFillTx/>
                <a:latin typeface="Consolas"/>
                <a:ea typeface="Consolas"/>
              </a:rPr>
              <a:t>k 23</a:t>
            </a:r>
            <a:endParaRPr lang="de-DE" sz="1050" b="0" u="none" strike="noStrike">
              <a:solidFill>
                <a:srgbClr val="000000"/>
              </a:solidFill>
              <a:effectLst/>
              <a:uFillTx/>
              <a:latin typeface="Arial"/>
            </a:endParaRPr>
          </a:p>
        </p:txBody>
      </p:sp>
      <p:sp>
        <p:nvSpPr>
          <p:cNvPr id="376" name="Text 9"/>
          <p:cNvSpPr/>
          <p:nvPr/>
        </p:nvSpPr>
        <p:spPr>
          <a:xfrm>
            <a:off x="8558640" y="2057400"/>
            <a:ext cx="9597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u="none" strike="noStrike">
                <a:solidFill>
                  <a:srgbClr val="2B2331"/>
                </a:solidFill>
                <a:effectLst/>
                <a:uFillTx/>
                <a:latin typeface="Consolas"/>
                <a:ea typeface="Consolas"/>
              </a:rPr>
              <a:t>k 47</a:t>
            </a:r>
            <a:endParaRPr lang="de-DE" sz="1050" b="0" u="none" strike="noStrike">
              <a:solidFill>
                <a:srgbClr val="000000"/>
              </a:solidFill>
              <a:effectLst/>
              <a:uFillTx/>
              <a:latin typeface="Arial"/>
            </a:endParaRPr>
          </a:p>
        </p:txBody>
      </p:sp>
      <p:sp>
        <p:nvSpPr>
          <p:cNvPr id="377" name="Text 10"/>
          <p:cNvSpPr/>
          <p:nvPr/>
        </p:nvSpPr>
        <p:spPr>
          <a:xfrm>
            <a:off x="5459040" y="2720520"/>
            <a:ext cx="8683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50" b="0" u="none" strike="noStrike">
                <a:solidFill>
                  <a:srgbClr val="2B2331"/>
                </a:solidFill>
                <a:effectLst/>
                <a:uFillTx/>
                <a:latin typeface="Consolas"/>
                <a:ea typeface="Consolas"/>
              </a:rPr>
              <a:t>s 10k</a:t>
            </a:r>
            <a:endParaRPr lang="de-DE" sz="1050" b="0" u="none" strike="noStrike">
              <a:solidFill>
                <a:srgbClr val="000000"/>
              </a:solidFill>
              <a:effectLst/>
              <a:uFillTx/>
              <a:latin typeface="Arial"/>
            </a:endParaRPr>
          </a:p>
        </p:txBody>
      </p:sp>
      <p:sp>
        <p:nvSpPr>
          <p:cNvPr id="378" name="Shape 11"/>
          <p:cNvSpPr/>
          <p:nvPr/>
        </p:nvSpPr>
        <p:spPr>
          <a:xfrm>
            <a:off x="6419160" y="2377440"/>
            <a:ext cx="959760" cy="959760"/>
          </a:xfrm>
          <a:prstGeom prst="roundRect">
            <a:avLst>
              <a:gd name="adj" fmla="val 4762"/>
            </a:avLst>
          </a:prstGeom>
          <a:solidFill>
            <a:srgbClr val="F5F0F8"/>
          </a:solidFill>
          <a:ln w="9525">
            <a:solidFill>
              <a:srgbClr val="E2D6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79" name="Text 12"/>
          <p:cNvSpPr/>
          <p:nvPr/>
        </p:nvSpPr>
        <p:spPr>
          <a:xfrm>
            <a:off x="6419160" y="2377440"/>
            <a:ext cx="95976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u="none" strike="noStrike">
                <a:solidFill>
                  <a:srgbClr val="726A7A"/>
                </a:solidFill>
                <a:effectLst/>
                <a:uFillTx/>
                <a:latin typeface="Calibri"/>
                <a:ea typeface="Calibri"/>
              </a:rPr>
              <a:t>tested</a:t>
            </a:r>
            <a:endParaRPr lang="de-DE" sz="1050" b="0" u="none" strike="noStrike">
              <a:solidFill>
                <a:srgbClr val="000000"/>
              </a:solidFill>
              <a:effectLst/>
              <a:uFillTx/>
              <a:latin typeface="Arial"/>
            </a:endParaRPr>
          </a:p>
        </p:txBody>
      </p:sp>
      <p:sp>
        <p:nvSpPr>
          <p:cNvPr id="380" name="Shape 13"/>
          <p:cNvSpPr/>
          <p:nvPr/>
        </p:nvSpPr>
        <p:spPr>
          <a:xfrm>
            <a:off x="7489080" y="2377440"/>
            <a:ext cx="959760" cy="959760"/>
          </a:xfrm>
          <a:prstGeom prst="roundRect">
            <a:avLst>
              <a:gd name="adj" fmla="val 4762"/>
            </a:avLst>
          </a:prstGeom>
          <a:solidFill>
            <a:srgbClr val="F5F0F8"/>
          </a:solidFill>
          <a:ln w="9525">
            <a:solidFill>
              <a:srgbClr val="E2D6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81" name="Text 14"/>
          <p:cNvSpPr/>
          <p:nvPr/>
        </p:nvSpPr>
        <p:spPr>
          <a:xfrm>
            <a:off x="7489080" y="2377440"/>
            <a:ext cx="95976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u="none" strike="noStrike">
                <a:solidFill>
                  <a:srgbClr val="726A7A"/>
                </a:solidFill>
                <a:effectLst/>
                <a:uFillTx/>
                <a:latin typeface="Calibri"/>
                <a:ea typeface="Calibri"/>
              </a:rPr>
              <a:t>tested</a:t>
            </a:r>
            <a:endParaRPr lang="de-DE" sz="1050" b="0" u="none" strike="noStrike">
              <a:solidFill>
                <a:srgbClr val="000000"/>
              </a:solidFill>
              <a:effectLst/>
              <a:uFillTx/>
              <a:latin typeface="Arial"/>
            </a:endParaRPr>
          </a:p>
        </p:txBody>
      </p:sp>
      <p:sp>
        <p:nvSpPr>
          <p:cNvPr id="382" name="Shape 15"/>
          <p:cNvSpPr/>
          <p:nvPr/>
        </p:nvSpPr>
        <p:spPr>
          <a:xfrm>
            <a:off x="8558640" y="2377440"/>
            <a:ext cx="959760" cy="959760"/>
          </a:xfrm>
          <a:prstGeom prst="roundRect">
            <a:avLst>
              <a:gd name="adj" fmla="val 4762"/>
            </a:avLst>
          </a:prstGeom>
          <a:solidFill>
            <a:srgbClr val="F5F0F8"/>
          </a:solidFill>
          <a:ln w="9525">
            <a:solidFill>
              <a:srgbClr val="E2D6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83" name="Text 16"/>
          <p:cNvSpPr/>
          <p:nvPr/>
        </p:nvSpPr>
        <p:spPr>
          <a:xfrm>
            <a:off x="8558640" y="2377440"/>
            <a:ext cx="95976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u="none" strike="noStrike">
                <a:solidFill>
                  <a:srgbClr val="726A7A"/>
                </a:solidFill>
                <a:effectLst/>
                <a:uFillTx/>
                <a:latin typeface="Calibri"/>
                <a:ea typeface="Calibri"/>
              </a:rPr>
              <a:t>tested</a:t>
            </a:r>
            <a:endParaRPr lang="de-DE" sz="1050" b="0" u="none" strike="noStrike">
              <a:solidFill>
                <a:srgbClr val="000000"/>
              </a:solidFill>
              <a:effectLst/>
              <a:uFillTx/>
              <a:latin typeface="Arial"/>
            </a:endParaRPr>
          </a:p>
        </p:txBody>
      </p:sp>
      <p:sp>
        <p:nvSpPr>
          <p:cNvPr id="384" name="Text 17"/>
          <p:cNvSpPr/>
          <p:nvPr/>
        </p:nvSpPr>
        <p:spPr>
          <a:xfrm>
            <a:off x="5459040" y="3790080"/>
            <a:ext cx="8683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50" b="0" u="none" strike="noStrike">
                <a:solidFill>
                  <a:srgbClr val="2B2331"/>
                </a:solidFill>
                <a:effectLst/>
                <a:uFillTx/>
                <a:latin typeface="Consolas"/>
                <a:ea typeface="Consolas"/>
              </a:rPr>
              <a:t>s 20k</a:t>
            </a:r>
            <a:endParaRPr lang="de-DE" sz="1050" b="0" u="none" strike="noStrike">
              <a:solidFill>
                <a:srgbClr val="000000"/>
              </a:solidFill>
              <a:effectLst/>
              <a:uFillTx/>
              <a:latin typeface="Arial"/>
            </a:endParaRPr>
          </a:p>
        </p:txBody>
      </p:sp>
      <p:sp>
        <p:nvSpPr>
          <p:cNvPr id="385" name="Shape 18"/>
          <p:cNvSpPr/>
          <p:nvPr/>
        </p:nvSpPr>
        <p:spPr>
          <a:xfrm>
            <a:off x="6419160" y="3447360"/>
            <a:ext cx="959760" cy="959760"/>
          </a:xfrm>
          <a:prstGeom prst="roundRect">
            <a:avLst>
              <a:gd name="adj" fmla="val 4762"/>
            </a:avLst>
          </a:prstGeom>
          <a:solidFill>
            <a:srgbClr val="F5F0F8"/>
          </a:solidFill>
          <a:ln w="9525">
            <a:solidFill>
              <a:srgbClr val="E2D6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86" name="Text 19"/>
          <p:cNvSpPr/>
          <p:nvPr/>
        </p:nvSpPr>
        <p:spPr>
          <a:xfrm>
            <a:off x="6419160" y="3447360"/>
            <a:ext cx="95976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u="none" strike="noStrike">
                <a:solidFill>
                  <a:srgbClr val="726A7A"/>
                </a:solidFill>
                <a:effectLst/>
                <a:uFillTx/>
                <a:latin typeface="Calibri"/>
                <a:ea typeface="Calibri"/>
              </a:rPr>
              <a:t>tested</a:t>
            </a:r>
            <a:endParaRPr lang="de-DE" sz="1050" b="0" u="none" strike="noStrike">
              <a:solidFill>
                <a:srgbClr val="000000"/>
              </a:solidFill>
              <a:effectLst/>
              <a:uFillTx/>
              <a:latin typeface="Arial"/>
            </a:endParaRPr>
          </a:p>
        </p:txBody>
      </p:sp>
      <p:sp>
        <p:nvSpPr>
          <p:cNvPr id="387" name="Shape 20"/>
          <p:cNvSpPr/>
          <p:nvPr/>
        </p:nvSpPr>
        <p:spPr>
          <a:xfrm>
            <a:off x="7489080" y="3447360"/>
            <a:ext cx="959760" cy="959760"/>
          </a:xfrm>
          <a:prstGeom prst="roundRect">
            <a:avLst>
              <a:gd name="adj" fmla="val 4762"/>
            </a:avLst>
          </a:prstGeom>
          <a:solidFill>
            <a:srgbClr val="5E2A75"/>
          </a:solidFill>
          <a:ln w="25400">
            <a:solidFill>
              <a:srgbClr val="5E2A75"/>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88" name="Text 21"/>
          <p:cNvSpPr/>
          <p:nvPr/>
        </p:nvSpPr>
        <p:spPr>
          <a:xfrm>
            <a:off x="7489080" y="3447360"/>
            <a:ext cx="95976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 chosen</a:t>
            </a:r>
            <a:endParaRPr lang="de-DE" sz="1200" b="0" u="none" strike="noStrike">
              <a:solidFill>
                <a:srgbClr val="000000"/>
              </a:solidFill>
              <a:effectLst/>
              <a:uFillTx/>
              <a:latin typeface="Arial"/>
            </a:endParaRPr>
          </a:p>
        </p:txBody>
      </p:sp>
      <p:sp>
        <p:nvSpPr>
          <p:cNvPr id="389" name="Shape 22"/>
          <p:cNvSpPr/>
          <p:nvPr/>
        </p:nvSpPr>
        <p:spPr>
          <a:xfrm>
            <a:off x="8558640" y="3447360"/>
            <a:ext cx="959760" cy="959760"/>
          </a:xfrm>
          <a:prstGeom prst="roundRect">
            <a:avLst>
              <a:gd name="adj" fmla="val 4762"/>
            </a:avLst>
          </a:prstGeom>
          <a:solidFill>
            <a:srgbClr val="F5F0F8"/>
          </a:solidFill>
          <a:ln w="9525">
            <a:solidFill>
              <a:srgbClr val="E2D6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90" name="Text 23"/>
          <p:cNvSpPr/>
          <p:nvPr/>
        </p:nvSpPr>
        <p:spPr>
          <a:xfrm>
            <a:off x="8558640" y="3447360"/>
            <a:ext cx="95976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u="none" strike="noStrike">
                <a:solidFill>
                  <a:srgbClr val="726A7A"/>
                </a:solidFill>
                <a:effectLst/>
                <a:uFillTx/>
                <a:latin typeface="Calibri"/>
                <a:ea typeface="Calibri"/>
              </a:rPr>
              <a:t>tested</a:t>
            </a:r>
            <a:endParaRPr lang="de-DE" sz="1050" b="0" u="none" strike="noStrike">
              <a:solidFill>
                <a:srgbClr val="000000"/>
              </a:solidFill>
              <a:effectLst/>
              <a:uFillTx/>
              <a:latin typeface="Arial"/>
            </a:endParaRPr>
          </a:p>
        </p:txBody>
      </p:sp>
      <p:sp>
        <p:nvSpPr>
          <p:cNvPr id="391" name="Text 24"/>
          <p:cNvSpPr/>
          <p:nvPr/>
        </p:nvSpPr>
        <p:spPr>
          <a:xfrm>
            <a:off x="5459040" y="4860000"/>
            <a:ext cx="8683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50" b="0" u="none" strike="noStrike">
                <a:solidFill>
                  <a:srgbClr val="2B2331"/>
                </a:solidFill>
                <a:effectLst/>
                <a:uFillTx/>
                <a:latin typeface="Consolas"/>
                <a:ea typeface="Consolas"/>
              </a:rPr>
              <a:t>s 30k</a:t>
            </a:r>
            <a:endParaRPr lang="de-DE" sz="1050" b="0" u="none" strike="noStrike">
              <a:solidFill>
                <a:srgbClr val="000000"/>
              </a:solidFill>
              <a:effectLst/>
              <a:uFillTx/>
              <a:latin typeface="Arial"/>
            </a:endParaRPr>
          </a:p>
        </p:txBody>
      </p:sp>
      <p:sp>
        <p:nvSpPr>
          <p:cNvPr id="392" name="Shape 25"/>
          <p:cNvSpPr/>
          <p:nvPr/>
        </p:nvSpPr>
        <p:spPr>
          <a:xfrm>
            <a:off x="6419160" y="4517280"/>
            <a:ext cx="959760" cy="959760"/>
          </a:xfrm>
          <a:prstGeom prst="roundRect">
            <a:avLst>
              <a:gd name="adj" fmla="val 4762"/>
            </a:avLst>
          </a:prstGeom>
          <a:solidFill>
            <a:srgbClr val="F5F0F8"/>
          </a:solidFill>
          <a:ln w="9525">
            <a:solidFill>
              <a:srgbClr val="E2D6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93" name="Text 26"/>
          <p:cNvSpPr/>
          <p:nvPr/>
        </p:nvSpPr>
        <p:spPr>
          <a:xfrm>
            <a:off x="6419160" y="4517280"/>
            <a:ext cx="95976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u="none" strike="noStrike">
                <a:solidFill>
                  <a:srgbClr val="726A7A"/>
                </a:solidFill>
                <a:effectLst/>
                <a:uFillTx/>
                <a:latin typeface="Calibri"/>
                <a:ea typeface="Calibri"/>
              </a:rPr>
              <a:t>tested</a:t>
            </a:r>
            <a:endParaRPr lang="de-DE" sz="1050" b="0" u="none" strike="noStrike">
              <a:solidFill>
                <a:srgbClr val="000000"/>
              </a:solidFill>
              <a:effectLst/>
              <a:uFillTx/>
              <a:latin typeface="Arial"/>
            </a:endParaRPr>
          </a:p>
        </p:txBody>
      </p:sp>
      <p:sp>
        <p:nvSpPr>
          <p:cNvPr id="394" name="Shape 27"/>
          <p:cNvSpPr/>
          <p:nvPr/>
        </p:nvSpPr>
        <p:spPr>
          <a:xfrm>
            <a:off x="7489080" y="4517280"/>
            <a:ext cx="959760" cy="959760"/>
          </a:xfrm>
          <a:prstGeom prst="roundRect">
            <a:avLst>
              <a:gd name="adj" fmla="val 4762"/>
            </a:avLst>
          </a:prstGeom>
          <a:solidFill>
            <a:srgbClr val="F5F0F8"/>
          </a:solidFill>
          <a:ln w="9525">
            <a:solidFill>
              <a:srgbClr val="E2D6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95" name="Text 28"/>
          <p:cNvSpPr/>
          <p:nvPr/>
        </p:nvSpPr>
        <p:spPr>
          <a:xfrm>
            <a:off x="7489080" y="4517280"/>
            <a:ext cx="95976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u="none" strike="noStrike">
                <a:solidFill>
                  <a:srgbClr val="726A7A"/>
                </a:solidFill>
                <a:effectLst/>
                <a:uFillTx/>
                <a:latin typeface="Calibri"/>
                <a:ea typeface="Calibri"/>
              </a:rPr>
              <a:t>tested</a:t>
            </a:r>
            <a:endParaRPr lang="de-DE" sz="1050" b="0" u="none" strike="noStrike">
              <a:solidFill>
                <a:srgbClr val="000000"/>
              </a:solidFill>
              <a:effectLst/>
              <a:uFillTx/>
              <a:latin typeface="Arial"/>
            </a:endParaRPr>
          </a:p>
        </p:txBody>
      </p:sp>
      <p:sp>
        <p:nvSpPr>
          <p:cNvPr id="396" name="Shape 29"/>
          <p:cNvSpPr/>
          <p:nvPr/>
        </p:nvSpPr>
        <p:spPr>
          <a:xfrm>
            <a:off x="8558640" y="4517280"/>
            <a:ext cx="959760" cy="959760"/>
          </a:xfrm>
          <a:prstGeom prst="roundRect">
            <a:avLst>
              <a:gd name="adj" fmla="val 4762"/>
            </a:avLst>
          </a:prstGeom>
          <a:solidFill>
            <a:srgbClr val="F5F0F8"/>
          </a:solidFill>
          <a:ln w="9525">
            <a:solidFill>
              <a:srgbClr val="E2D6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97" name="Text 30"/>
          <p:cNvSpPr/>
          <p:nvPr/>
        </p:nvSpPr>
        <p:spPr>
          <a:xfrm>
            <a:off x="8558640" y="4517280"/>
            <a:ext cx="95976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u="none" strike="noStrike">
                <a:solidFill>
                  <a:srgbClr val="726A7A"/>
                </a:solidFill>
                <a:effectLst/>
                <a:uFillTx/>
                <a:latin typeface="Calibri"/>
                <a:ea typeface="Calibri"/>
              </a:rPr>
              <a:t>tested</a:t>
            </a:r>
            <a:endParaRPr lang="de-DE" sz="1050" b="0" u="none" strike="noStrike">
              <a:solidFill>
                <a:srgbClr val="000000"/>
              </a:solidFill>
              <a:effectLst/>
              <a:uFillTx/>
              <a:latin typeface="Arial"/>
            </a:endParaRPr>
          </a:p>
        </p:txBody>
      </p:sp>
      <p:sp>
        <p:nvSpPr>
          <p:cNvPr id="398" name="Text 31"/>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−p = minimum sequence identity (%) to call homology · −s = segment length (bp) · −k = minimum exact-match length (bp). Lower −p for more divergent, cross-species genome sets.</a:t>
            </a:r>
            <a:endParaRPr lang="de-DE" sz="95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00"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BUILDING · HANDS-ON</a:t>
            </a:r>
            <a:endParaRPr lang="de-DE" sz="1200" b="0" u="none" strike="noStrike">
              <a:solidFill>
                <a:srgbClr val="000000"/>
              </a:solidFill>
              <a:effectLst/>
              <a:uFillTx/>
              <a:latin typeface="Arial"/>
            </a:endParaRPr>
          </a:p>
        </p:txBody>
      </p:sp>
      <p:sp>
        <p:nvSpPr>
          <p:cNvPr id="401"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Run PGGB on one chromosome</a:t>
            </a:r>
            <a:endParaRPr lang="de-DE" sz="2900" b="0" u="none" strike="noStrike">
              <a:solidFill>
                <a:srgbClr val="000000"/>
              </a:solidFill>
              <a:effectLst/>
              <a:uFillTx/>
              <a:latin typeface="Arial"/>
            </a:endParaRPr>
          </a:p>
        </p:txBody>
      </p:sp>
      <p:sp>
        <p:nvSpPr>
          <p:cNvPr id="402" name="Shape 3"/>
          <p:cNvSpPr/>
          <p:nvPr/>
        </p:nvSpPr>
        <p:spPr>
          <a:xfrm>
            <a:off x="567000" y="1645920"/>
            <a:ext cx="6674760" cy="4068720"/>
          </a:xfrm>
          <a:prstGeom prst="roundRect">
            <a:avLst>
              <a:gd name="adj" fmla="val 1348"/>
            </a:avLst>
          </a:prstGeom>
          <a:solidFill>
            <a:srgbClr val="23303F"/>
          </a:solidFill>
          <a:ln w="12700">
            <a:solidFill>
              <a:srgbClr val="33414F"/>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03" name="Text 4"/>
          <p:cNvSpPr/>
          <p:nvPr/>
        </p:nvSpPr>
        <p:spPr>
          <a:xfrm>
            <a:off x="822960" y="1847160"/>
            <a:ext cx="6217560" cy="365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2000"/>
              </a:lnSpc>
              <a:tabLst>
                <a:tab pos="0" algn="l"/>
              </a:tabLst>
            </a:pPr>
            <a:r>
              <a:rPr lang="en-US" sz="1250" b="0" u="none" strike="noStrike">
                <a:solidFill>
                  <a:srgbClr val="8FB0C9"/>
                </a:solidFill>
                <a:effectLst/>
                <a:uFillTx/>
                <a:latin typeface="Consolas"/>
                <a:ea typeface="Consolas"/>
              </a:rPr>
              <a:t># 1 · one FASTA, all genomes, PanSN-named</a:t>
            </a:r>
            <a:endParaRPr lang="de-DE" sz="1250" b="0" u="none" strike="noStrike">
              <a:solidFill>
                <a:srgbClr val="000000"/>
              </a:solidFill>
              <a:effectLst/>
              <a:uFillTx/>
              <a:latin typeface="Arial"/>
            </a:endParaRPr>
          </a:p>
          <a:p>
            <a:pPr defTabSz="914400">
              <a:lnSpc>
                <a:spcPct val="112000"/>
              </a:lnSpc>
              <a:tabLst>
                <a:tab pos="0" algn="l"/>
              </a:tabLst>
            </a:pPr>
            <a:r>
              <a:rPr lang="en-US" sz="1250" b="0" u="none" strike="noStrike">
                <a:solidFill>
                  <a:srgbClr val="8FB0C9"/>
                </a:solidFill>
                <a:effectLst/>
                <a:uFillTx/>
                <a:latin typeface="Consolas"/>
                <a:ea typeface="Consolas"/>
              </a:rPr>
              <a:t>#   sample#hap#contig   e.g. 67-3#1#chr2</a:t>
            </a:r>
            <a:endParaRPr lang="de-DE" sz="1250" b="0" u="none" strike="noStrike">
              <a:solidFill>
                <a:srgbClr val="000000"/>
              </a:solidFill>
              <a:effectLst/>
              <a:uFillTx/>
              <a:latin typeface="Arial"/>
            </a:endParaRPr>
          </a:p>
          <a:p>
            <a:pPr defTabSz="914400">
              <a:lnSpc>
                <a:spcPct val="112000"/>
              </a:lnSpc>
              <a:tabLst>
                <a:tab pos="0" algn="l"/>
              </a:tabLst>
            </a:pPr>
            <a:r>
              <a:rPr lang="en-US" sz="1350" b="0" u="none" strike="noStrike">
                <a:solidFill>
                  <a:srgbClr val="E7EEF5"/>
                </a:solidFill>
                <a:effectLst/>
                <a:uFillTx/>
                <a:latin typeface="Consolas"/>
                <a:ea typeface="Consolas"/>
              </a:rPr>
              <a:t>$ samtools faidx all_chr2.fa</a:t>
            </a:r>
            <a:endParaRPr lang="de-DE" sz="1350" b="0" u="none" strike="noStrike">
              <a:solidFill>
                <a:srgbClr val="000000"/>
              </a:solidFill>
              <a:effectLst/>
              <a:uFillTx/>
              <a:latin typeface="Arial"/>
            </a:endParaRPr>
          </a:p>
          <a:p>
            <a:pPr defTabSz="914400">
              <a:lnSpc>
                <a:spcPct val="112000"/>
              </a:lnSpc>
              <a:tabLst>
                <a:tab pos="0" algn="l"/>
              </a:tabLst>
            </a:pPr>
            <a:r>
              <a:rPr lang="en-US" sz="1350" b="0" u="none" strike="noStrike">
                <a:solidFill>
                  <a:srgbClr val="E7EEF5"/>
                </a:solidFill>
                <a:effectLst/>
                <a:uFillTx/>
                <a:latin typeface="Consolas"/>
                <a:ea typeface="Consolas"/>
              </a:rPr>
              <a:t> </a:t>
            </a:r>
            <a:endParaRPr lang="de-DE" sz="1350" b="0" u="none" strike="noStrike">
              <a:solidFill>
                <a:srgbClr val="000000"/>
              </a:solidFill>
              <a:effectLst/>
              <a:uFillTx/>
              <a:latin typeface="Arial"/>
            </a:endParaRPr>
          </a:p>
          <a:p>
            <a:pPr defTabSz="914400">
              <a:lnSpc>
                <a:spcPct val="112000"/>
              </a:lnSpc>
              <a:tabLst>
                <a:tab pos="0" algn="l"/>
              </a:tabLst>
            </a:pPr>
            <a:r>
              <a:rPr lang="en-US" sz="1250" b="0" u="none" strike="noStrike">
                <a:solidFill>
                  <a:srgbClr val="8FB0C9"/>
                </a:solidFill>
                <a:effectLst/>
                <a:uFillTx/>
                <a:latin typeface="Consolas"/>
                <a:ea typeface="Consolas"/>
              </a:rPr>
              <a:t># 2 · build the graph for this chromosome</a:t>
            </a:r>
            <a:endParaRPr lang="de-DE" sz="1250" b="0" u="none" strike="noStrike">
              <a:solidFill>
                <a:srgbClr val="000000"/>
              </a:solidFill>
              <a:effectLst/>
              <a:uFillTx/>
              <a:latin typeface="Arial"/>
            </a:endParaRPr>
          </a:p>
          <a:p>
            <a:pPr defTabSz="914400">
              <a:lnSpc>
                <a:spcPct val="112000"/>
              </a:lnSpc>
              <a:tabLst>
                <a:tab pos="0" algn="l"/>
              </a:tabLst>
            </a:pPr>
            <a:r>
              <a:rPr lang="en-US" sz="1350" b="0" u="none" strike="noStrike">
                <a:solidFill>
                  <a:srgbClr val="E7EEF5"/>
                </a:solidFill>
                <a:effectLst/>
                <a:uFillTx/>
                <a:latin typeface="Consolas"/>
                <a:ea typeface="Consolas"/>
              </a:rPr>
              <a:t>$ pggb -i all_chr2.fa \</a:t>
            </a:r>
            <a:endParaRPr lang="de-DE" sz="1350" b="0" u="none" strike="noStrike">
              <a:solidFill>
                <a:srgbClr val="000000"/>
              </a:solidFill>
              <a:effectLst/>
              <a:uFillTx/>
              <a:latin typeface="Arial"/>
            </a:endParaRPr>
          </a:p>
          <a:p>
            <a:pPr defTabSz="914400">
              <a:lnSpc>
                <a:spcPct val="112000"/>
              </a:lnSpc>
              <a:tabLst>
                <a:tab pos="0" algn="l"/>
              </a:tabLst>
            </a:pPr>
            <a:r>
              <a:rPr lang="en-US" sz="1350" b="0" u="none" strike="noStrike">
                <a:solidFill>
                  <a:srgbClr val="E7EEF5"/>
                </a:solidFill>
                <a:effectLst/>
                <a:uFillTx/>
                <a:latin typeface="Consolas"/>
                <a:ea typeface="Consolas"/>
              </a:rPr>
              <a:t>       -o chr2_graph/ \</a:t>
            </a:r>
            <a:endParaRPr lang="de-DE" sz="1350" b="0" u="none" strike="noStrike">
              <a:solidFill>
                <a:srgbClr val="000000"/>
              </a:solidFill>
              <a:effectLst/>
              <a:uFillTx/>
              <a:latin typeface="Arial"/>
            </a:endParaRPr>
          </a:p>
          <a:p>
            <a:pPr defTabSz="914400">
              <a:lnSpc>
                <a:spcPct val="112000"/>
              </a:lnSpc>
              <a:tabLst>
                <a:tab pos="0" algn="l"/>
              </a:tabLst>
            </a:pPr>
            <a:r>
              <a:rPr lang="en-US" sz="1350" b="0" u="none" strike="noStrike">
                <a:solidFill>
                  <a:srgbClr val="E7EEF5"/>
                </a:solidFill>
                <a:effectLst/>
                <a:uFillTx/>
                <a:latin typeface="Consolas"/>
                <a:ea typeface="Consolas"/>
              </a:rPr>
              <a:t>       -n 14   \   # number of haplotypes</a:t>
            </a:r>
            <a:endParaRPr lang="de-DE" sz="1350" b="0" u="none" strike="noStrike">
              <a:solidFill>
                <a:srgbClr val="000000"/>
              </a:solidFill>
              <a:effectLst/>
              <a:uFillTx/>
              <a:latin typeface="Arial"/>
            </a:endParaRPr>
          </a:p>
          <a:p>
            <a:pPr defTabSz="914400">
              <a:lnSpc>
                <a:spcPct val="112000"/>
              </a:lnSpc>
              <a:tabLst>
                <a:tab pos="0" algn="l"/>
              </a:tabLst>
            </a:pPr>
            <a:r>
              <a:rPr lang="en-US" sz="1350" b="0" u="none" strike="noStrike">
                <a:solidFill>
                  <a:srgbClr val="E7EEF5"/>
                </a:solidFill>
                <a:effectLst/>
                <a:uFillTx/>
                <a:latin typeface="Consolas"/>
                <a:ea typeface="Consolas"/>
              </a:rPr>
              <a:t>       -p 90   \   # min % identity (wfmash)</a:t>
            </a:r>
            <a:endParaRPr lang="de-DE" sz="1350" b="0" u="none" strike="noStrike">
              <a:solidFill>
                <a:srgbClr val="000000"/>
              </a:solidFill>
              <a:effectLst/>
              <a:uFillTx/>
              <a:latin typeface="Arial"/>
            </a:endParaRPr>
          </a:p>
          <a:p>
            <a:pPr defTabSz="914400">
              <a:lnSpc>
                <a:spcPct val="112000"/>
              </a:lnSpc>
              <a:tabLst>
                <a:tab pos="0" algn="l"/>
              </a:tabLst>
            </a:pPr>
            <a:r>
              <a:rPr lang="en-US" sz="1350" b="0" u="none" strike="noStrike">
                <a:solidFill>
                  <a:srgbClr val="E7EEF5"/>
                </a:solidFill>
                <a:effectLst/>
                <a:uFillTx/>
                <a:latin typeface="Consolas"/>
                <a:ea typeface="Consolas"/>
              </a:rPr>
              <a:t>       -s 10000 \  # segment length (bp)</a:t>
            </a:r>
            <a:endParaRPr lang="de-DE" sz="1350" b="0" u="none" strike="noStrike">
              <a:solidFill>
                <a:srgbClr val="000000"/>
              </a:solidFill>
              <a:effectLst/>
              <a:uFillTx/>
              <a:latin typeface="Arial"/>
            </a:endParaRPr>
          </a:p>
          <a:p>
            <a:pPr defTabSz="914400">
              <a:lnSpc>
                <a:spcPct val="112000"/>
              </a:lnSpc>
              <a:tabLst>
                <a:tab pos="0" algn="l"/>
              </a:tabLst>
            </a:pPr>
            <a:r>
              <a:rPr lang="en-US" sz="1350" b="0" u="none" strike="noStrike">
                <a:solidFill>
                  <a:srgbClr val="E7EEF5"/>
                </a:solidFill>
                <a:effectLst/>
                <a:uFillTx/>
                <a:latin typeface="Consolas"/>
                <a:ea typeface="Consolas"/>
              </a:rPr>
              <a:t>       -t 16        # CPU threads</a:t>
            </a:r>
            <a:endParaRPr lang="de-DE" sz="1350" b="0" u="none" strike="noStrike">
              <a:solidFill>
                <a:srgbClr val="000000"/>
              </a:solidFill>
              <a:effectLst/>
              <a:uFillTx/>
              <a:latin typeface="Arial"/>
            </a:endParaRPr>
          </a:p>
        </p:txBody>
      </p:sp>
      <p:sp>
        <p:nvSpPr>
          <p:cNvPr id="404" name="Shape 5"/>
          <p:cNvSpPr/>
          <p:nvPr/>
        </p:nvSpPr>
        <p:spPr>
          <a:xfrm>
            <a:off x="7653600" y="1645920"/>
            <a:ext cx="3970800" cy="907200"/>
          </a:xfrm>
          <a:prstGeom prst="roundRect">
            <a:avLst>
              <a:gd name="adj" fmla="val 7053"/>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05" name="Text 6"/>
          <p:cNvSpPr/>
          <p:nvPr/>
        </p:nvSpPr>
        <p:spPr>
          <a:xfrm>
            <a:off x="7836480" y="1755720"/>
            <a:ext cx="3605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E2A75"/>
                </a:solidFill>
                <a:effectLst/>
                <a:uFillTx/>
                <a:latin typeface="Consolas"/>
                <a:ea typeface="Consolas"/>
              </a:rPr>
              <a:t>-n</a:t>
            </a:r>
            <a:endParaRPr lang="de-DE" sz="1500" b="0" u="none" strike="noStrike">
              <a:solidFill>
                <a:srgbClr val="000000"/>
              </a:solidFill>
              <a:effectLst/>
              <a:uFillTx/>
              <a:latin typeface="Arial"/>
            </a:endParaRPr>
          </a:p>
        </p:txBody>
      </p:sp>
      <p:sp>
        <p:nvSpPr>
          <p:cNvPr id="406" name="Text 7"/>
          <p:cNvSpPr/>
          <p:nvPr/>
        </p:nvSpPr>
        <p:spPr>
          <a:xfrm>
            <a:off x="7836480" y="2066400"/>
            <a:ext cx="3605040" cy="45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2B2331"/>
                </a:solidFill>
                <a:effectLst/>
                <a:uFillTx/>
                <a:latin typeface="Calibri"/>
                <a:ea typeface="Calibri"/>
              </a:rPr>
              <a:t>number of haplotypes going into the graph</a:t>
            </a:r>
            <a:endParaRPr lang="de-DE" sz="1150" b="0" u="none" strike="noStrike">
              <a:solidFill>
                <a:srgbClr val="000000"/>
              </a:solidFill>
              <a:effectLst/>
              <a:uFillTx/>
              <a:latin typeface="Arial"/>
            </a:endParaRPr>
          </a:p>
        </p:txBody>
      </p:sp>
      <p:sp>
        <p:nvSpPr>
          <p:cNvPr id="407" name="Shape 8"/>
          <p:cNvSpPr/>
          <p:nvPr/>
        </p:nvSpPr>
        <p:spPr>
          <a:xfrm>
            <a:off x="7653600" y="2699640"/>
            <a:ext cx="3970800" cy="907200"/>
          </a:xfrm>
          <a:prstGeom prst="roundRect">
            <a:avLst>
              <a:gd name="adj" fmla="val 7053"/>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08" name="Text 9"/>
          <p:cNvSpPr/>
          <p:nvPr/>
        </p:nvSpPr>
        <p:spPr>
          <a:xfrm>
            <a:off x="7836480" y="2809440"/>
            <a:ext cx="3605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E2A75"/>
                </a:solidFill>
                <a:effectLst/>
                <a:uFillTx/>
                <a:latin typeface="Consolas"/>
                <a:ea typeface="Consolas"/>
              </a:rPr>
              <a:t>-p</a:t>
            </a:r>
            <a:endParaRPr lang="de-DE" sz="1500" b="0" u="none" strike="noStrike">
              <a:solidFill>
                <a:srgbClr val="000000"/>
              </a:solidFill>
              <a:effectLst/>
              <a:uFillTx/>
              <a:latin typeface="Arial"/>
            </a:endParaRPr>
          </a:p>
        </p:txBody>
      </p:sp>
      <p:sp>
        <p:nvSpPr>
          <p:cNvPr id="409" name="Text 10"/>
          <p:cNvSpPr/>
          <p:nvPr/>
        </p:nvSpPr>
        <p:spPr>
          <a:xfrm>
            <a:off x="7836480" y="3120480"/>
            <a:ext cx="3605040" cy="45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2B2331"/>
                </a:solidFill>
                <a:effectLst/>
                <a:uFillTx/>
                <a:latin typeface="Calibri"/>
                <a:ea typeface="Calibri"/>
              </a:rPr>
              <a:t>minimum % identity — lower it for divergent / cross-species sets</a:t>
            </a:r>
            <a:endParaRPr lang="de-DE" sz="1150" b="0" u="none" strike="noStrike">
              <a:solidFill>
                <a:srgbClr val="000000"/>
              </a:solidFill>
              <a:effectLst/>
              <a:uFillTx/>
              <a:latin typeface="Arial"/>
            </a:endParaRPr>
          </a:p>
        </p:txBody>
      </p:sp>
      <p:sp>
        <p:nvSpPr>
          <p:cNvPr id="410" name="Shape 11"/>
          <p:cNvSpPr/>
          <p:nvPr/>
        </p:nvSpPr>
        <p:spPr>
          <a:xfrm>
            <a:off x="7653600" y="3753720"/>
            <a:ext cx="3970800" cy="907200"/>
          </a:xfrm>
          <a:prstGeom prst="roundRect">
            <a:avLst>
              <a:gd name="adj" fmla="val 7053"/>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11" name="Text 12"/>
          <p:cNvSpPr/>
          <p:nvPr/>
        </p:nvSpPr>
        <p:spPr>
          <a:xfrm>
            <a:off x="7836480" y="3863520"/>
            <a:ext cx="3605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E2A75"/>
                </a:solidFill>
                <a:effectLst/>
                <a:uFillTx/>
                <a:latin typeface="Consolas"/>
                <a:ea typeface="Consolas"/>
              </a:rPr>
              <a:t>-s</a:t>
            </a:r>
            <a:endParaRPr lang="de-DE" sz="1500" b="0" u="none" strike="noStrike">
              <a:solidFill>
                <a:srgbClr val="000000"/>
              </a:solidFill>
              <a:effectLst/>
              <a:uFillTx/>
              <a:latin typeface="Arial"/>
            </a:endParaRPr>
          </a:p>
        </p:txBody>
      </p:sp>
      <p:sp>
        <p:nvSpPr>
          <p:cNvPr id="412" name="Text 13"/>
          <p:cNvSpPr/>
          <p:nvPr/>
        </p:nvSpPr>
        <p:spPr>
          <a:xfrm>
            <a:off x="7836480" y="4174200"/>
            <a:ext cx="3605040" cy="45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2B2331"/>
                </a:solidFill>
                <a:effectLst/>
                <a:uFillTx/>
                <a:latin typeface="Calibri"/>
                <a:ea typeface="Calibri"/>
              </a:rPr>
              <a:t>segment length — bigger = simpler graph, fewer tiny bubbles</a:t>
            </a:r>
            <a:endParaRPr lang="de-DE" sz="1150" b="0" u="none" strike="noStrike">
              <a:solidFill>
                <a:srgbClr val="000000"/>
              </a:solidFill>
              <a:effectLst/>
              <a:uFillTx/>
              <a:latin typeface="Arial"/>
            </a:endParaRPr>
          </a:p>
        </p:txBody>
      </p:sp>
      <p:sp>
        <p:nvSpPr>
          <p:cNvPr id="413" name="Shape 14"/>
          <p:cNvSpPr/>
          <p:nvPr/>
        </p:nvSpPr>
        <p:spPr>
          <a:xfrm>
            <a:off x="7653600" y="4807440"/>
            <a:ext cx="3970800" cy="907200"/>
          </a:xfrm>
          <a:prstGeom prst="roundRect">
            <a:avLst>
              <a:gd name="adj" fmla="val 7053"/>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14" name="Text 15"/>
          <p:cNvSpPr/>
          <p:nvPr/>
        </p:nvSpPr>
        <p:spPr>
          <a:xfrm>
            <a:off x="7836480" y="4917240"/>
            <a:ext cx="3605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DE8E2C"/>
                </a:solidFill>
                <a:effectLst/>
                <a:uFillTx/>
                <a:latin typeface="Consolas"/>
                <a:ea typeface="Consolas"/>
              </a:rPr>
              <a:t>FASTA</a:t>
            </a:r>
            <a:endParaRPr lang="de-DE" sz="1500" b="0" u="none" strike="noStrike">
              <a:solidFill>
                <a:srgbClr val="000000"/>
              </a:solidFill>
              <a:effectLst/>
              <a:uFillTx/>
              <a:latin typeface="Arial"/>
            </a:endParaRPr>
          </a:p>
        </p:txBody>
      </p:sp>
      <p:sp>
        <p:nvSpPr>
          <p:cNvPr id="415" name="Text 16"/>
          <p:cNvSpPr/>
          <p:nvPr/>
        </p:nvSpPr>
        <p:spPr>
          <a:xfrm>
            <a:off x="7836480" y="5227920"/>
            <a:ext cx="3605040" cy="45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2B2331"/>
                </a:solidFill>
                <a:effectLst/>
                <a:uFillTx/>
                <a:latin typeface="Calibri"/>
                <a:ea typeface="Calibri"/>
              </a:rPr>
              <a:t>plain-text sequence file; .fai index built by samtools faidx</a:t>
            </a:r>
            <a:endParaRPr lang="de-DE" sz="115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6"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17"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REPRESENTATION</a:t>
            </a:r>
            <a:endParaRPr lang="de-DE" sz="1200" b="0" u="none" strike="noStrike">
              <a:solidFill>
                <a:srgbClr val="000000"/>
              </a:solidFill>
              <a:effectLst/>
              <a:uFillTx/>
              <a:latin typeface="Arial"/>
            </a:endParaRPr>
          </a:p>
        </p:txBody>
      </p:sp>
      <p:sp>
        <p:nvSpPr>
          <p:cNvPr id="418"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Reading the graph: the GFA format</a:t>
            </a:r>
            <a:endParaRPr lang="de-DE" sz="2900" b="0" u="none" strike="noStrike">
              <a:solidFill>
                <a:srgbClr val="000000"/>
              </a:solidFill>
              <a:effectLst/>
              <a:uFillTx/>
              <a:latin typeface="Arial"/>
            </a:endParaRPr>
          </a:p>
        </p:txBody>
      </p:sp>
      <p:sp>
        <p:nvSpPr>
          <p:cNvPr id="419" name="Shape 3"/>
          <p:cNvSpPr/>
          <p:nvPr/>
        </p:nvSpPr>
        <p:spPr>
          <a:xfrm>
            <a:off x="567000" y="1645920"/>
            <a:ext cx="6674760" cy="2285640"/>
          </a:xfrm>
          <a:prstGeom prst="roundRect">
            <a:avLst>
              <a:gd name="adj" fmla="val 2400"/>
            </a:avLst>
          </a:prstGeom>
          <a:solidFill>
            <a:srgbClr val="23303F"/>
          </a:solidFill>
          <a:ln w="12700">
            <a:solidFill>
              <a:srgbClr val="33414F"/>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20" name="Text 4"/>
          <p:cNvSpPr/>
          <p:nvPr/>
        </p:nvSpPr>
        <p:spPr>
          <a:xfrm>
            <a:off x="822960" y="1865520"/>
            <a:ext cx="6217560" cy="182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40000"/>
              </a:lnSpc>
              <a:tabLst>
                <a:tab pos="0" algn="l"/>
              </a:tabLst>
            </a:pPr>
            <a:r>
              <a:rPr lang="en-US" sz="1350" b="0" u="none" strike="noStrike">
                <a:solidFill>
                  <a:srgbClr val="E7EEF5"/>
                </a:solidFill>
                <a:effectLst/>
                <a:uFillTx/>
                <a:latin typeface="Consolas"/>
                <a:ea typeface="Consolas"/>
              </a:rPr>
              <a:t>S  n1  ACGT...          </a:t>
            </a:r>
            <a:r>
              <a:rPr lang="en-US" sz="1200" b="0" u="none" strike="noStrike">
                <a:solidFill>
                  <a:srgbClr val="8FB0C9"/>
                </a:solidFill>
                <a:effectLst/>
                <a:uFillTx/>
                <a:latin typeface="Consolas"/>
                <a:ea typeface="Consolas"/>
              </a:rPr>
              <a:t># Segment = a node (sequence)</a:t>
            </a:r>
            <a:endParaRPr lang="de-DE" sz="1200" b="0" u="none" strike="noStrike">
              <a:solidFill>
                <a:srgbClr val="000000"/>
              </a:solidFill>
              <a:effectLst/>
              <a:uFillTx/>
              <a:latin typeface="Arial"/>
            </a:endParaRPr>
          </a:p>
          <a:p>
            <a:pPr defTabSz="914400">
              <a:lnSpc>
                <a:spcPct val="140000"/>
              </a:lnSpc>
              <a:tabLst>
                <a:tab pos="0" algn="l"/>
              </a:tabLst>
            </a:pPr>
            <a:r>
              <a:rPr lang="en-US" sz="1350" b="0" u="none" strike="noStrike">
                <a:solidFill>
                  <a:srgbClr val="E7EEF5"/>
                </a:solidFill>
                <a:effectLst/>
                <a:uFillTx/>
                <a:latin typeface="Consolas"/>
                <a:ea typeface="Consolas"/>
              </a:rPr>
              <a:t>L  n1 + n2 +  0M          </a:t>
            </a:r>
            <a:r>
              <a:rPr lang="en-US" sz="1200" b="0" u="none" strike="noStrike">
                <a:solidFill>
                  <a:srgbClr val="8FB0C9"/>
                </a:solidFill>
                <a:effectLst/>
                <a:uFillTx/>
                <a:latin typeface="Consolas"/>
                <a:ea typeface="Consolas"/>
              </a:rPr>
              <a:t># Link = an edge between nodes</a:t>
            </a:r>
            <a:endParaRPr lang="de-DE" sz="1200" b="0" u="none" strike="noStrike">
              <a:solidFill>
                <a:srgbClr val="000000"/>
              </a:solidFill>
              <a:effectLst/>
              <a:uFillTx/>
              <a:latin typeface="Arial"/>
            </a:endParaRPr>
          </a:p>
          <a:p>
            <a:pPr defTabSz="914400">
              <a:lnSpc>
                <a:spcPct val="140000"/>
              </a:lnSpc>
              <a:tabLst>
                <a:tab pos="0" algn="l"/>
              </a:tabLst>
            </a:pPr>
            <a:r>
              <a:rPr lang="en-US" sz="1350" b="0" u="none" strike="noStrike">
                <a:solidFill>
                  <a:srgbClr val="E7EEF5"/>
                </a:solidFill>
                <a:effectLst/>
                <a:uFillTx/>
                <a:latin typeface="Consolas"/>
                <a:ea typeface="Consolas"/>
              </a:rPr>
              <a:t>P  67-3  n1+,n2+,n3+,n5+   </a:t>
            </a:r>
            <a:r>
              <a:rPr lang="en-US" sz="1200" b="0" u="none" strike="noStrike">
                <a:solidFill>
                  <a:srgbClr val="8FB0C9"/>
                </a:solidFill>
                <a:effectLst/>
                <a:uFillTx/>
                <a:latin typeface="Consolas"/>
                <a:ea typeface="Consolas"/>
              </a:rPr>
              <a:t># Path = a genome's walk</a:t>
            </a:r>
            <a:endParaRPr lang="de-DE" sz="1200" b="0" u="none" strike="noStrike">
              <a:solidFill>
                <a:srgbClr val="000000"/>
              </a:solidFill>
              <a:effectLst/>
              <a:uFillTx/>
              <a:latin typeface="Arial"/>
            </a:endParaRPr>
          </a:p>
          <a:p>
            <a:pPr defTabSz="914400">
              <a:lnSpc>
                <a:spcPct val="140000"/>
              </a:lnSpc>
              <a:tabLst>
                <a:tab pos="0" algn="l"/>
              </a:tabLst>
            </a:pPr>
            <a:r>
              <a:rPr lang="en-US" sz="1350" b="0" u="none" strike="noStrike">
                <a:solidFill>
                  <a:srgbClr val="E7EEF5"/>
                </a:solidFill>
                <a:effectLst/>
                <a:uFillTx/>
                <a:latin typeface="Consolas"/>
                <a:ea typeface="Consolas"/>
              </a:rPr>
              <a:t>P  MEL1  n1+,n2+,n4+,n5+   </a:t>
            </a:r>
            <a:endParaRPr lang="de-DE" sz="1350" b="0" u="none" strike="noStrike">
              <a:solidFill>
                <a:srgbClr val="000000"/>
              </a:solidFill>
              <a:effectLst/>
              <a:uFillTx/>
              <a:latin typeface="Arial"/>
            </a:endParaRPr>
          </a:p>
        </p:txBody>
      </p:sp>
      <p:sp>
        <p:nvSpPr>
          <p:cNvPr id="421" name="Shape 5"/>
          <p:cNvSpPr/>
          <p:nvPr/>
        </p:nvSpPr>
        <p:spPr>
          <a:xfrm>
            <a:off x="7653600" y="1645920"/>
            <a:ext cx="3970800" cy="2285640"/>
          </a:xfrm>
          <a:prstGeom prst="roundRect">
            <a:avLst>
              <a:gd name="adj" fmla="val 2800"/>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22" name="Text 6"/>
          <p:cNvSpPr/>
          <p:nvPr/>
        </p:nvSpPr>
        <p:spPr>
          <a:xfrm>
            <a:off x="7836480" y="1764720"/>
            <a:ext cx="3605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GFA = Graphical Fragment Assembly</a:t>
            </a:r>
            <a:endParaRPr lang="de-DE" sz="1350" b="0" u="none" strike="noStrike">
              <a:solidFill>
                <a:srgbClr val="000000"/>
              </a:solidFill>
              <a:effectLst/>
              <a:uFillTx/>
              <a:latin typeface="Arial"/>
            </a:endParaRPr>
          </a:p>
        </p:txBody>
      </p:sp>
      <p:sp>
        <p:nvSpPr>
          <p:cNvPr id="423" name="Text 7"/>
          <p:cNvSpPr/>
          <p:nvPr/>
        </p:nvSpPr>
        <p:spPr>
          <a:xfrm>
            <a:off x="7854840" y="2194560"/>
            <a:ext cx="3568680" cy="164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901"/>
              </a:spcAft>
              <a:buClr>
                <a:srgbClr val="2B2331"/>
              </a:buClr>
              <a:buFont typeface="Symbol" charset="2"/>
              <a:buChar char=""/>
            </a:pPr>
            <a:r>
              <a:rPr lang="en-US" sz="1250" b="0" u="none" strike="noStrike">
                <a:solidFill>
                  <a:srgbClr val="2B2331"/>
                </a:solidFill>
                <a:effectLst/>
                <a:uFillTx/>
                <a:latin typeface="Calibri"/>
                <a:ea typeface="Calibri"/>
              </a:rPr>
              <a:t>Plain text: one line per node, edge or path</a:t>
            </a:r>
            <a:endParaRPr lang="de-DE" sz="1250" b="0" u="none" strike="noStrike">
              <a:solidFill>
                <a:srgbClr val="000000"/>
              </a:solidFill>
              <a:effectLst/>
              <a:uFillTx/>
              <a:latin typeface="Arial"/>
            </a:endParaRPr>
          </a:p>
          <a:p>
            <a:pPr marL="177840" indent="-177840" defTabSz="914400">
              <a:lnSpc>
                <a:spcPct val="100000"/>
              </a:lnSpc>
              <a:spcAft>
                <a:spcPts val="901"/>
              </a:spcAft>
              <a:buClr>
                <a:srgbClr val="2B2331"/>
              </a:buClr>
              <a:buFont typeface="Symbol" charset="2"/>
              <a:buChar char=""/>
            </a:pPr>
            <a:r>
              <a:rPr lang="en-US" sz="1250" b="0" u="none" strike="noStrike">
                <a:solidFill>
                  <a:srgbClr val="2B2331"/>
                </a:solidFill>
                <a:effectLst/>
                <a:uFillTx/>
                <a:latin typeface="Calibri"/>
                <a:ea typeface="Calibri"/>
              </a:rPr>
              <a:t>S, L, P are the line types</a:t>
            </a:r>
            <a:endParaRPr lang="de-DE" sz="1250" b="0" u="none" strike="noStrike">
              <a:solidFill>
                <a:srgbClr val="000000"/>
              </a:solidFill>
              <a:effectLst/>
              <a:uFillTx/>
              <a:latin typeface="Arial"/>
            </a:endParaRPr>
          </a:p>
          <a:p>
            <a:pPr marL="177840" indent="-177840" defTabSz="914400">
              <a:lnSpc>
                <a:spcPct val="100000"/>
              </a:lnSpc>
              <a:spcAft>
                <a:spcPts val="901"/>
              </a:spcAft>
              <a:buClr>
                <a:srgbClr val="2B2331"/>
              </a:buClr>
              <a:buFont typeface="Symbol" charset="2"/>
              <a:buChar char=""/>
            </a:pPr>
            <a:r>
              <a:rPr lang="en-US" sz="1250" b="0" u="none" strike="noStrike">
                <a:solidFill>
                  <a:srgbClr val="2B2331"/>
                </a:solidFill>
                <a:effectLst/>
                <a:uFillTx/>
                <a:latin typeface="Calibri"/>
                <a:ea typeface="Calibri"/>
              </a:rPr>
              <a:t>+ / − give the strand (orientation)</a:t>
            </a:r>
            <a:endParaRPr lang="de-DE" sz="1250" b="0" u="none" strike="noStrike">
              <a:solidFill>
                <a:srgbClr val="000000"/>
              </a:solidFill>
              <a:effectLst/>
              <a:uFillTx/>
              <a:latin typeface="Arial"/>
            </a:endParaRPr>
          </a:p>
        </p:txBody>
      </p:sp>
      <p:sp>
        <p:nvSpPr>
          <p:cNvPr id="424" name="Shape 8"/>
          <p:cNvSpPr/>
          <p:nvPr/>
        </p:nvSpPr>
        <p:spPr>
          <a:xfrm>
            <a:off x="567000" y="4160520"/>
            <a:ext cx="2654280" cy="1142640"/>
          </a:xfrm>
          <a:prstGeom prst="roundRect">
            <a:avLst>
              <a:gd name="adj" fmla="val 5600"/>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25" name="Text 9"/>
          <p:cNvSpPr/>
          <p:nvPr/>
        </p:nvSpPr>
        <p:spPr>
          <a:xfrm>
            <a:off x="676800" y="4288680"/>
            <a:ext cx="2435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5E2A75"/>
                </a:solidFill>
                <a:effectLst/>
                <a:uFillTx/>
                <a:latin typeface="Calibri"/>
                <a:ea typeface="Calibri"/>
              </a:rPr>
              <a:t>Segment (S)</a:t>
            </a:r>
            <a:endParaRPr lang="de-DE" sz="1250" b="0" u="none" strike="noStrike">
              <a:solidFill>
                <a:srgbClr val="000000"/>
              </a:solidFill>
              <a:effectLst/>
              <a:uFillTx/>
              <a:latin typeface="Arial"/>
            </a:endParaRPr>
          </a:p>
        </p:txBody>
      </p:sp>
      <p:sp>
        <p:nvSpPr>
          <p:cNvPr id="426" name="Text 10"/>
          <p:cNvSpPr/>
          <p:nvPr/>
        </p:nvSpPr>
        <p:spPr>
          <a:xfrm>
            <a:off x="676800" y="4617720"/>
            <a:ext cx="24350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2B2331"/>
                </a:solidFill>
                <a:effectLst/>
                <a:uFillTx/>
                <a:latin typeface="Calibri"/>
                <a:ea typeface="Calibri"/>
              </a:rPr>
              <a:t>a node = sequence</a:t>
            </a:r>
            <a:endParaRPr lang="de-DE" sz="1050" b="0" u="none" strike="noStrike">
              <a:solidFill>
                <a:srgbClr val="000000"/>
              </a:solidFill>
              <a:effectLst/>
              <a:uFillTx/>
              <a:latin typeface="Arial"/>
            </a:endParaRPr>
          </a:p>
        </p:txBody>
      </p:sp>
      <p:sp>
        <p:nvSpPr>
          <p:cNvPr id="427" name="Shape 11"/>
          <p:cNvSpPr/>
          <p:nvPr/>
        </p:nvSpPr>
        <p:spPr>
          <a:xfrm>
            <a:off x="3367800" y="4160520"/>
            <a:ext cx="2654280" cy="1142640"/>
          </a:xfrm>
          <a:prstGeom prst="roundRect">
            <a:avLst>
              <a:gd name="adj" fmla="val 5600"/>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28" name="Text 12"/>
          <p:cNvSpPr/>
          <p:nvPr/>
        </p:nvSpPr>
        <p:spPr>
          <a:xfrm>
            <a:off x="3477600" y="4288680"/>
            <a:ext cx="2435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5E2A75"/>
                </a:solidFill>
                <a:effectLst/>
                <a:uFillTx/>
                <a:latin typeface="Calibri"/>
                <a:ea typeface="Calibri"/>
              </a:rPr>
              <a:t>Link (L)</a:t>
            </a:r>
            <a:endParaRPr lang="de-DE" sz="1250" b="0" u="none" strike="noStrike">
              <a:solidFill>
                <a:srgbClr val="000000"/>
              </a:solidFill>
              <a:effectLst/>
              <a:uFillTx/>
              <a:latin typeface="Arial"/>
            </a:endParaRPr>
          </a:p>
        </p:txBody>
      </p:sp>
      <p:sp>
        <p:nvSpPr>
          <p:cNvPr id="429" name="Text 13"/>
          <p:cNvSpPr/>
          <p:nvPr/>
        </p:nvSpPr>
        <p:spPr>
          <a:xfrm>
            <a:off x="3477600" y="4617720"/>
            <a:ext cx="24350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2B2331"/>
                </a:solidFill>
                <a:effectLst/>
                <a:uFillTx/>
                <a:latin typeface="Calibri"/>
                <a:ea typeface="Calibri"/>
              </a:rPr>
              <a:t>an edge = adjacency</a:t>
            </a:r>
            <a:endParaRPr lang="de-DE" sz="1050" b="0" u="none" strike="noStrike">
              <a:solidFill>
                <a:srgbClr val="000000"/>
              </a:solidFill>
              <a:effectLst/>
              <a:uFillTx/>
              <a:latin typeface="Arial"/>
            </a:endParaRPr>
          </a:p>
        </p:txBody>
      </p:sp>
      <p:sp>
        <p:nvSpPr>
          <p:cNvPr id="430" name="Shape 14"/>
          <p:cNvSpPr/>
          <p:nvPr/>
        </p:nvSpPr>
        <p:spPr>
          <a:xfrm>
            <a:off x="6168960" y="4160520"/>
            <a:ext cx="2654280" cy="1142640"/>
          </a:xfrm>
          <a:prstGeom prst="roundRect">
            <a:avLst>
              <a:gd name="adj" fmla="val 5600"/>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31" name="Text 15"/>
          <p:cNvSpPr/>
          <p:nvPr/>
        </p:nvSpPr>
        <p:spPr>
          <a:xfrm>
            <a:off x="6278760" y="4288680"/>
            <a:ext cx="2435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5E2A75"/>
                </a:solidFill>
                <a:effectLst/>
                <a:uFillTx/>
                <a:latin typeface="Calibri"/>
                <a:ea typeface="Calibri"/>
              </a:rPr>
              <a:t>Path (P)</a:t>
            </a:r>
            <a:endParaRPr lang="de-DE" sz="1250" b="0" u="none" strike="noStrike">
              <a:solidFill>
                <a:srgbClr val="000000"/>
              </a:solidFill>
              <a:effectLst/>
              <a:uFillTx/>
              <a:latin typeface="Arial"/>
            </a:endParaRPr>
          </a:p>
        </p:txBody>
      </p:sp>
      <p:sp>
        <p:nvSpPr>
          <p:cNvPr id="432" name="Text 16"/>
          <p:cNvSpPr/>
          <p:nvPr/>
        </p:nvSpPr>
        <p:spPr>
          <a:xfrm>
            <a:off x="6278760" y="4617720"/>
            <a:ext cx="24350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2B2331"/>
                </a:solidFill>
                <a:effectLst/>
                <a:uFillTx/>
                <a:latin typeface="Calibri"/>
                <a:ea typeface="Calibri"/>
              </a:rPr>
              <a:t>a genome's walk</a:t>
            </a:r>
            <a:endParaRPr lang="de-DE" sz="1050" b="0" u="none" strike="noStrike">
              <a:solidFill>
                <a:srgbClr val="000000"/>
              </a:solidFill>
              <a:effectLst/>
              <a:uFillTx/>
              <a:latin typeface="Arial"/>
            </a:endParaRPr>
          </a:p>
        </p:txBody>
      </p:sp>
      <p:sp>
        <p:nvSpPr>
          <p:cNvPr id="433" name="Shape 17"/>
          <p:cNvSpPr/>
          <p:nvPr/>
        </p:nvSpPr>
        <p:spPr>
          <a:xfrm>
            <a:off x="8970120" y="4160520"/>
            <a:ext cx="2654280" cy="1142640"/>
          </a:xfrm>
          <a:prstGeom prst="roundRect">
            <a:avLst>
              <a:gd name="adj" fmla="val 5600"/>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34" name="Text 18"/>
          <p:cNvSpPr/>
          <p:nvPr/>
        </p:nvSpPr>
        <p:spPr>
          <a:xfrm>
            <a:off x="9079920" y="4288680"/>
            <a:ext cx="2435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E8606B"/>
                </a:solidFill>
                <a:effectLst/>
                <a:uFillTx/>
                <a:latin typeface="Calibri"/>
                <a:ea typeface="Calibri"/>
              </a:rPr>
              <a:t>Bubble</a:t>
            </a:r>
            <a:endParaRPr lang="de-DE" sz="1250" b="0" u="none" strike="noStrike">
              <a:solidFill>
                <a:srgbClr val="000000"/>
              </a:solidFill>
              <a:effectLst/>
              <a:uFillTx/>
              <a:latin typeface="Arial"/>
            </a:endParaRPr>
          </a:p>
        </p:txBody>
      </p:sp>
      <p:sp>
        <p:nvSpPr>
          <p:cNvPr id="435" name="Text 19"/>
          <p:cNvSpPr/>
          <p:nvPr/>
        </p:nvSpPr>
        <p:spPr>
          <a:xfrm>
            <a:off x="9079920" y="4617720"/>
            <a:ext cx="24350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2B2331"/>
                </a:solidFill>
                <a:effectLst/>
                <a:uFillTx/>
                <a:latin typeface="Calibri"/>
                <a:ea typeface="Calibri"/>
              </a:rPr>
              <a:t>branch = a variant</a:t>
            </a:r>
            <a:endParaRPr lang="de-DE" sz="105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6"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37"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REPRESENTATION</a:t>
            </a:r>
            <a:endParaRPr lang="de-DE" sz="1200" b="0" u="none" strike="noStrike">
              <a:solidFill>
                <a:srgbClr val="000000"/>
              </a:solidFill>
              <a:effectLst/>
              <a:uFillTx/>
              <a:latin typeface="Arial"/>
            </a:endParaRPr>
          </a:p>
        </p:txBody>
      </p:sp>
      <p:sp>
        <p:nvSpPr>
          <p:cNvPr id="438"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Variants for free: from bubbles to a VCF</a:t>
            </a:r>
            <a:endParaRPr lang="de-DE" sz="2900" b="0" u="none" strike="noStrike">
              <a:solidFill>
                <a:srgbClr val="000000"/>
              </a:solidFill>
              <a:effectLst/>
              <a:uFillTx/>
              <a:latin typeface="Arial"/>
            </a:endParaRPr>
          </a:p>
        </p:txBody>
      </p:sp>
      <p:sp>
        <p:nvSpPr>
          <p:cNvPr id="439" name="Shape 3"/>
          <p:cNvSpPr/>
          <p:nvPr/>
        </p:nvSpPr>
        <p:spPr>
          <a:xfrm>
            <a:off x="567000" y="1783080"/>
            <a:ext cx="3108600" cy="1645560"/>
          </a:xfrm>
          <a:prstGeom prst="roundRect">
            <a:avLst>
              <a:gd name="adj" fmla="val 3889"/>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40" name="Text 4"/>
          <p:cNvSpPr/>
          <p:nvPr/>
        </p:nvSpPr>
        <p:spPr>
          <a:xfrm>
            <a:off x="567000" y="1892880"/>
            <a:ext cx="3108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5E2A75"/>
                </a:solidFill>
                <a:effectLst/>
                <a:uFillTx/>
                <a:latin typeface="Calibri"/>
                <a:ea typeface="Calibri"/>
              </a:rPr>
              <a:t>the graph</a:t>
            </a:r>
            <a:endParaRPr lang="de-DE" sz="1300" b="0" u="none" strike="noStrike">
              <a:solidFill>
                <a:srgbClr val="000000"/>
              </a:solidFill>
              <a:effectLst/>
              <a:uFillTx/>
              <a:latin typeface="Arial"/>
            </a:endParaRPr>
          </a:p>
        </p:txBody>
      </p:sp>
      <p:sp>
        <p:nvSpPr>
          <p:cNvPr id="441" name="Shape 5"/>
          <p:cNvSpPr/>
          <p:nvPr/>
        </p:nvSpPr>
        <p:spPr>
          <a:xfrm>
            <a:off x="1024200" y="2697480"/>
            <a:ext cx="456840" cy="319680"/>
          </a:xfrm>
          <a:prstGeom prst="ellipse">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42" name="Shape 6"/>
          <p:cNvSpPr/>
          <p:nvPr/>
        </p:nvSpPr>
        <p:spPr>
          <a:xfrm>
            <a:off x="1938600" y="2423160"/>
            <a:ext cx="456840" cy="31968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43" name="Shape 7"/>
          <p:cNvSpPr/>
          <p:nvPr/>
        </p:nvSpPr>
        <p:spPr>
          <a:xfrm>
            <a:off x="1938600" y="2971800"/>
            <a:ext cx="456840" cy="319680"/>
          </a:xfrm>
          <a:prstGeom prst="ellipse">
            <a:avLst/>
          </a:prstGeom>
          <a:solidFill>
            <a:srgbClr val="DE8E2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44" name="Shape 8"/>
          <p:cNvSpPr/>
          <p:nvPr/>
        </p:nvSpPr>
        <p:spPr>
          <a:xfrm>
            <a:off x="2853000" y="2697480"/>
            <a:ext cx="456840" cy="319680"/>
          </a:xfrm>
          <a:prstGeom prst="ellipse">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45" name="Shape 9"/>
          <p:cNvSpPr/>
          <p:nvPr/>
        </p:nvSpPr>
        <p:spPr>
          <a:xfrm flipV="1">
            <a:off x="1481040" y="2733840"/>
            <a:ext cx="457200" cy="118800"/>
          </a:xfrm>
          <a:prstGeom prst="line">
            <a:avLst/>
          </a:prstGeom>
          <a:ln w="19050">
            <a:solidFill>
              <a:srgbClr val="726A7A"/>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446" name="Shape 10"/>
          <p:cNvSpPr/>
          <p:nvPr/>
        </p:nvSpPr>
        <p:spPr>
          <a:xfrm>
            <a:off x="1481040" y="2852640"/>
            <a:ext cx="457200" cy="274320"/>
          </a:xfrm>
          <a:prstGeom prst="line">
            <a:avLst/>
          </a:prstGeom>
          <a:ln w="19050">
            <a:solidFill>
              <a:srgbClr val="726A7A"/>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447" name="Shape 11"/>
          <p:cNvSpPr/>
          <p:nvPr/>
        </p:nvSpPr>
        <p:spPr>
          <a:xfrm>
            <a:off x="2395440" y="2733840"/>
            <a:ext cx="457200" cy="118800"/>
          </a:xfrm>
          <a:prstGeom prst="line">
            <a:avLst/>
          </a:prstGeom>
          <a:ln w="19050">
            <a:solidFill>
              <a:srgbClr val="726A7A"/>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448" name="Shape 12"/>
          <p:cNvSpPr/>
          <p:nvPr/>
        </p:nvSpPr>
        <p:spPr>
          <a:xfrm flipV="1">
            <a:off x="2395440" y="2852640"/>
            <a:ext cx="457200" cy="274320"/>
          </a:xfrm>
          <a:prstGeom prst="line">
            <a:avLst/>
          </a:prstGeom>
          <a:ln w="19050">
            <a:solidFill>
              <a:srgbClr val="726A7A"/>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449" name="Text 13"/>
          <p:cNvSpPr/>
          <p:nvPr/>
        </p:nvSpPr>
        <p:spPr>
          <a:xfrm>
            <a:off x="1481400" y="3291840"/>
            <a:ext cx="137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i="1" u="none" strike="noStrike">
                <a:solidFill>
                  <a:srgbClr val="726A7A"/>
                </a:solidFill>
                <a:effectLst/>
                <a:uFillTx/>
                <a:latin typeface="Calibri"/>
                <a:ea typeface="Calibri"/>
              </a:rPr>
              <a:t>a bubble</a:t>
            </a:r>
            <a:endParaRPr lang="de-DE" sz="1000" b="0" u="none" strike="noStrike">
              <a:solidFill>
                <a:srgbClr val="000000"/>
              </a:solidFill>
              <a:effectLst/>
              <a:uFillTx/>
              <a:latin typeface="Arial"/>
            </a:endParaRPr>
          </a:p>
        </p:txBody>
      </p:sp>
      <p:sp>
        <p:nvSpPr>
          <p:cNvPr id="450" name="Shape 14"/>
          <p:cNvSpPr/>
          <p:nvPr/>
        </p:nvSpPr>
        <p:spPr>
          <a:xfrm>
            <a:off x="3904560" y="2441520"/>
            <a:ext cx="411120" cy="328680"/>
          </a:xfrm>
          <a:prstGeom prst="rtTriangle">
            <a:avLst/>
          </a:prstGeom>
          <a:solidFill>
            <a:srgbClr val="DE8E2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51" name="Text 15"/>
          <p:cNvSpPr/>
          <p:nvPr/>
        </p:nvSpPr>
        <p:spPr>
          <a:xfrm>
            <a:off x="3584520" y="3429000"/>
            <a:ext cx="3108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1" u="none" strike="noStrike">
                <a:solidFill>
                  <a:srgbClr val="21476B"/>
                </a:solidFill>
                <a:effectLst/>
                <a:uFillTx/>
                <a:latin typeface="Consolas"/>
                <a:ea typeface="Consolas"/>
              </a:rPr>
              <a:t>vg deconstruct</a:t>
            </a:r>
            <a:endParaRPr lang="de-DE" sz="1150" b="0" u="none" strike="noStrike">
              <a:solidFill>
                <a:srgbClr val="000000"/>
              </a:solidFill>
              <a:effectLst/>
              <a:uFillTx/>
              <a:latin typeface="Arial"/>
            </a:endParaRPr>
          </a:p>
        </p:txBody>
      </p:sp>
      <p:sp>
        <p:nvSpPr>
          <p:cNvPr id="452" name="Shape 16"/>
          <p:cNvSpPr/>
          <p:nvPr/>
        </p:nvSpPr>
        <p:spPr>
          <a:xfrm>
            <a:off x="4590360" y="1783080"/>
            <a:ext cx="3108600" cy="1645560"/>
          </a:xfrm>
          <a:prstGeom prst="roundRect">
            <a:avLst>
              <a:gd name="adj" fmla="val 3333"/>
            </a:avLst>
          </a:prstGeom>
          <a:solidFill>
            <a:srgbClr val="23303F"/>
          </a:solidFill>
          <a:ln w="12700">
            <a:solidFill>
              <a:srgbClr val="33414F"/>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53" name="Text 17"/>
          <p:cNvSpPr/>
          <p:nvPr/>
        </p:nvSpPr>
        <p:spPr>
          <a:xfrm>
            <a:off x="4590360" y="1892880"/>
            <a:ext cx="3108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E7EEF5"/>
                </a:solidFill>
                <a:effectLst/>
                <a:uFillTx/>
                <a:latin typeface="Calibri"/>
                <a:ea typeface="Calibri"/>
              </a:rPr>
              <a:t>VCF (Variant Call Format)</a:t>
            </a:r>
            <a:endParaRPr lang="de-DE" sz="1200" b="0" u="none" strike="noStrike">
              <a:solidFill>
                <a:srgbClr val="000000"/>
              </a:solidFill>
              <a:effectLst/>
              <a:uFillTx/>
              <a:latin typeface="Arial"/>
            </a:endParaRPr>
          </a:p>
        </p:txBody>
      </p:sp>
      <p:sp>
        <p:nvSpPr>
          <p:cNvPr id="454" name="Text 18"/>
          <p:cNvSpPr/>
          <p:nvPr/>
        </p:nvSpPr>
        <p:spPr>
          <a:xfrm>
            <a:off x="4773240" y="2240280"/>
            <a:ext cx="274284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100" b="0" u="none" strike="noStrike">
                <a:solidFill>
                  <a:srgbClr val="E7EEF5"/>
                </a:solidFill>
                <a:effectLst/>
                <a:uFillTx/>
                <a:latin typeface="Consolas"/>
                <a:ea typeface="Consolas"/>
              </a:rPr>
              <a:t>#CHROM POS REF ALT</a:t>
            </a:r>
            <a:endParaRPr lang="de-DE" sz="1100" b="0" u="none" strike="noStrike">
              <a:solidFill>
                <a:srgbClr val="000000"/>
              </a:solidFill>
              <a:effectLst/>
              <a:uFillTx/>
              <a:latin typeface="Arial"/>
            </a:endParaRPr>
          </a:p>
          <a:p>
            <a:pPr defTabSz="914400">
              <a:lnSpc>
                <a:spcPct val="120000"/>
              </a:lnSpc>
              <a:tabLst>
                <a:tab pos="0" algn="l"/>
              </a:tabLst>
            </a:pPr>
            <a:r>
              <a:rPr lang="en-US" sz="1100" b="0" u="none" strike="noStrike">
                <a:solidFill>
                  <a:srgbClr val="E7EEF5"/>
                </a:solidFill>
                <a:effectLst/>
                <a:uFillTx/>
                <a:latin typeface="Consolas"/>
                <a:ea typeface="Consolas"/>
              </a:rPr>
              <a:t>chr2  812 A   G</a:t>
            </a:r>
            <a:endParaRPr lang="de-DE" sz="1100" b="0" u="none" strike="noStrike">
              <a:solidFill>
                <a:srgbClr val="000000"/>
              </a:solidFill>
              <a:effectLst/>
              <a:uFillTx/>
              <a:latin typeface="Arial"/>
            </a:endParaRPr>
          </a:p>
          <a:p>
            <a:pPr defTabSz="914400">
              <a:lnSpc>
                <a:spcPct val="120000"/>
              </a:lnSpc>
              <a:tabLst>
                <a:tab pos="0" algn="l"/>
              </a:tabLst>
            </a:pPr>
            <a:r>
              <a:rPr lang="en-US" sz="1100" b="0" u="none" strike="noStrike">
                <a:solidFill>
                  <a:srgbClr val="E7EEF5"/>
                </a:solidFill>
                <a:effectLst/>
                <a:uFillTx/>
                <a:latin typeface="Consolas"/>
                <a:ea typeface="Consolas"/>
              </a:rPr>
              <a:t>chr2  940 ATG A</a:t>
            </a:r>
            <a:endParaRPr lang="de-DE" sz="1100" b="0" u="none" strike="noStrike">
              <a:solidFill>
                <a:srgbClr val="000000"/>
              </a:solidFill>
              <a:effectLst/>
              <a:uFillTx/>
              <a:latin typeface="Arial"/>
            </a:endParaRPr>
          </a:p>
          <a:p>
            <a:pPr defTabSz="914400">
              <a:lnSpc>
                <a:spcPct val="120000"/>
              </a:lnSpc>
              <a:tabLst>
                <a:tab pos="0" algn="l"/>
              </a:tabLst>
            </a:pPr>
            <a:r>
              <a:rPr lang="en-US" sz="1100" b="0" u="none" strike="noStrike">
                <a:solidFill>
                  <a:srgbClr val="E7EEF5"/>
                </a:solidFill>
                <a:effectLst/>
                <a:uFillTx/>
                <a:latin typeface="Consolas"/>
                <a:ea typeface="Consolas"/>
              </a:rPr>
              <a:t>chr2 1.2k &lt;DEL&gt;  ...</a:t>
            </a:r>
            <a:endParaRPr lang="de-DE" sz="1100" b="0" u="none" strike="noStrike">
              <a:solidFill>
                <a:srgbClr val="000000"/>
              </a:solidFill>
              <a:effectLst/>
              <a:uFillTx/>
              <a:latin typeface="Arial"/>
            </a:endParaRPr>
          </a:p>
        </p:txBody>
      </p:sp>
      <p:sp>
        <p:nvSpPr>
          <p:cNvPr id="455" name="Shape 19"/>
          <p:cNvSpPr/>
          <p:nvPr/>
        </p:nvSpPr>
        <p:spPr>
          <a:xfrm>
            <a:off x="8613720" y="1783080"/>
            <a:ext cx="3010680" cy="1645560"/>
          </a:xfrm>
          <a:prstGeom prst="roundRect">
            <a:avLst>
              <a:gd name="adj" fmla="val 3889"/>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56" name="Text 20"/>
          <p:cNvSpPr/>
          <p:nvPr/>
        </p:nvSpPr>
        <p:spPr>
          <a:xfrm>
            <a:off x="8814960" y="1965960"/>
            <a:ext cx="260856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901"/>
              </a:spcAft>
              <a:buClr>
                <a:srgbClr val="2B2331"/>
              </a:buClr>
              <a:buFont typeface="Symbol" charset="2"/>
              <a:buChar char=""/>
            </a:pPr>
            <a:r>
              <a:rPr lang="en-US" sz="1250" b="0" u="none" strike="noStrike">
                <a:solidFill>
                  <a:srgbClr val="2B2331"/>
                </a:solidFill>
                <a:effectLst/>
                <a:uFillTx/>
                <a:latin typeface="Calibri"/>
                <a:ea typeface="Calibri"/>
              </a:rPr>
              <a:t>Every bubble → one variant record</a:t>
            </a:r>
            <a:endParaRPr lang="de-DE" sz="1250" b="0" u="none" strike="noStrike">
              <a:solidFill>
                <a:srgbClr val="000000"/>
              </a:solidFill>
              <a:effectLst/>
              <a:uFillTx/>
              <a:latin typeface="Arial"/>
            </a:endParaRPr>
          </a:p>
          <a:p>
            <a:pPr marL="177840" indent="-177840" defTabSz="914400">
              <a:lnSpc>
                <a:spcPct val="100000"/>
              </a:lnSpc>
              <a:spcAft>
                <a:spcPts val="901"/>
              </a:spcAft>
              <a:buClr>
                <a:srgbClr val="2B2331"/>
              </a:buClr>
              <a:buFont typeface="Symbol" charset="2"/>
              <a:buChar char=""/>
            </a:pPr>
            <a:r>
              <a:rPr lang="en-US" sz="1250" b="0" u="none" strike="noStrike">
                <a:solidFill>
                  <a:srgbClr val="2B2331"/>
                </a:solidFill>
                <a:effectLst/>
                <a:uFillTx/>
                <a:latin typeface="Calibri"/>
                <a:ea typeface="Calibri"/>
              </a:rPr>
              <a:t>SNPs through to large SVs in one pass</a:t>
            </a:r>
            <a:endParaRPr lang="de-DE" sz="1250" b="0" u="none" strike="noStrike">
              <a:solidFill>
                <a:srgbClr val="000000"/>
              </a:solidFill>
              <a:effectLst/>
              <a:uFillTx/>
              <a:latin typeface="Arial"/>
            </a:endParaRPr>
          </a:p>
          <a:p>
            <a:pPr marL="177840" indent="-177840" defTabSz="914400">
              <a:lnSpc>
                <a:spcPct val="100000"/>
              </a:lnSpc>
              <a:spcAft>
                <a:spcPts val="901"/>
              </a:spcAft>
              <a:buClr>
                <a:srgbClr val="2B2331"/>
              </a:buClr>
              <a:buFont typeface="Symbol" charset="2"/>
              <a:buChar char=""/>
            </a:pPr>
            <a:r>
              <a:rPr lang="en-US" sz="1250" b="0" u="none" strike="noStrike">
                <a:solidFill>
                  <a:srgbClr val="2B2331"/>
                </a:solidFill>
                <a:effectLst/>
                <a:uFillTx/>
                <a:latin typeface="Calibri"/>
                <a:ea typeface="Calibri"/>
              </a:rPr>
              <a:t>No separate caller, no single-reference bias</a:t>
            </a:r>
            <a:endParaRPr lang="de-DE" sz="1250" b="0" u="none" strike="noStrike">
              <a:solidFill>
                <a:srgbClr val="000000"/>
              </a:solidFill>
              <a:effectLst/>
              <a:uFillTx/>
              <a:latin typeface="Arial"/>
            </a:endParaRPr>
          </a:p>
        </p:txBody>
      </p:sp>
      <p:sp>
        <p:nvSpPr>
          <p:cNvPr id="457" name="Shape 21"/>
          <p:cNvSpPr/>
          <p:nvPr/>
        </p:nvSpPr>
        <p:spPr>
          <a:xfrm>
            <a:off x="567000" y="3840480"/>
            <a:ext cx="11057400" cy="1371240"/>
          </a:xfrm>
          <a:prstGeom prst="roundRect">
            <a:avLst>
              <a:gd name="adj" fmla="val 4667"/>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58" name="Text 22"/>
          <p:cNvSpPr/>
          <p:nvPr/>
        </p:nvSpPr>
        <p:spPr>
          <a:xfrm>
            <a:off x="841320" y="3977640"/>
            <a:ext cx="10508760" cy="114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99"/>
              </a:spcAft>
              <a:buClr>
                <a:srgbClr val="5E2A75"/>
              </a:buClr>
              <a:buFont typeface="Symbol" charset="2"/>
              <a:buChar char=""/>
            </a:pPr>
            <a:r>
              <a:rPr lang="en-US" sz="1300" b="1" u="none" strike="noStrike">
                <a:solidFill>
                  <a:srgbClr val="5E2A75"/>
                </a:solidFill>
                <a:effectLst/>
                <a:uFillTx/>
                <a:latin typeface="Calibri"/>
                <a:ea typeface="Calibri"/>
              </a:rPr>
              <a:t>VCF = Variant Call Format: the standard table of variants (position, reference allele, alternative allele, genotypes)</a:t>
            </a:r>
            <a:endParaRPr lang="de-DE" sz="1300" b="0" u="none" strike="noStrike">
              <a:solidFill>
                <a:srgbClr val="000000"/>
              </a:solidFill>
              <a:effectLst/>
              <a:uFillTx/>
              <a:latin typeface="Arial"/>
            </a:endParaRPr>
          </a:p>
          <a:p>
            <a:pPr marL="177840" indent="-177840" defTabSz="914400">
              <a:lnSpc>
                <a:spcPct val="100000"/>
              </a:lnSpc>
              <a:spcAft>
                <a:spcPts val="799"/>
              </a:spcAft>
              <a:buClr>
                <a:srgbClr val="2B2331"/>
              </a:buClr>
              <a:buFont typeface="Symbol" charset="2"/>
              <a:buChar char=""/>
            </a:pPr>
            <a:r>
              <a:rPr lang="en-US" sz="1300" b="0" u="none" strike="noStrike">
                <a:solidFill>
                  <a:srgbClr val="2B2331"/>
                </a:solidFill>
                <a:effectLst/>
                <a:uFillTx/>
                <a:latin typeface="Calibri"/>
                <a:ea typeface="Calibri"/>
              </a:rPr>
              <a:t>vg = variation graph toolkit; vg deconstruct walks the graph and emits a VCF directly</a:t>
            </a:r>
            <a:endParaRPr lang="de-DE" sz="1300" b="0" u="none" strike="noStrike">
              <a:solidFill>
                <a:srgbClr val="000000"/>
              </a:solidFill>
              <a:effectLst/>
              <a:uFillTx/>
              <a:latin typeface="Arial"/>
            </a:endParaRPr>
          </a:p>
          <a:p>
            <a:pPr marL="177840" indent="-177840" defTabSz="914400">
              <a:lnSpc>
                <a:spcPct val="100000"/>
              </a:lnSpc>
              <a:spcAft>
                <a:spcPts val="799"/>
              </a:spcAft>
              <a:buClr>
                <a:srgbClr val="2B2331"/>
              </a:buClr>
              <a:buFont typeface="Symbol" charset="2"/>
              <a:buChar char=""/>
            </a:pPr>
            <a:r>
              <a:rPr lang="en-US" sz="1300" b="0" u="none" strike="noStrike">
                <a:solidFill>
                  <a:srgbClr val="2B2331"/>
                </a:solidFill>
                <a:effectLst/>
                <a:uFillTx/>
                <a:latin typeface="Calibri"/>
                <a:ea typeface="Calibri"/>
              </a:rPr>
              <a:t>Genotype new samples by mapping their reads with vg giraffe, then reading them against the same bubbles</a:t>
            </a:r>
            <a:endParaRPr lang="de-DE" sz="130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9"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60"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EVALUATING · VISUAL</a:t>
            </a:r>
            <a:endParaRPr lang="de-DE" sz="1200" b="0" u="none" strike="noStrike">
              <a:solidFill>
                <a:srgbClr val="000000"/>
              </a:solidFill>
              <a:effectLst/>
              <a:uFillTx/>
              <a:latin typeface="Arial"/>
            </a:endParaRPr>
          </a:p>
        </p:txBody>
      </p:sp>
      <p:sp>
        <p:nvSpPr>
          <p:cNvPr id="461"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Visualising the graph: odgi viz</a:t>
            </a:r>
            <a:endParaRPr lang="de-DE" sz="2900" b="0" u="none" strike="noStrike">
              <a:solidFill>
                <a:srgbClr val="000000"/>
              </a:solidFill>
              <a:effectLst/>
              <a:uFillTx/>
              <a:latin typeface="Arial"/>
            </a:endParaRPr>
          </a:p>
        </p:txBody>
      </p:sp>
      <p:sp>
        <p:nvSpPr>
          <p:cNvPr id="462" name="Text 3"/>
          <p:cNvSpPr/>
          <p:nvPr/>
        </p:nvSpPr>
        <p:spPr>
          <a:xfrm>
            <a:off x="567000" y="1737360"/>
            <a:ext cx="4205880" cy="365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00"/>
              </a:spcAft>
              <a:buClr>
                <a:srgbClr val="5E2A75"/>
              </a:buClr>
              <a:buFont typeface="Symbol" charset="2"/>
              <a:buChar char=""/>
            </a:pPr>
            <a:r>
              <a:rPr lang="en-US" sz="1250" b="1" u="none" strike="noStrike">
                <a:solidFill>
                  <a:srgbClr val="5E2A75"/>
                </a:solidFill>
                <a:effectLst/>
                <a:uFillTx/>
                <a:latin typeface="Calibri"/>
                <a:ea typeface="Calibri"/>
              </a:rPr>
              <a:t>odgi = Optimized Dynamic Genome/Graph Implementation — the graph toolkit</a:t>
            </a:r>
            <a:endParaRPr lang="de-DE" sz="1250" b="0" u="none" strike="noStrike">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250" b="0" u="none" strike="noStrike">
                <a:solidFill>
                  <a:srgbClr val="2B2331"/>
                </a:solidFill>
                <a:effectLst/>
                <a:uFillTx/>
                <a:latin typeface="Calibri"/>
                <a:ea typeface="Calibri"/>
              </a:rPr>
              <a:t>Each row = one genome's path along the chromosome</a:t>
            </a:r>
            <a:endParaRPr lang="de-DE" sz="1250" b="0" u="none" strike="noStrike">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250" b="0" u="none" strike="noStrike">
                <a:solidFill>
                  <a:srgbClr val="2B2331"/>
                </a:solidFill>
                <a:effectLst/>
                <a:uFillTx/>
                <a:latin typeface="Calibri"/>
                <a:ea typeface="Calibri"/>
              </a:rPr>
              <a:t>Coloured run = sequence present</a:t>
            </a:r>
            <a:endParaRPr lang="de-DE" sz="1250" b="0" u="none" strike="noStrike">
              <a:solidFill>
                <a:srgbClr val="000000"/>
              </a:solidFill>
              <a:effectLst/>
              <a:uFillTx/>
              <a:latin typeface="Arial"/>
            </a:endParaRPr>
          </a:p>
          <a:p>
            <a:pPr marL="177840" indent="-177840" defTabSz="914400">
              <a:lnSpc>
                <a:spcPct val="100000"/>
              </a:lnSpc>
              <a:spcAft>
                <a:spcPts val="1100"/>
              </a:spcAft>
              <a:buClr>
                <a:srgbClr val="E8606B"/>
              </a:buClr>
              <a:buFont typeface="Symbol" charset="2"/>
              <a:buChar char=""/>
            </a:pPr>
            <a:r>
              <a:rPr lang="en-US" sz="1250" b="1" u="none" strike="noStrike">
                <a:solidFill>
                  <a:srgbClr val="E8606B"/>
                </a:solidFill>
                <a:effectLst/>
                <a:uFillTx/>
                <a:latin typeface="Calibri"/>
                <a:ea typeface="Calibri"/>
              </a:rPr>
              <a:t>White gap = sequence absent in that genome (presence/absence variation)</a:t>
            </a:r>
            <a:endParaRPr lang="de-DE" sz="1250" b="0" u="none" strike="noStrike">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250" b="0" u="none" strike="noStrike">
                <a:solidFill>
                  <a:srgbClr val="2B2331"/>
                </a:solidFill>
                <a:effectLst/>
                <a:uFillTx/>
                <a:latin typeface="Calibri"/>
                <a:ea typeface="Calibri"/>
              </a:rPr>
              <a:t>Gaps aligned across rows = a shared insertion / deletion (a real SV)</a:t>
            </a:r>
            <a:endParaRPr lang="de-DE" sz="1250" b="0" u="none" strike="noStrike">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250" b="0" u="none" strike="noStrike">
                <a:solidFill>
                  <a:srgbClr val="2B2331"/>
                </a:solidFill>
                <a:effectLst/>
                <a:uFillTx/>
                <a:latin typeface="Calibri"/>
                <a:ea typeface="Calibri"/>
              </a:rPr>
              <a:t>Every row spans the locus → all genomes embedded, nothing dropped</a:t>
            </a:r>
            <a:endParaRPr lang="de-DE" sz="1250" b="0" u="none" strike="noStrike">
              <a:solidFill>
                <a:srgbClr val="000000"/>
              </a:solidFill>
              <a:effectLst/>
              <a:uFillTx/>
              <a:latin typeface="Arial"/>
            </a:endParaRPr>
          </a:p>
        </p:txBody>
      </p:sp>
      <p:sp>
        <p:nvSpPr>
          <p:cNvPr id="463" name="Shape 4"/>
          <p:cNvSpPr/>
          <p:nvPr/>
        </p:nvSpPr>
        <p:spPr>
          <a:xfrm>
            <a:off x="5184720" y="1691640"/>
            <a:ext cx="6439680" cy="3565800"/>
          </a:xfrm>
          <a:prstGeom prst="roundRect">
            <a:avLst>
              <a:gd name="adj" fmla="val 1538"/>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464" name="Image 0" descr="C:\Users\fzj\AppData\Local\Temp\claude\C--Users-fzj-git-primer3-rs\110509b7-eac3-44ec-8fe3-ff640ad7d275\scratchpad\assets\odgiviz.png"/>
          <p:cNvPicPr/>
          <p:nvPr/>
        </p:nvPicPr>
        <p:blipFill>
          <a:blip r:embed="rId3"/>
          <a:stretch/>
        </p:blipFill>
        <p:spPr>
          <a:xfrm>
            <a:off x="5312520" y="1819800"/>
            <a:ext cx="6183720" cy="3309840"/>
          </a:xfrm>
          <a:prstGeom prst="rect">
            <a:avLst/>
          </a:prstGeom>
          <a:noFill/>
          <a:ln w="0">
            <a:noFill/>
          </a:ln>
        </p:spPr>
      </p:pic>
      <p:sp>
        <p:nvSpPr>
          <p:cNvPr id="465" name="Text 5"/>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This single view turns the graph into biology — blocks present in some accessions but not others are exactly the variants we later test against traits.</a:t>
            </a:r>
            <a:endParaRPr lang="de-DE" sz="95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6"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67"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EVALUATING · DIVERSITY</a:t>
            </a:r>
            <a:endParaRPr lang="de-DE" sz="1200" b="0" u="none" strike="noStrike">
              <a:solidFill>
                <a:srgbClr val="000000"/>
              </a:solidFill>
              <a:effectLst/>
              <a:uFillTx/>
              <a:latin typeface="Arial"/>
            </a:endParaRPr>
          </a:p>
        </p:txBody>
      </p:sp>
      <p:sp>
        <p:nvSpPr>
          <p:cNvPr id="468"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Core, shell &amp; cloud — read from the graph</a:t>
            </a:r>
            <a:endParaRPr lang="de-DE" sz="2900" b="0" u="none" strike="noStrike">
              <a:solidFill>
                <a:srgbClr val="000000"/>
              </a:solidFill>
              <a:effectLst/>
              <a:uFillTx/>
              <a:latin typeface="Arial"/>
            </a:endParaRPr>
          </a:p>
        </p:txBody>
      </p:sp>
      <p:sp>
        <p:nvSpPr>
          <p:cNvPr id="469" name="Text 3"/>
          <p:cNvSpPr/>
          <p:nvPr/>
        </p:nvSpPr>
        <p:spPr>
          <a:xfrm>
            <a:off x="567000" y="1737360"/>
            <a:ext cx="5028840" cy="356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301"/>
              </a:spcAft>
              <a:buClr>
                <a:srgbClr val="2B2331"/>
              </a:buClr>
              <a:buFont typeface="Symbol" charset="2"/>
              <a:buChar char=""/>
            </a:pPr>
            <a:r>
              <a:rPr lang="en-US" sz="1300" b="0" u="none" strike="noStrike">
                <a:solidFill>
                  <a:srgbClr val="2B2331"/>
                </a:solidFill>
                <a:effectLst/>
                <a:uFillTx/>
                <a:latin typeface="Calibri"/>
                <a:ea typeface="Calibri"/>
              </a:rPr>
              <a:t>Classify sequence by how many genomes carry each node (node occupancy)</a:t>
            </a:r>
            <a:endParaRPr lang="de-DE" sz="1300" b="0" u="none" strike="noStrike">
              <a:solidFill>
                <a:srgbClr val="000000"/>
              </a:solidFill>
              <a:effectLst/>
              <a:uFillTx/>
              <a:latin typeface="Arial"/>
            </a:endParaRPr>
          </a:p>
          <a:p>
            <a:pPr marL="177840" indent="-177840" defTabSz="914400">
              <a:lnSpc>
                <a:spcPct val="100000"/>
              </a:lnSpc>
              <a:spcAft>
                <a:spcPts val="1301"/>
              </a:spcAft>
              <a:buClr>
                <a:srgbClr val="5E2A75"/>
              </a:buClr>
              <a:buFont typeface="Symbol" charset="2"/>
              <a:buChar char=""/>
            </a:pPr>
            <a:r>
              <a:rPr lang="en-US" sz="1300" b="1" u="none" strike="noStrike">
                <a:solidFill>
                  <a:srgbClr val="5E2A75"/>
                </a:solidFill>
                <a:effectLst/>
                <a:uFillTx/>
                <a:latin typeface="Calibri"/>
                <a:ea typeface="Calibri"/>
              </a:rPr>
              <a:t>Core = in (almost) all · Shell = in some · Cloud = rare / private</a:t>
            </a:r>
            <a:endParaRPr lang="de-DE" sz="130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00" b="0" u="none" strike="noStrike">
                <a:solidFill>
                  <a:srgbClr val="2B2331"/>
                </a:solidFill>
                <a:effectLst/>
                <a:uFillTx/>
                <a:latin typeface="Calibri"/>
                <a:ea typeface="Calibri"/>
              </a:rPr>
              <a:t>Node occupancy across paths = presence/absence variation, straight from the graph</a:t>
            </a:r>
            <a:endParaRPr lang="de-DE" sz="130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00" b="0" u="none" strike="noStrike">
                <a:solidFill>
                  <a:srgbClr val="2B2331"/>
                </a:solidFill>
                <a:effectLst/>
                <a:uFillTx/>
                <a:latin typeface="Calibri"/>
                <a:ea typeface="Calibri"/>
              </a:rPr>
              <a:t>Labels depend on sampling — more genomes shrink the core, grow the cloud</a:t>
            </a:r>
            <a:endParaRPr lang="de-DE" sz="130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00" b="0" u="none" strike="noStrike">
                <a:solidFill>
                  <a:srgbClr val="2B2331"/>
                </a:solidFill>
                <a:effectLst/>
                <a:uFillTx/>
                <a:latin typeface="Calibri"/>
                <a:ea typeface="Calibri"/>
              </a:rPr>
              <a:t>State your threshold (e.g. soft-core ≥ 90 %) and the number of genomes</a:t>
            </a:r>
            <a:endParaRPr lang="de-DE" sz="1300" b="0" u="none" strike="noStrike">
              <a:solidFill>
                <a:srgbClr val="000000"/>
              </a:solidFill>
              <a:effectLst/>
              <a:uFillTx/>
              <a:latin typeface="Arial"/>
            </a:endParaRPr>
          </a:p>
        </p:txBody>
      </p:sp>
      <p:sp>
        <p:nvSpPr>
          <p:cNvPr id="470" name="Shape 4"/>
          <p:cNvSpPr/>
          <p:nvPr/>
        </p:nvSpPr>
        <p:spPr>
          <a:xfrm>
            <a:off x="6007680" y="1691640"/>
            <a:ext cx="5616720" cy="3565800"/>
          </a:xfrm>
          <a:prstGeom prst="roundRect">
            <a:avLst>
              <a:gd name="adj" fmla="val 1538"/>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471" name="Image 0" descr="C:\Users\fzj\AppData\Local\Temp\claude\C--Users-fzj-git-primer3-rs\110509b7-eac3-44ec-8fe3-ff640ad7d275\scratchpad\assets\occupancy.png"/>
          <p:cNvPicPr/>
          <p:nvPr/>
        </p:nvPicPr>
        <p:blipFill>
          <a:blip r:embed="rId3"/>
          <a:stretch/>
        </p:blipFill>
        <p:spPr>
          <a:xfrm>
            <a:off x="6135480" y="1819800"/>
            <a:ext cx="5360760" cy="3309840"/>
          </a:xfrm>
          <a:prstGeom prst="rect">
            <a:avLst/>
          </a:prstGeom>
          <a:noFill/>
          <a:ln w="0">
            <a:noFill/>
          </a:ln>
        </p:spPr>
      </p:pic>
      <p:sp>
        <p:nvSpPr>
          <p:cNvPr id="472" name="Text 5"/>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panacus (pangenome counting tool) computes occupancy. The U-shape — much core (right) and much private (left) — is typical of an open plant pangenome.</a:t>
            </a:r>
            <a:endParaRPr lang="de-DE" sz="95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3"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74"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EVALUATING · SATURATION</a:t>
            </a:r>
            <a:endParaRPr lang="de-DE" sz="1200" b="0" u="none" strike="noStrike">
              <a:solidFill>
                <a:srgbClr val="000000"/>
              </a:solidFill>
              <a:effectLst/>
              <a:uFillTx/>
              <a:latin typeface="Arial"/>
            </a:endParaRPr>
          </a:p>
        </p:txBody>
      </p:sp>
      <p:sp>
        <p:nvSpPr>
          <p:cNvPr id="475"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Openness &amp; saturation: enough genomes?</a:t>
            </a:r>
            <a:endParaRPr lang="de-DE" sz="2900" b="0" u="none" strike="noStrike">
              <a:solidFill>
                <a:srgbClr val="000000"/>
              </a:solidFill>
              <a:effectLst/>
              <a:uFillTx/>
              <a:latin typeface="Arial"/>
            </a:endParaRPr>
          </a:p>
        </p:txBody>
      </p:sp>
      <p:sp>
        <p:nvSpPr>
          <p:cNvPr id="476" name="Text 3"/>
          <p:cNvSpPr/>
          <p:nvPr/>
        </p:nvSpPr>
        <p:spPr>
          <a:xfrm>
            <a:off x="567000" y="1737360"/>
            <a:ext cx="5028840" cy="356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301"/>
              </a:spcAft>
              <a:buClr>
                <a:srgbClr val="2B2331"/>
              </a:buClr>
              <a:buFont typeface="Symbol" charset="2"/>
              <a:buChar char=""/>
            </a:pPr>
            <a:r>
              <a:rPr lang="en-US" sz="1300" b="0" u="none" strike="noStrike">
                <a:solidFill>
                  <a:srgbClr val="2B2331"/>
                </a:solidFill>
                <a:effectLst/>
                <a:uFillTx/>
                <a:latin typeface="Calibri"/>
                <a:ea typeface="Calibri"/>
              </a:rPr>
              <a:t>Add genomes one by one; fit Heaps' law to the accumulation curves</a:t>
            </a:r>
            <a:endParaRPr lang="de-DE" sz="1300" b="0" u="none" strike="noStrike">
              <a:solidFill>
                <a:srgbClr val="000000"/>
              </a:solidFill>
              <a:effectLst/>
              <a:uFillTx/>
              <a:latin typeface="Arial"/>
            </a:endParaRPr>
          </a:p>
          <a:p>
            <a:pPr marL="177840" indent="-177840" defTabSz="914400">
              <a:lnSpc>
                <a:spcPct val="100000"/>
              </a:lnSpc>
              <a:spcAft>
                <a:spcPts val="1301"/>
              </a:spcAft>
              <a:buClr>
                <a:srgbClr val="E8606B"/>
              </a:buClr>
              <a:buFont typeface="Symbol" charset="2"/>
              <a:buChar char=""/>
            </a:pPr>
            <a:r>
              <a:rPr lang="en-US" sz="1300" b="1" u="none" strike="noStrike">
                <a:solidFill>
                  <a:srgbClr val="E8606B"/>
                </a:solidFill>
                <a:effectLst/>
                <a:uFillTx/>
                <a:latin typeface="Calibri"/>
                <a:ea typeface="Calibri"/>
              </a:rPr>
              <a:t>Pan curve still rising = OPEN pangenome (each genome adds new sequence)</a:t>
            </a:r>
            <a:endParaRPr lang="de-DE" sz="1300" b="0" u="none" strike="noStrike">
              <a:solidFill>
                <a:srgbClr val="000000"/>
              </a:solidFill>
              <a:effectLst/>
              <a:uFillTx/>
              <a:latin typeface="Arial"/>
            </a:endParaRPr>
          </a:p>
          <a:p>
            <a:pPr marL="177840" indent="-177840" defTabSz="914400">
              <a:lnSpc>
                <a:spcPct val="100000"/>
              </a:lnSpc>
              <a:spcAft>
                <a:spcPts val="1301"/>
              </a:spcAft>
              <a:buClr>
                <a:srgbClr val="21476B"/>
              </a:buClr>
              <a:buFont typeface="Symbol" charset="2"/>
              <a:buChar char=""/>
            </a:pPr>
            <a:r>
              <a:rPr lang="en-US" sz="1300" b="1" u="none" strike="noStrike">
                <a:solidFill>
                  <a:srgbClr val="21476B"/>
                </a:solidFill>
                <a:effectLst/>
                <a:uFillTx/>
                <a:latin typeface="Calibri"/>
                <a:ea typeface="Calibri"/>
              </a:rPr>
              <a:t>Plateau = closed; the core curve falls then settles on the universal fraction</a:t>
            </a:r>
            <a:endParaRPr lang="de-DE" sz="130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00" b="0" u="none" strike="noStrike">
                <a:solidFill>
                  <a:srgbClr val="2B2331"/>
                </a:solidFill>
                <a:effectLst/>
                <a:uFillTx/>
                <a:latin typeface="Calibri"/>
                <a:ea typeface="Calibri"/>
              </a:rPr>
              <a:t>Saturation must hold before core / shell / cloud numbers are trustworthy</a:t>
            </a:r>
            <a:endParaRPr lang="de-DE" sz="130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00" b="0" u="none" strike="noStrike">
                <a:solidFill>
                  <a:srgbClr val="2B2331"/>
                </a:solidFill>
                <a:effectLst/>
                <a:uFillTx/>
                <a:latin typeface="Calibri"/>
                <a:ea typeface="Calibri"/>
              </a:rPr>
              <a:t>Rule of thumb: ~10–20 accessions (diploid), ~30–50 (polyploid)</a:t>
            </a:r>
            <a:endParaRPr lang="de-DE" sz="1300" b="0" u="none" strike="noStrike">
              <a:solidFill>
                <a:srgbClr val="000000"/>
              </a:solidFill>
              <a:effectLst/>
              <a:uFillTx/>
              <a:latin typeface="Arial"/>
            </a:endParaRPr>
          </a:p>
        </p:txBody>
      </p:sp>
      <p:sp>
        <p:nvSpPr>
          <p:cNvPr id="477" name="Shape 4"/>
          <p:cNvSpPr/>
          <p:nvPr/>
        </p:nvSpPr>
        <p:spPr>
          <a:xfrm>
            <a:off x="6007680" y="1691640"/>
            <a:ext cx="5616720" cy="3565800"/>
          </a:xfrm>
          <a:prstGeom prst="roundRect">
            <a:avLst>
              <a:gd name="adj" fmla="val 1538"/>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478" name="Image 0" descr="C:\Users\fzj\AppData\Local\Temp\claude\C--Users-fzj-git-primer3-rs\110509b7-eac3-44ec-8fe3-ff640ad7d275\scratchpad\assets\growth.png"/>
          <p:cNvPicPr/>
          <p:nvPr/>
        </p:nvPicPr>
        <p:blipFill>
          <a:blip r:embed="rId3"/>
          <a:stretch/>
        </p:blipFill>
        <p:spPr>
          <a:xfrm>
            <a:off x="6135480" y="1819800"/>
            <a:ext cx="5360760" cy="3309840"/>
          </a:xfrm>
          <a:prstGeom prst="rect">
            <a:avLst/>
          </a:prstGeom>
          <a:noFill/>
          <a:ln w="0">
            <a:noFill/>
          </a:ln>
        </p:spPr>
      </p:pic>
      <p:sp>
        <p:nvSpPr>
          <p:cNvPr id="479" name="Text 5"/>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Heaps' law describes how vocabulary (here, new sequence) grows with sample size. Diploid = two chromosome sets; polyploid = more than two. Saturation guidance: plant pan-genome white paper, F1000Research 2026 (14:739).</a:t>
            </a:r>
            <a:endParaRPr lang="de-DE" sz="95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0"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81"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EVALUATING · BEYOND GENES</a:t>
            </a:r>
            <a:endParaRPr lang="de-DE" sz="1200" b="0" u="none" strike="noStrike">
              <a:solidFill>
                <a:srgbClr val="000000"/>
              </a:solidFill>
              <a:effectLst/>
              <a:uFillTx/>
              <a:latin typeface="Arial"/>
            </a:endParaRPr>
          </a:p>
        </p:txBody>
      </p:sp>
      <p:sp>
        <p:nvSpPr>
          <p:cNvPr id="482"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The variable majority: repeats &amp; transposable elements</a:t>
            </a:r>
            <a:endParaRPr lang="de-DE" sz="2900" b="0" u="none" strike="noStrike">
              <a:solidFill>
                <a:srgbClr val="000000"/>
              </a:solidFill>
              <a:effectLst/>
              <a:uFillTx/>
              <a:latin typeface="Arial"/>
            </a:endParaRPr>
          </a:p>
        </p:txBody>
      </p:sp>
      <p:sp>
        <p:nvSpPr>
          <p:cNvPr id="483" name="Text 3"/>
          <p:cNvSpPr/>
          <p:nvPr/>
        </p:nvSpPr>
        <p:spPr>
          <a:xfrm>
            <a:off x="567000" y="1737360"/>
            <a:ext cx="5028840" cy="356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00"/>
              </a:spcAft>
              <a:buClr>
                <a:srgbClr val="5E2A75"/>
              </a:buClr>
              <a:buFont typeface="Symbol" charset="2"/>
              <a:buChar char=""/>
            </a:pPr>
            <a:r>
              <a:rPr lang="en-US" sz="1250" b="1" u="none" strike="noStrike">
                <a:solidFill>
                  <a:srgbClr val="5E2A75"/>
                </a:solidFill>
                <a:effectLst/>
                <a:uFillTx/>
                <a:latin typeface="Calibri"/>
                <a:ea typeface="Calibri"/>
              </a:rPr>
              <a:t>TE = transposable element: DNA that can move/copy itself; dominates plant genomes</a:t>
            </a:r>
            <a:endParaRPr lang="de-DE" sz="1250" b="0" u="none" strike="noStrike">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250" b="0" u="none" strike="noStrike">
                <a:solidFill>
                  <a:srgbClr val="2B2331"/>
                </a:solidFill>
                <a:effectLst/>
                <a:uFillTx/>
                <a:latin typeface="Calibri"/>
                <a:ea typeface="Calibri"/>
              </a:rPr>
              <a:t>TEs are the most variable fraction — they drive genome-size &amp; SV diversity</a:t>
            </a:r>
            <a:endParaRPr lang="de-DE" sz="1250" b="0" u="none" strike="noStrike">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250" b="0" u="none" strike="noStrike">
                <a:solidFill>
                  <a:srgbClr val="2B2331"/>
                </a:solidFill>
                <a:effectLst/>
                <a:uFillTx/>
                <a:latin typeface="Calibri"/>
                <a:ea typeface="Calibri"/>
              </a:rPr>
              <a:t>Assess repeat resolution: LAI (LTR Assembly Index), TE libraries from EDTA</a:t>
            </a:r>
            <a:endParaRPr lang="de-DE" sz="1250" b="0" u="none" strike="noStrike">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250" b="0" u="none" strike="noStrike">
                <a:solidFill>
                  <a:srgbClr val="2B2331"/>
                </a:solidFill>
                <a:effectLst/>
                <a:uFillTx/>
                <a:latin typeface="Calibri"/>
                <a:ea typeface="Calibri"/>
              </a:rPr>
              <a:t>LTR = long terminal repeat, the commonest plant TE class</a:t>
            </a:r>
            <a:endParaRPr lang="de-DE" sz="1250" b="0" u="none" strike="noStrike">
              <a:solidFill>
                <a:srgbClr val="000000"/>
              </a:solidFill>
              <a:effectLst/>
              <a:uFillTx/>
              <a:latin typeface="Arial"/>
            </a:endParaRPr>
          </a:p>
          <a:p>
            <a:pPr marL="177840" indent="-177840" defTabSz="914400">
              <a:lnSpc>
                <a:spcPct val="100000"/>
              </a:lnSpc>
              <a:spcAft>
                <a:spcPts val="1100"/>
              </a:spcAft>
              <a:buClr>
                <a:srgbClr val="E8606B"/>
              </a:buClr>
              <a:buFont typeface="Symbol" charset="2"/>
              <a:buChar char=""/>
            </a:pPr>
            <a:r>
              <a:rPr lang="en-US" sz="1250" b="1" u="none" strike="noStrike">
                <a:solidFill>
                  <a:srgbClr val="E8606B"/>
                </a:solidFill>
                <a:effectLst/>
                <a:uFillTx/>
                <a:latin typeface="Calibri"/>
                <a:ea typeface="Calibri"/>
              </a:rPr>
              <a:t>~40–50 % of graph-unique variants fall in repeats — QC these regions explicitly</a:t>
            </a:r>
            <a:endParaRPr lang="de-DE" sz="1250" b="0" u="none" strike="noStrike">
              <a:solidFill>
                <a:srgbClr val="000000"/>
              </a:solidFill>
              <a:effectLst/>
              <a:uFillTx/>
              <a:latin typeface="Arial"/>
            </a:endParaRPr>
          </a:p>
        </p:txBody>
      </p:sp>
      <p:sp>
        <p:nvSpPr>
          <p:cNvPr id="484" name="Shape 4"/>
          <p:cNvSpPr/>
          <p:nvPr/>
        </p:nvSpPr>
        <p:spPr>
          <a:xfrm>
            <a:off x="6007680" y="1691640"/>
            <a:ext cx="5616720" cy="3565800"/>
          </a:xfrm>
          <a:prstGeom prst="roundRect">
            <a:avLst>
              <a:gd name="adj" fmla="val 1538"/>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485" name="Image 0" descr="C:\Users\fzj\AppData\Local\Temp\claude\C--Users-fzj-git-primer3-rs\110509b7-eac3-44ec-8fe3-ff640ad7d275\scratchpad\assets\te.png"/>
          <p:cNvPicPr/>
          <p:nvPr/>
        </p:nvPicPr>
        <p:blipFill>
          <a:blip r:embed="rId3"/>
          <a:stretch/>
        </p:blipFill>
        <p:spPr>
          <a:xfrm>
            <a:off x="6135480" y="1819800"/>
            <a:ext cx="5360760" cy="3309840"/>
          </a:xfrm>
          <a:prstGeom prst="rect">
            <a:avLst/>
          </a:prstGeom>
          <a:noFill/>
          <a:ln w="0">
            <a:noFill/>
          </a:ln>
        </p:spPr>
      </p:pic>
      <p:sp>
        <p:nvSpPr>
          <p:cNvPr id="486" name="Text 5"/>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EDTA = Extensive de-novo TE Annotator. Nested / tandem TEs inflate node duplication and false variants — repeat regions are where graphs most often go wrong.</a:t>
            </a:r>
            <a:endParaRPr lang="de-DE" sz="95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7"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88"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EVALUATING · BEYOND GENES</a:t>
            </a:r>
            <a:endParaRPr lang="de-DE" sz="1200" b="0" u="none" strike="noStrike">
              <a:solidFill>
                <a:srgbClr val="000000"/>
              </a:solidFill>
              <a:effectLst/>
              <a:uFillTx/>
              <a:latin typeface="Arial"/>
            </a:endParaRPr>
          </a:p>
        </p:txBody>
      </p:sp>
      <p:sp>
        <p:nvSpPr>
          <p:cNvPr id="489"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Regulatory &amp; non-coding diversity</a:t>
            </a:r>
            <a:endParaRPr lang="de-DE" sz="2900" b="0" u="none" strike="noStrike">
              <a:solidFill>
                <a:srgbClr val="000000"/>
              </a:solidFill>
              <a:effectLst/>
              <a:uFillTx/>
              <a:latin typeface="Arial"/>
            </a:endParaRPr>
          </a:p>
        </p:txBody>
      </p:sp>
      <p:sp>
        <p:nvSpPr>
          <p:cNvPr id="490" name="Shape 3"/>
          <p:cNvSpPr/>
          <p:nvPr/>
        </p:nvSpPr>
        <p:spPr>
          <a:xfrm>
            <a:off x="567000" y="1691640"/>
            <a:ext cx="5345640" cy="3931560"/>
          </a:xfrm>
          <a:prstGeom prst="roundRect">
            <a:avLst>
              <a:gd name="adj" fmla="val 1628"/>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91" name="Text 4"/>
          <p:cNvSpPr/>
          <p:nvPr/>
        </p:nvSpPr>
        <p:spPr>
          <a:xfrm>
            <a:off x="749880" y="1810440"/>
            <a:ext cx="4979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What varies (and is easy to miss)</a:t>
            </a:r>
            <a:endParaRPr lang="de-DE" sz="1350" b="0" u="none" strike="noStrike">
              <a:solidFill>
                <a:srgbClr val="000000"/>
              </a:solidFill>
              <a:effectLst/>
              <a:uFillTx/>
              <a:latin typeface="Arial"/>
            </a:endParaRPr>
          </a:p>
        </p:txBody>
      </p:sp>
      <p:sp>
        <p:nvSpPr>
          <p:cNvPr id="492" name="Text 5"/>
          <p:cNvSpPr/>
          <p:nvPr/>
        </p:nvSpPr>
        <p:spPr>
          <a:xfrm>
            <a:off x="768240" y="2240280"/>
            <a:ext cx="4943520" cy="3200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99"/>
              </a:spcAft>
              <a:buClr>
                <a:srgbClr val="2B2331"/>
              </a:buClr>
              <a:buFont typeface="Symbol" charset="2"/>
              <a:buChar char=""/>
            </a:pPr>
            <a:r>
              <a:rPr lang="en-US" sz="1250" b="0" u="none" strike="noStrike">
                <a:solidFill>
                  <a:srgbClr val="2B2331"/>
                </a:solidFill>
                <a:effectLst/>
                <a:uFillTx/>
                <a:latin typeface="Calibri"/>
                <a:ea typeface="Calibri"/>
              </a:rPr>
              <a:t>Promoters &amp; cis-regulatory elements (CREs) — sequence near genes that controls expression</a:t>
            </a:r>
            <a:endParaRPr lang="de-DE" sz="125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250" b="0" u="none" strike="noStrike">
                <a:solidFill>
                  <a:srgbClr val="2B2331"/>
                </a:solidFill>
                <a:effectLst/>
                <a:uFillTx/>
                <a:latin typeface="Calibri"/>
                <a:ea typeface="Calibri"/>
              </a:rPr>
              <a:t>Non-coding RNA (ncRNA): microRNA (miRNA), long non-coding RNA (lncRNA)</a:t>
            </a:r>
            <a:endParaRPr lang="de-DE" sz="125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250" b="0" u="none" strike="noStrike">
                <a:solidFill>
                  <a:srgbClr val="2B2331"/>
                </a:solidFill>
                <a:effectLst/>
                <a:uFillTx/>
                <a:latin typeface="Calibri"/>
                <a:ea typeface="Calibri"/>
              </a:rPr>
              <a:t>Methylation / chromatin state differs between haplotypes (epigenetics)</a:t>
            </a:r>
            <a:endParaRPr lang="de-DE" sz="1250" b="0" u="none" strike="noStrike">
              <a:solidFill>
                <a:srgbClr val="000000"/>
              </a:solidFill>
              <a:effectLst/>
              <a:uFillTx/>
              <a:latin typeface="Arial"/>
            </a:endParaRPr>
          </a:p>
          <a:p>
            <a:pPr marL="177840" indent="-177840" defTabSz="914400">
              <a:lnSpc>
                <a:spcPct val="100000"/>
              </a:lnSpc>
              <a:spcAft>
                <a:spcPts val="1199"/>
              </a:spcAft>
              <a:buClr>
                <a:srgbClr val="E8606B"/>
              </a:buClr>
              <a:buFont typeface="Symbol" charset="2"/>
              <a:buChar char=""/>
            </a:pPr>
            <a:r>
              <a:rPr lang="en-US" sz="1250" b="1" u="none" strike="noStrike">
                <a:solidFill>
                  <a:srgbClr val="E8606B"/>
                </a:solidFill>
                <a:effectLst/>
                <a:uFillTx/>
                <a:latin typeface="Calibri"/>
                <a:ea typeface="Calibri"/>
              </a:rPr>
              <a:t>Gene-only pangenomes ignore all of this — PAV of genes ≠ PAV of regulation</a:t>
            </a:r>
            <a:endParaRPr lang="de-DE" sz="1250" b="0" u="none" strike="noStrike">
              <a:solidFill>
                <a:srgbClr val="000000"/>
              </a:solidFill>
              <a:effectLst/>
              <a:uFillTx/>
              <a:latin typeface="Arial"/>
            </a:endParaRPr>
          </a:p>
        </p:txBody>
      </p:sp>
      <p:sp>
        <p:nvSpPr>
          <p:cNvPr id="493" name="Shape 6"/>
          <p:cNvSpPr/>
          <p:nvPr/>
        </p:nvSpPr>
        <p:spPr>
          <a:xfrm>
            <a:off x="6278760" y="1691640"/>
            <a:ext cx="5345640" cy="3931560"/>
          </a:xfrm>
          <a:prstGeom prst="roundRect">
            <a:avLst>
              <a:gd name="adj" fmla="val 1628"/>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94" name="Text 7"/>
          <p:cNvSpPr/>
          <p:nvPr/>
        </p:nvSpPr>
        <p:spPr>
          <a:xfrm>
            <a:off x="6461640" y="1810440"/>
            <a:ext cx="4979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How to capture it</a:t>
            </a:r>
            <a:endParaRPr lang="de-DE" sz="1350" b="0" u="none" strike="noStrike">
              <a:solidFill>
                <a:srgbClr val="000000"/>
              </a:solidFill>
              <a:effectLst/>
              <a:uFillTx/>
              <a:latin typeface="Arial"/>
            </a:endParaRPr>
          </a:p>
        </p:txBody>
      </p:sp>
      <p:sp>
        <p:nvSpPr>
          <p:cNvPr id="495" name="Text 8"/>
          <p:cNvSpPr/>
          <p:nvPr/>
        </p:nvSpPr>
        <p:spPr>
          <a:xfrm>
            <a:off x="6480000" y="2240280"/>
            <a:ext cx="4943520" cy="3200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99"/>
              </a:spcAft>
              <a:buClr>
                <a:srgbClr val="2B2331"/>
              </a:buClr>
              <a:buFont typeface="Symbol" charset="2"/>
              <a:buChar char=""/>
            </a:pPr>
            <a:r>
              <a:rPr lang="en-US" sz="1250" b="0" u="none" strike="noStrike">
                <a:solidFill>
                  <a:srgbClr val="2B2331"/>
                </a:solidFill>
                <a:effectLst/>
                <a:uFillTx/>
                <a:latin typeface="Calibri"/>
                <a:ea typeface="Calibri"/>
              </a:rPr>
              <a:t>RNA-seq across tissues/stress validates gene models &amp; accessory features</a:t>
            </a:r>
            <a:endParaRPr lang="de-DE" sz="125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250" b="0" u="none" strike="noStrike">
                <a:solidFill>
                  <a:srgbClr val="2B2331"/>
                </a:solidFill>
                <a:effectLst/>
                <a:uFillTx/>
                <a:latin typeface="Calibri"/>
                <a:ea typeface="Calibri"/>
              </a:rPr>
              <a:t>Standardised feature IDs for TEs, repeats, ncRNA &amp; regulatory motifs</a:t>
            </a:r>
            <a:endParaRPr lang="de-DE" sz="125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250" b="0" u="none" strike="noStrike">
                <a:solidFill>
                  <a:srgbClr val="2B2331"/>
                </a:solidFill>
                <a:effectLst/>
                <a:uFillTx/>
                <a:latin typeface="Calibri"/>
                <a:ea typeface="Calibri"/>
              </a:rPr>
              <a:t>Sequence-aware deep learning (e.g. Enformer, DNABERT) predicts regulatory effect</a:t>
            </a:r>
            <a:endParaRPr lang="de-DE" sz="1250" b="0" u="none" strike="noStrike">
              <a:solidFill>
                <a:srgbClr val="000000"/>
              </a:solidFill>
              <a:effectLst/>
              <a:uFillTx/>
              <a:latin typeface="Arial"/>
            </a:endParaRPr>
          </a:p>
          <a:p>
            <a:pPr marL="177840" indent="-177840" defTabSz="914400">
              <a:lnSpc>
                <a:spcPct val="100000"/>
              </a:lnSpc>
              <a:spcAft>
                <a:spcPts val="1199"/>
              </a:spcAft>
              <a:buClr>
                <a:srgbClr val="8246A0"/>
              </a:buClr>
              <a:buFont typeface="Symbol" charset="2"/>
              <a:buChar char=""/>
            </a:pPr>
            <a:r>
              <a:rPr lang="en-US" sz="1250" b="1" u="none" strike="noStrike">
                <a:solidFill>
                  <a:srgbClr val="8246A0"/>
                </a:solidFill>
                <a:effectLst/>
                <a:uFillTx/>
                <a:latin typeface="Calibri"/>
                <a:ea typeface="Calibri"/>
              </a:rPr>
              <a:t>A TE landing in a promoter can change a trait without touching any coding sequence</a:t>
            </a:r>
            <a:endParaRPr lang="de-DE" sz="1250" b="0" u="none" strike="noStrike">
              <a:solidFill>
                <a:srgbClr val="000000"/>
              </a:solidFill>
              <a:effectLst/>
              <a:uFillTx/>
              <a:latin typeface="Arial"/>
            </a:endParaRPr>
          </a:p>
        </p:txBody>
      </p:sp>
      <p:sp>
        <p:nvSpPr>
          <p:cNvPr id="496" name="Text 9"/>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CRE = cis-regulatory element · ncRNA = non-coding RNA · miRNA = microRNA · lncRNA = long non-coding RNA. RNA-seq = sequencing of expressed RNA.</a:t>
            </a:r>
            <a:endParaRPr lang="de-DE" sz="95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7"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98"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EVALUATING · GRAPH QC</a:t>
            </a:r>
            <a:endParaRPr lang="de-DE" sz="1200" b="0" u="none" strike="noStrike">
              <a:solidFill>
                <a:srgbClr val="000000"/>
              </a:solidFill>
              <a:effectLst/>
              <a:uFillTx/>
              <a:latin typeface="Arial"/>
            </a:endParaRPr>
          </a:p>
        </p:txBody>
      </p:sp>
      <p:sp>
        <p:nvSpPr>
          <p:cNvPr id="499"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What makes a graph 'good'? A six-point checklist</a:t>
            </a:r>
            <a:endParaRPr lang="de-DE" sz="2900" b="0" u="none" strike="noStrike">
              <a:solidFill>
                <a:srgbClr val="000000"/>
              </a:solidFill>
              <a:effectLst/>
              <a:uFillTx/>
              <a:latin typeface="Arial"/>
            </a:endParaRPr>
          </a:p>
        </p:txBody>
      </p:sp>
      <p:graphicFrame>
        <p:nvGraphicFramePr>
          <p:cNvPr id="500" name="Table 0"/>
          <p:cNvGraphicFramePr/>
          <p:nvPr/>
        </p:nvGraphicFramePr>
        <p:xfrm>
          <a:off x="567000" y="1645920"/>
          <a:ext cx="11057760" cy="3234960"/>
        </p:xfrm>
        <a:graphic>
          <a:graphicData uri="http://schemas.openxmlformats.org/drawingml/2006/table">
            <a:tbl>
              <a:tblPr/>
              <a:tblGrid>
                <a:gridCol w="3200400">
                  <a:extLst>
                    <a:ext uri="{9D8B030D-6E8A-4147-A177-3AD203B41FA5}">
                      <a16:colId xmlns:a16="http://schemas.microsoft.com/office/drawing/2014/main" val="20000"/>
                    </a:ext>
                  </a:extLst>
                </a:gridCol>
                <a:gridCol w="48398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83760">
                <a:tc>
                  <a:txBody>
                    <a:bodyPr/>
                    <a:lstStyle/>
                    <a:p>
                      <a:pPr defTabSz="914400">
                        <a:lnSpc>
                          <a:spcPct val="100000"/>
                        </a:lnSpc>
                        <a:tabLst>
                          <a:tab pos="0" algn="l"/>
                        </a:tabLst>
                      </a:pPr>
                      <a:r>
                        <a:rPr lang="en-US" sz="1250" b="1" u="none" strike="noStrike">
                          <a:solidFill>
                            <a:srgbClr val="FFFFFF"/>
                          </a:solidFill>
                          <a:effectLst/>
                          <a:uFillTx/>
                          <a:latin typeface="Calibri"/>
                          <a:ea typeface="Calibri"/>
                        </a:rPr>
                        <a:t>Check</a:t>
                      </a:r>
                      <a:endParaRPr lang="de-DE" sz="1250" b="0" u="none" strike="noStrike">
                        <a:solidFill>
                          <a:srgbClr val="FFFFFF"/>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5E2A75"/>
                    </a:solidFill>
                  </a:tcPr>
                </a:tc>
                <a:tc>
                  <a:txBody>
                    <a:bodyPr/>
                    <a:lstStyle/>
                    <a:p>
                      <a:pPr defTabSz="914400">
                        <a:lnSpc>
                          <a:spcPct val="100000"/>
                        </a:lnSpc>
                        <a:tabLst>
                          <a:tab pos="0" algn="l"/>
                        </a:tabLst>
                      </a:pPr>
                      <a:r>
                        <a:rPr lang="en-US" sz="1250" b="1" u="none" strike="noStrike">
                          <a:solidFill>
                            <a:srgbClr val="FFFFFF"/>
                          </a:solidFill>
                          <a:effectLst/>
                          <a:uFillTx/>
                          <a:latin typeface="Calibri"/>
                          <a:ea typeface="Calibri"/>
                        </a:rPr>
                        <a:t>Good looks like</a:t>
                      </a:r>
                      <a:endParaRPr lang="de-DE" sz="1250" b="0" u="none" strike="noStrike">
                        <a:solidFill>
                          <a:srgbClr val="FFFFFF"/>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5E2A75"/>
                    </a:solidFill>
                  </a:tcPr>
                </a:tc>
                <a:tc>
                  <a:txBody>
                    <a:bodyPr/>
                    <a:lstStyle/>
                    <a:p>
                      <a:pPr defTabSz="914400">
                        <a:lnSpc>
                          <a:spcPct val="100000"/>
                        </a:lnSpc>
                        <a:tabLst>
                          <a:tab pos="0" algn="l"/>
                        </a:tabLst>
                      </a:pPr>
                      <a:r>
                        <a:rPr lang="en-US" sz="1250" b="1" u="none" strike="noStrike">
                          <a:solidFill>
                            <a:srgbClr val="FFFFFF"/>
                          </a:solidFill>
                          <a:effectLst/>
                          <a:uFillTx/>
                          <a:latin typeface="Calibri"/>
                          <a:ea typeface="Calibri"/>
                        </a:rPr>
                        <a:t>Tool</a:t>
                      </a:r>
                      <a:endParaRPr lang="de-DE" sz="1250" b="0" u="none" strike="noStrike">
                        <a:solidFill>
                          <a:srgbClr val="FFFFFF"/>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5E2A75"/>
                    </a:solidFill>
                  </a:tcPr>
                </a:tc>
                <a:extLst>
                  <a:ext uri="{0D108BD9-81ED-4DB2-BD59-A6C34878D82A}">
                    <a16:rowId xmlns:a16="http://schemas.microsoft.com/office/drawing/2014/main" val="10000"/>
                  </a:ext>
                </a:extLst>
              </a:tr>
              <a:tr h="475200">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Every input represented</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 paths = # genomes; coverage &gt; 94 %</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odgi paths</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extLst>
                  <a:ext uri="{0D108BD9-81ED-4DB2-BD59-A6C34878D82A}">
                    <a16:rowId xmlns:a16="http://schemas.microsoft.com/office/drawing/2014/main" val="10001"/>
                  </a:ext>
                </a:extLst>
              </a:tr>
              <a:tr h="475200">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Graph complexity</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node/edge counts &amp; node length sane vs reference</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odgi stats</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extLst>
                  <a:ext uri="{0D108BD9-81ED-4DB2-BD59-A6C34878D82A}">
                    <a16:rowId xmlns:a16="http://schemas.microsoft.com/office/drawing/2014/main" val="10002"/>
                  </a:ext>
                </a:extLst>
              </a:tr>
              <a:tr h="475200">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Gene completeness</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BUSCO on flattened graph ≈ the inputs</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odgi flatten · BUSCO</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extLst>
                  <a:ext uri="{0D108BD9-81ED-4DB2-BD59-A6C34878D82A}">
                    <a16:rowId xmlns:a16="http://schemas.microsoft.com/office/drawing/2014/main" val="10003"/>
                  </a:ext>
                </a:extLst>
              </a:tr>
              <a:tr h="475200">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Variant recall / precision</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F1 vs a truth set ≈ 0.8–0.9</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vg deconstruct · Truvari</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extLst>
                  <a:ext uri="{0D108BD9-81ED-4DB2-BD59-A6C34878D82A}">
                    <a16:rowId xmlns:a16="http://schemas.microsoft.com/office/drawing/2014/main" val="10004"/>
                  </a:ext>
                </a:extLst>
              </a:tr>
              <a:tr h="475200">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Read mapping</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high % correct at minimum mapping quality (MQ)</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vg giraffe</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extLst>
                  <a:ext uri="{0D108BD9-81ED-4DB2-BD59-A6C34878D82A}">
                    <a16:rowId xmlns:a16="http://schemas.microsoft.com/office/drawing/2014/main" val="10005"/>
                  </a:ext>
                </a:extLst>
              </a:tr>
              <a:tr h="475200">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Growth / occupancy</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saturating curve, sensible core fraction</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panacus</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501" name="Text 3"/>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F1 = harmonic mean of precision (are called variants real?) and recall (were real variants found?). Truvari = an SV benchmarking tool. MQ = mapping quality. A healthy graph passes all six.</a:t>
            </a:r>
            <a:endParaRPr lang="de-DE" sz="95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2"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503"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CASE STUDY</a:t>
            </a:r>
            <a:endParaRPr lang="de-DE" sz="1200" b="0" u="none" strike="noStrike">
              <a:solidFill>
                <a:srgbClr val="000000"/>
              </a:solidFill>
              <a:effectLst/>
              <a:uFillTx/>
              <a:latin typeface="Arial"/>
            </a:endParaRPr>
          </a:p>
        </p:txBody>
      </p:sp>
      <p:sp>
        <p:nvSpPr>
          <p:cNvPr id="504"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PG-SMA: a graph pangenome of eggplant</a:t>
            </a:r>
            <a:endParaRPr lang="de-DE" sz="2900" b="0" u="none" strike="noStrike">
              <a:solidFill>
                <a:srgbClr val="000000"/>
              </a:solidFill>
              <a:effectLst/>
              <a:uFillTx/>
              <a:latin typeface="Arial"/>
            </a:endParaRPr>
          </a:p>
        </p:txBody>
      </p:sp>
      <p:sp>
        <p:nvSpPr>
          <p:cNvPr id="505" name="Shape 3"/>
          <p:cNvSpPr/>
          <p:nvPr/>
        </p:nvSpPr>
        <p:spPr>
          <a:xfrm>
            <a:off x="567000" y="1645920"/>
            <a:ext cx="2572200" cy="1416960"/>
          </a:xfrm>
          <a:prstGeom prst="roundRect">
            <a:avLst>
              <a:gd name="adj" fmla="val 4516"/>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506" name="Text 4"/>
          <p:cNvSpPr/>
          <p:nvPr/>
        </p:nvSpPr>
        <p:spPr>
          <a:xfrm>
            <a:off x="658440" y="1847160"/>
            <a:ext cx="23893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200" b="1" u="none" strike="noStrike">
                <a:solidFill>
                  <a:srgbClr val="21476B"/>
                </a:solidFill>
                <a:effectLst/>
                <a:uFillTx/>
                <a:latin typeface="Cambria"/>
                <a:ea typeface="Cambria"/>
              </a:rPr>
              <a:t>40</a:t>
            </a:r>
            <a:endParaRPr lang="de-DE" sz="3200" b="0" u="none" strike="noStrike">
              <a:solidFill>
                <a:srgbClr val="000000"/>
              </a:solidFill>
              <a:effectLst/>
              <a:uFillTx/>
              <a:latin typeface="Arial"/>
            </a:endParaRPr>
          </a:p>
        </p:txBody>
      </p:sp>
      <p:sp>
        <p:nvSpPr>
          <p:cNvPr id="507" name="Text 5"/>
          <p:cNvSpPr/>
          <p:nvPr/>
        </p:nvSpPr>
        <p:spPr>
          <a:xfrm>
            <a:off x="676800" y="2541960"/>
            <a:ext cx="23526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2B2331"/>
                </a:solidFill>
                <a:effectLst/>
                <a:uFillTx/>
                <a:latin typeface="Calibri"/>
                <a:ea typeface="Calibri"/>
              </a:rPr>
              <a:t>chromosome-scale assemblies</a:t>
            </a:r>
            <a:endParaRPr lang="de-DE" sz="1150" b="0" u="none" strike="noStrike">
              <a:solidFill>
                <a:srgbClr val="000000"/>
              </a:solidFill>
              <a:effectLst/>
              <a:uFillTx/>
              <a:latin typeface="Arial"/>
            </a:endParaRPr>
          </a:p>
        </p:txBody>
      </p:sp>
      <p:sp>
        <p:nvSpPr>
          <p:cNvPr id="508" name="Shape 6"/>
          <p:cNvSpPr/>
          <p:nvPr/>
        </p:nvSpPr>
        <p:spPr>
          <a:xfrm>
            <a:off x="3395520" y="1645920"/>
            <a:ext cx="2572200" cy="1416960"/>
          </a:xfrm>
          <a:prstGeom prst="roundRect">
            <a:avLst>
              <a:gd name="adj" fmla="val 4516"/>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509" name="Text 7"/>
          <p:cNvSpPr/>
          <p:nvPr/>
        </p:nvSpPr>
        <p:spPr>
          <a:xfrm>
            <a:off x="3486960" y="1847160"/>
            <a:ext cx="23893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200" b="1" u="none" strike="noStrike">
                <a:solidFill>
                  <a:srgbClr val="5E2A75"/>
                </a:solidFill>
                <a:effectLst/>
                <a:uFillTx/>
                <a:latin typeface="Cambria"/>
                <a:ea typeface="Cambria"/>
              </a:rPr>
              <a:t>12</a:t>
            </a:r>
            <a:endParaRPr lang="de-DE" sz="3200" b="0" u="none" strike="noStrike">
              <a:solidFill>
                <a:srgbClr val="000000"/>
              </a:solidFill>
              <a:effectLst/>
              <a:uFillTx/>
              <a:latin typeface="Arial"/>
            </a:endParaRPr>
          </a:p>
        </p:txBody>
      </p:sp>
      <p:sp>
        <p:nvSpPr>
          <p:cNvPr id="510" name="Text 8"/>
          <p:cNvSpPr/>
          <p:nvPr/>
        </p:nvSpPr>
        <p:spPr>
          <a:xfrm>
            <a:off x="3504960" y="2541960"/>
            <a:ext cx="23526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2B2331"/>
                </a:solidFill>
                <a:effectLst/>
                <a:uFillTx/>
                <a:latin typeface="Calibri"/>
                <a:ea typeface="Calibri"/>
              </a:rPr>
              <a:t>per-chromosome communities</a:t>
            </a:r>
            <a:endParaRPr lang="de-DE" sz="1150" b="0" u="none" strike="noStrike">
              <a:solidFill>
                <a:srgbClr val="000000"/>
              </a:solidFill>
              <a:effectLst/>
              <a:uFillTx/>
              <a:latin typeface="Arial"/>
            </a:endParaRPr>
          </a:p>
        </p:txBody>
      </p:sp>
      <p:sp>
        <p:nvSpPr>
          <p:cNvPr id="511" name="Shape 9"/>
          <p:cNvSpPr/>
          <p:nvPr/>
        </p:nvSpPr>
        <p:spPr>
          <a:xfrm>
            <a:off x="6224040" y="1645920"/>
            <a:ext cx="2572200" cy="1416960"/>
          </a:xfrm>
          <a:prstGeom prst="roundRect">
            <a:avLst>
              <a:gd name="adj" fmla="val 4516"/>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512" name="Text 10"/>
          <p:cNvSpPr/>
          <p:nvPr/>
        </p:nvSpPr>
        <p:spPr>
          <a:xfrm>
            <a:off x="6315480" y="1847160"/>
            <a:ext cx="23893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200" b="1" u="none" strike="noStrike">
                <a:solidFill>
                  <a:srgbClr val="8246A0"/>
                </a:solidFill>
                <a:effectLst/>
                <a:uFillTx/>
                <a:latin typeface="Cambria"/>
                <a:ea typeface="Cambria"/>
              </a:rPr>
              <a:t>2.94 Gb</a:t>
            </a:r>
            <a:endParaRPr lang="de-DE" sz="3200" b="0" u="none" strike="noStrike">
              <a:solidFill>
                <a:srgbClr val="000000"/>
              </a:solidFill>
              <a:effectLst/>
              <a:uFillTx/>
              <a:latin typeface="Arial"/>
            </a:endParaRPr>
          </a:p>
        </p:txBody>
      </p:sp>
      <p:sp>
        <p:nvSpPr>
          <p:cNvPr id="513" name="Text 11"/>
          <p:cNvSpPr/>
          <p:nvPr/>
        </p:nvSpPr>
        <p:spPr>
          <a:xfrm>
            <a:off x="6333480" y="2541960"/>
            <a:ext cx="23526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2B2331"/>
                </a:solidFill>
                <a:effectLst/>
                <a:uFillTx/>
                <a:latin typeface="Calibri"/>
                <a:ea typeface="Calibri"/>
              </a:rPr>
              <a:t>total graph length</a:t>
            </a:r>
            <a:endParaRPr lang="de-DE" sz="1150" b="0" u="none" strike="noStrike">
              <a:solidFill>
                <a:srgbClr val="000000"/>
              </a:solidFill>
              <a:effectLst/>
              <a:uFillTx/>
              <a:latin typeface="Arial"/>
            </a:endParaRPr>
          </a:p>
        </p:txBody>
      </p:sp>
      <p:sp>
        <p:nvSpPr>
          <p:cNvPr id="514" name="Shape 12"/>
          <p:cNvSpPr/>
          <p:nvPr/>
        </p:nvSpPr>
        <p:spPr>
          <a:xfrm>
            <a:off x="9052200" y="1645920"/>
            <a:ext cx="2572200" cy="1416960"/>
          </a:xfrm>
          <a:prstGeom prst="roundRect">
            <a:avLst>
              <a:gd name="adj" fmla="val 4516"/>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515" name="Text 13"/>
          <p:cNvSpPr/>
          <p:nvPr/>
        </p:nvSpPr>
        <p:spPr>
          <a:xfrm>
            <a:off x="9143640" y="1847160"/>
            <a:ext cx="23893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200" b="1" u="none" strike="noStrike">
                <a:solidFill>
                  <a:srgbClr val="E8606B"/>
                </a:solidFill>
                <a:effectLst/>
                <a:uFillTx/>
                <a:latin typeface="Cambria"/>
                <a:ea typeface="Cambria"/>
              </a:rPr>
              <a:t>83,147</a:t>
            </a:r>
            <a:endParaRPr lang="de-DE" sz="3200" b="0" u="none" strike="noStrike">
              <a:solidFill>
                <a:srgbClr val="000000"/>
              </a:solidFill>
              <a:effectLst/>
              <a:uFillTx/>
              <a:latin typeface="Arial"/>
            </a:endParaRPr>
          </a:p>
        </p:txBody>
      </p:sp>
      <p:sp>
        <p:nvSpPr>
          <p:cNvPr id="516" name="Text 14"/>
          <p:cNvSpPr/>
          <p:nvPr/>
        </p:nvSpPr>
        <p:spPr>
          <a:xfrm>
            <a:off x="9162000" y="2541960"/>
            <a:ext cx="23526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2B2331"/>
                </a:solidFill>
                <a:effectLst/>
                <a:uFillTx/>
                <a:latin typeface="Calibri"/>
                <a:ea typeface="Calibri"/>
              </a:rPr>
              <a:t>structural variants encoded</a:t>
            </a:r>
            <a:endParaRPr lang="de-DE" sz="1150" b="0" u="none" strike="noStrike">
              <a:solidFill>
                <a:srgbClr val="000000"/>
              </a:solidFill>
              <a:effectLst/>
              <a:uFillTx/>
              <a:latin typeface="Arial"/>
            </a:endParaRPr>
          </a:p>
        </p:txBody>
      </p:sp>
      <p:sp>
        <p:nvSpPr>
          <p:cNvPr id="517" name="Shape 15"/>
          <p:cNvSpPr/>
          <p:nvPr/>
        </p:nvSpPr>
        <p:spPr>
          <a:xfrm>
            <a:off x="567000" y="3429000"/>
            <a:ext cx="5345640" cy="1965600"/>
          </a:xfrm>
          <a:prstGeom prst="roundRect">
            <a:avLst>
              <a:gd name="adj" fmla="val 3256"/>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518" name="Text 16"/>
          <p:cNvSpPr/>
          <p:nvPr/>
        </p:nvSpPr>
        <p:spPr>
          <a:xfrm>
            <a:off x="749880" y="3547800"/>
            <a:ext cx="4979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Reference-free, built with PGGB</a:t>
            </a:r>
            <a:endParaRPr lang="de-DE" sz="1350" b="0" u="none" strike="noStrike">
              <a:solidFill>
                <a:srgbClr val="000000"/>
              </a:solidFill>
              <a:effectLst/>
              <a:uFillTx/>
              <a:latin typeface="Arial"/>
            </a:endParaRPr>
          </a:p>
        </p:txBody>
      </p:sp>
      <p:sp>
        <p:nvSpPr>
          <p:cNvPr id="519" name="Text 17"/>
          <p:cNvSpPr/>
          <p:nvPr/>
        </p:nvSpPr>
        <p:spPr>
          <a:xfrm>
            <a:off x="768240" y="3959280"/>
            <a:ext cx="4943520" cy="132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901"/>
              </a:spcAft>
              <a:buClr>
                <a:srgbClr val="2B2331"/>
              </a:buClr>
              <a:buFont typeface="Symbol" charset="2"/>
              <a:buChar char=""/>
            </a:pPr>
            <a:r>
              <a:rPr lang="en-US" sz="1250" b="0" u="none" strike="noStrike">
                <a:solidFill>
                  <a:srgbClr val="2B2331"/>
                </a:solidFill>
                <a:effectLst/>
                <a:uFillTx/>
                <a:latin typeface="Calibri"/>
                <a:ea typeface="Calibri"/>
              </a:rPr>
              <a:t>40 genomes across 3 species (cultivated eggplant + 2 wild relatives)</a:t>
            </a:r>
            <a:endParaRPr lang="de-DE" sz="1250" b="0" u="none" strike="noStrike">
              <a:solidFill>
                <a:srgbClr val="000000"/>
              </a:solidFill>
              <a:effectLst/>
              <a:uFillTx/>
              <a:latin typeface="Arial"/>
            </a:endParaRPr>
          </a:p>
          <a:p>
            <a:pPr marL="177840" indent="-177840" defTabSz="914400">
              <a:lnSpc>
                <a:spcPct val="100000"/>
              </a:lnSpc>
              <a:spcAft>
                <a:spcPts val="901"/>
              </a:spcAft>
              <a:buClr>
                <a:srgbClr val="2B2331"/>
              </a:buClr>
              <a:buFont typeface="Symbol" charset="2"/>
              <a:buChar char=""/>
            </a:pPr>
            <a:r>
              <a:rPr lang="en-US" sz="1250" b="0" u="none" strike="noStrike">
                <a:solidFill>
                  <a:srgbClr val="2B2331"/>
                </a:solidFill>
                <a:effectLst/>
                <a:uFillTx/>
                <a:latin typeface="Calibri"/>
                <a:ea typeface="Calibri"/>
              </a:rPr>
              <a:t>Best-practice parameter sweep: −s 20000 −k 23 −p 93</a:t>
            </a:r>
            <a:endParaRPr lang="de-DE" sz="1250" b="0" u="none" strike="noStrike">
              <a:solidFill>
                <a:srgbClr val="000000"/>
              </a:solidFill>
              <a:effectLst/>
              <a:uFillTx/>
              <a:latin typeface="Arial"/>
            </a:endParaRPr>
          </a:p>
          <a:p>
            <a:pPr marL="177840" indent="-177840" defTabSz="914400">
              <a:lnSpc>
                <a:spcPct val="100000"/>
              </a:lnSpc>
              <a:spcAft>
                <a:spcPts val="901"/>
              </a:spcAft>
              <a:buClr>
                <a:srgbClr val="2B2331"/>
              </a:buClr>
              <a:buFont typeface="Symbol" charset="2"/>
              <a:buChar char=""/>
            </a:pPr>
            <a:r>
              <a:rPr lang="en-US" sz="1250" b="0" u="none" strike="noStrike">
                <a:solidFill>
                  <a:srgbClr val="2B2331"/>
                </a:solidFill>
                <a:effectLst/>
                <a:uFillTx/>
                <a:latin typeface="Calibri"/>
                <a:ea typeface="Calibri"/>
              </a:rPr>
              <a:t>≈ 50 % core / ≈ 40 % dispensable genome composition</a:t>
            </a:r>
            <a:endParaRPr lang="de-DE" sz="1250" b="0" u="none" strike="noStrike">
              <a:solidFill>
                <a:srgbClr val="000000"/>
              </a:solidFill>
              <a:effectLst/>
              <a:uFillTx/>
              <a:latin typeface="Arial"/>
            </a:endParaRPr>
          </a:p>
        </p:txBody>
      </p:sp>
      <p:sp>
        <p:nvSpPr>
          <p:cNvPr id="520" name="Shape 18"/>
          <p:cNvSpPr/>
          <p:nvPr/>
        </p:nvSpPr>
        <p:spPr>
          <a:xfrm>
            <a:off x="6278760" y="3429000"/>
            <a:ext cx="5345640" cy="1965600"/>
          </a:xfrm>
          <a:prstGeom prst="roundRect">
            <a:avLst>
              <a:gd name="adj" fmla="val 3256"/>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521" name="Text 19"/>
          <p:cNvSpPr/>
          <p:nvPr/>
        </p:nvSpPr>
        <p:spPr>
          <a:xfrm>
            <a:off x="6461640" y="3547800"/>
            <a:ext cx="4979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Why the graph mattered</a:t>
            </a:r>
            <a:endParaRPr lang="de-DE" sz="1350" b="0" u="none" strike="noStrike">
              <a:solidFill>
                <a:srgbClr val="000000"/>
              </a:solidFill>
              <a:effectLst/>
              <a:uFillTx/>
              <a:latin typeface="Arial"/>
            </a:endParaRPr>
          </a:p>
        </p:txBody>
      </p:sp>
      <p:sp>
        <p:nvSpPr>
          <p:cNvPr id="522" name="Text 20"/>
          <p:cNvSpPr/>
          <p:nvPr/>
        </p:nvSpPr>
        <p:spPr>
          <a:xfrm>
            <a:off x="6480000" y="3959280"/>
            <a:ext cx="4943520" cy="132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901"/>
              </a:spcAft>
              <a:buClr>
                <a:srgbClr val="2B2331"/>
              </a:buClr>
              <a:buFont typeface="Symbol" charset="2"/>
              <a:buChar char=""/>
            </a:pPr>
            <a:r>
              <a:rPr lang="en-US" sz="1250" b="0" u="none" strike="noStrike">
                <a:solidFill>
                  <a:srgbClr val="2B2331"/>
                </a:solidFill>
                <a:effectLst/>
                <a:uFillTx/>
                <a:latin typeface="Calibri"/>
                <a:ea typeface="Calibri"/>
              </a:rPr>
              <a:t>Pan-GWA: pangenome genome-wide association on 218 traits, 368 accessions</a:t>
            </a:r>
            <a:endParaRPr lang="de-DE" sz="1250" b="0" u="none" strike="noStrike">
              <a:solidFill>
                <a:srgbClr val="000000"/>
              </a:solidFill>
              <a:effectLst/>
              <a:uFillTx/>
              <a:latin typeface="Arial"/>
            </a:endParaRPr>
          </a:p>
          <a:p>
            <a:pPr marL="177840" indent="-177840" defTabSz="914400">
              <a:lnSpc>
                <a:spcPct val="100000"/>
              </a:lnSpc>
              <a:spcAft>
                <a:spcPts val="901"/>
              </a:spcAft>
              <a:buClr>
                <a:srgbClr val="E8606B"/>
              </a:buClr>
              <a:buFont typeface="Symbol" charset="2"/>
              <a:buChar char=""/>
            </a:pPr>
            <a:r>
              <a:rPr lang="en-US" sz="1250" b="1" u="none" strike="noStrike">
                <a:solidFill>
                  <a:srgbClr val="E8606B"/>
                </a:solidFill>
                <a:effectLst/>
                <a:uFillTx/>
                <a:latin typeface="Calibri"/>
                <a:ea typeface="Calibri"/>
              </a:rPr>
              <a:t>Captured 2.1 M SNPs vs 1.2 M from a single linear reference</a:t>
            </a:r>
            <a:endParaRPr lang="de-DE" sz="1250" b="0" u="none" strike="noStrike">
              <a:solidFill>
                <a:srgbClr val="000000"/>
              </a:solidFill>
              <a:effectLst/>
              <a:uFillTx/>
              <a:latin typeface="Arial"/>
            </a:endParaRPr>
          </a:p>
          <a:p>
            <a:pPr marL="177840" indent="-177840" defTabSz="914400">
              <a:lnSpc>
                <a:spcPct val="100000"/>
              </a:lnSpc>
              <a:spcAft>
                <a:spcPts val="901"/>
              </a:spcAft>
              <a:buClr>
                <a:srgbClr val="2B2331"/>
              </a:buClr>
              <a:buFont typeface="Symbol" charset="2"/>
              <a:buChar char=""/>
            </a:pPr>
            <a:r>
              <a:rPr lang="en-US" sz="1250" b="0" u="none" strike="noStrike">
                <a:solidFill>
                  <a:srgbClr val="2B2331"/>
                </a:solidFill>
                <a:effectLst/>
                <a:uFillTx/>
                <a:latin typeface="Calibri"/>
                <a:ea typeface="Calibri"/>
              </a:rPr>
              <a:t>Wild relatives carry alleles lost during domestication</a:t>
            </a:r>
            <a:endParaRPr lang="de-DE" sz="1250" b="0" u="none" strike="noStrike">
              <a:solidFill>
                <a:srgbClr val="000000"/>
              </a:solidFill>
              <a:effectLst/>
              <a:uFillTx/>
              <a:latin typeface="Arial"/>
            </a:endParaRPr>
          </a:p>
        </p:txBody>
      </p:sp>
      <p:sp>
        <p:nvSpPr>
          <p:cNvPr id="523" name="Text 21"/>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GWA / GWAS = genome-wide association study (linking genotype to phenotype); Pan-GWA uses the pangenome's variants. Gaccione et al. (2025), Nature Communications 16:9919.</a:t>
            </a:r>
            <a:endParaRPr lang="de-DE" sz="95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4"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525"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CASE STUDY · PAYOFF</a:t>
            </a:r>
            <a:endParaRPr lang="de-DE" sz="1200" b="0" u="none" strike="noStrike">
              <a:solidFill>
                <a:srgbClr val="000000"/>
              </a:solidFill>
              <a:effectLst/>
              <a:uFillTx/>
              <a:latin typeface="Arial"/>
            </a:endParaRPr>
          </a:p>
        </p:txBody>
      </p:sp>
      <p:sp>
        <p:nvSpPr>
          <p:cNvPr id="526"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A trait the graph revealed: prickliness</a:t>
            </a:r>
            <a:endParaRPr lang="de-DE" sz="2900" b="0" u="none" strike="noStrike">
              <a:solidFill>
                <a:srgbClr val="000000"/>
              </a:solidFill>
              <a:effectLst/>
              <a:uFillTx/>
              <a:latin typeface="Arial"/>
            </a:endParaRPr>
          </a:p>
        </p:txBody>
      </p:sp>
      <p:sp>
        <p:nvSpPr>
          <p:cNvPr id="527" name="Text 3"/>
          <p:cNvSpPr/>
          <p:nvPr/>
        </p:nvSpPr>
        <p:spPr>
          <a:xfrm>
            <a:off x="567000" y="1737360"/>
            <a:ext cx="6034680" cy="365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301"/>
              </a:spcAft>
              <a:buClr>
                <a:srgbClr val="2B2331"/>
              </a:buClr>
              <a:buFont typeface="Symbol" charset="2"/>
              <a:buChar char=""/>
            </a:pPr>
            <a:r>
              <a:rPr lang="en-US" sz="1300" b="0" u="none" strike="noStrike">
                <a:solidFill>
                  <a:srgbClr val="2B2331"/>
                </a:solidFill>
                <a:effectLst/>
                <a:uFillTx/>
                <a:latin typeface="Calibri"/>
                <a:ea typeface="Calibri"/>
              </a:rPr>
              <a:t>Prickles protect the plant but complicate harvesting — most modern varieties are prickleless</a:t>
            </a:r>
            <a:endParaRPr lang="de-DE" sz="1300" b="0" u="none" strike="noStrike">
              <a:solidFill>
                <a:srgbClr val="000000"/>
              </a:solidFill>
              <a:effectLst/>
              <a:uFillTx/>
              <a:latin typeface="Arial"/>
            </a:endParaRPr>
          </a:p>
          <a:p>
            <a:pPr marL="177840" indent="-177840" defTabSz="914400">
              <a:lnSpc>
                <a:spcPct val="100000"/>
              </a:lnSpc>
              <a:spcAft>
                <a:spcPts val="1301"/>
              </a:spcAft>
              <a:buClr>
                <a:srgbClr val="5E2A75"/>
              </a:buClr>
              <a:buFont typeface="Symbol" charset="2"/>
              <a:buChar char=""/>
            </a:pPr>
            <a:r>
              <a:rPr lang="en-US" sz="1300" b="1" u="none" strike="noStrike">
                <a:solidFill>
                  <a:srgbClr val="5E2A75"/>
                </a:solidFill>
                <a:effectLst/>
                <a:uFillTx/>
                <a:latin typeface="Calibri"/>
                <a:ea typeface="Calibri"/>
              </a:rPr>
              <a:t>Pan-GWA pinpointed the gene LOG3 (a cytokinin-biosynthesis gene) on chromosome 6</a:t>
            </a:r>
            <a:endParaRPr lang="de-DE" sz="130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00" b="0" u="none" strike="noStrike">
                <a:solidFill>
                  <a:srgbClr val="2B2331"/>
                </a:solidFill>
                <a:effectLst/>
                <a:uFillTx/>
                <a:latin typeface="Calibri"/>
                <a:ea typeface="Calibri"/>
              </a:rPr>
              <a:t>A single splice-site SNP switches prickly → prickleless</a:t>
            </a:r>
            <a:endParaRPr lang="de-DE" sz="1300" b="0" u="none" strike="noStrike">
              <a:solidFill>
                <a:srgbClr val="000000"/>
              </a:solidFill>
              <a:effectLst/>
              <a:uFillTx/>
              <a:latin typeface="Arial"/>
            </a:endParaRPr>
          </a:p>
          <a:p>
            <a:pPr marL="177840" indent="-177840" defTabSz="914400">
              <a:lnSpc>
                <a:spcPct val="100000"/>
              </a:lnSpc>
              <a:spcAft>
                <a:spcPts val="1301"/>
              </a:spcAft>
              <a:buClr>
                <a:srgbClr val="E8606B"/>
              </a:buClr>
              <a:buFont typeface="Symbol" charset="2"/>
              <a:buChar char=""/>
            </a:pPr>
            <a:r>
              <a:rPr lang="en-US" sz="1300" b="1" u="none" strike="noStrike">
                <a:solidFill>
                  <a:srgbClr val="E8606B"/>
                </a:solidFill>
                <a:effectLst/>
                <a:uFillTx/>
                <a:latin typeface="Calibri"/>
                <a:ea typeface="Calibri"/>
              </a:rPr>
              <a:t>In a wild relative, the whole LOG3 gene was translocated from chr 6 to chr 1</a:t>
            </a:r>
            <a:endParaRPr lang="de-DE" sz="130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00" b="0" u="none" strike="noStrike">
                <a:solidFill>
                  <a:srgbClr val="2B2331"/>
                </a:solidFill>
                <a:effectLst/>
                <a:uFillTx/>
                <a:latin typeface="Calibri"/>
                <a:ea typeface="Calibri"/>
              </a:rPr>
              <a:t>That translocation is invisible to SNP analysis on a single reference — only the graph (with wild relatives) revealed it</a:t>
            </a:r>
            <a:endParaRPr lang="de-DE" sz="1300" b="0" u="none" strike="noStrike">
              <a:solidFill>
                <a:srgbClr val="000000"/>
              </a:solidFill>
              <a:effectLst/>
              <a:uFillTx/>
              <a:latin typeface="Arial"/>
            </a:endParaRPr>
          </a:p>
        </p:txBody>
      </p:sp>
      <p:sp>
        <p:nvSpPr>
          <p:cNvPr id="528" name="Shape 4"/>
          <p:cNvSpPr/>
          <p:nvPr/>
        </p:nvSpPr>
        <p:spPr>
          <a:xfrm>
            <a:off x="7059240" y="1691640"/>
            <a:ext cx="4565160" cy="3657240"/>
          </a:xfrm>
          <a:prstGeom prst="roundRect">
            <a:avLst>
              <a:gd name="adj" fmla="val 1750"/>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529" name="Text 5"/>
          <p:cNvSpPr/>
          <p:nvPr/>
        </p:nvSpPr>
        <p:spPr>
          <a:xfrm>
            <a:off x="7242120" y="1810440"/>
            <a:ext cx="4199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Why a graph was essential</a:t>
            </a:r>
            <a:endParaRPr lang="de-DE" sz="1350" b="0" u="none" strike="noStrike">
              <a:solidFill>
                <a:srgbClr val="000000"/>
              </a:solidFill>
              <a:effectLst/>
              <a:uFillTx/>
              <a:latin typeface="Arial"/>
            </a:endParaRPr>
          </a:p>
        </p:txBody>
      </p:sp>
      <p:sp>
        <p:nvSpPr>
          <p:cNvPr id="530" name="Text 6"/>
          <p:cNvSpPr/>
          <p:nvPr/>
        </p:nvSpPr>
        <p:spPr>
          <a:xfrm>
            <a:off x="7260480" y="2240280"/>
            <a:ext cx="4163040" cy="3017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301"/>
              </a:spcAft>
              <a:buClr>
                <a:srgbClr val="2B2331"/>
              </a:buClr>
              <a:buFont typeface="Symbol" charset="2"/>
              <a:buChar char=""/>
            </a:pPr>
            <a:r>
              <a:rPr lang="en-US" sz="1250" b="0" u="none" strike="noStrike">
                <a:solidFill>
                  <a:srgbClr val="2B2331"/>
                </a:solidFill>
                <a:effectLst/>
                <a:uFillTx/>
                <a:latin typeface="Calibri"/>
                <a:ea typeface="Calibri"/>
              </a:rPr>
              <a:t>SNPs alone: found the splice-site change</a:t>
            </a:r>
            <a:endParaRPr lang="de-DE" sz="1250" b="0" u="none" strike="noStrike">
              <a:solidFill>
                <a:srgbClr val="000000"/>
              </a:solidFill>
              <a:effectLst/>
              <a:uFillTx/>
              <a:latin typeface="Arial"/>
            </a:endParaRPr>
          </a:p>
          <a:p>
            <a:pPr marL="177840" indent="-177840" defTabSz="914400">
              <a:lnSpc>
                <a:spcPct val="100000"/>
              </a:lnSpc>
              <a:spcAft>
                <a:spcPts val="1301"/>
              </a:spcAft>
              <a:buClr>
                <a:srgbClr val="8246A0"/>
              </a:buClr>
              <a:buFont typeface="Symbol" charset="2"/>
              <a:buChar char=""/>
            </a:pPr>
            <a:r>
              <a:rPr lang="en-US" sz="1250" b="1" u="none" strike="noStrike">
                <a:solidFill>
                  <a:srgbClr val="8246A0"/>
                </a:solidFill>
                <a:effectLst/>
                <a:uFillTx/>
                <a:latin typeface="Calibri"/>
                <a:ea typeface="Calibri"/>
              </a:rPr>
              <a:t>Graph + SVs: found the gene-moving translocation</a:t>
            </a:r>
            <a:endParaRPr lang="de-DE" sz="12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250" b="0" u="none" strike="noStrike">
                <a:solidFill>
                  <a:srgbClr val="2B2331"/>
                </a:solidFill>
                <a:effectLst/>
                <a:uFillTx/>
                <a:latin typeface="Calibri"/>
                <a:ea typeface="Calibri"/>
              </a:rPr>
              <a:t>Wild relatives in the graph decoded the full architecture</a:t>
            </a:r>
            <a:endParaRPr lang="de-DE" sz="1250" b="0" u="none" strike="noStrike">
              <a:solidFill>
                <a:srgbClr val="000000"/>
              </a:solidFill>
              <a:effectLst/>
              <a:uFillTx/>
              <a:latin typeface="Arial"/>
            </a:endParaRPr>
          </a:p>
          <a:p>
            <a:pPr marL="177840" indent="-177840" defTabSz="914400">
              <a:lnSpc>
                <a:spcPct val="100000"/>
              </a:lnSpc>
              <a:spcAft>
                <a:spcPts val="1301"/>
              </a:spcAft>
              <a:buClr>
                <a:srgbClr val="E8606B"/>
              </a:buClr>
              <a:buFont typeface="Symbol" charset="2"/>
              <a:buChar char=""/>
            </a:pPr>
            <a:r>
              <a:rPr lang="en-US" sz="1250" b="1" u="none" strike="noStrike">
                <a:solidFill>
                  <a:srgbClr val="E8606B"/>
                </a:solidFill>
                <a:effectLst/>
                <a:uFillTx/>
                <a:latin typeface="Calibri"/>
                <a:ea typeface="Calibri"/>
              </a:rPr>
              <a:t>Large SVs — not just SNPs — drive real phenotypes</a:t>
            </a:r>
            <a:endParaRPr lang="de-DE" sz="1250" b="0" u="none" strike="noStrike">
              <a:solidFill>
                <a:srgbClr val="000000"/>
              </a:solidFill>
              <a:effectLst/>
              <a:uFillTx/>
              <a:latin typeface="Arial"/>
            </a:endParaRPr>
          </a:p>
        </p:txBody>
      </p:sp>
      <p:sp>
        <p:nvSpPr>
          <p:cNvPr id="531" name="Text 7"/>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LOG3 = LONELY GUY 3. Splice-site SNP = a single-base change that disrupts how a gene's RNA is assembled. Translocation = a segment moved to a different chromosome.</a:t>
            </a:r>
            <a:endParaRPr lang="de-DE" sz="95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2B1533"/>
        </a:solidFill>
        <a:effectLst/>
      </p:bgPr>
    </p:bg>
    <p:spTree>
      <p:nvGrpSpPr>
        <p:cNvPr id="1" name=""/>
        <p:cNvGrpSpPr/>
        <p:nvPr/>
      </p:nvGrpSpPr>
      <p:grpSpPr>
        <a:xfrm>
          <a:off x="0" y="0"/>
          <a:ext cx="0" cy="0"/>
          <a:chOff x="0" y="0"/>
          <a:chExt cx="0" cy="0"/>
        </a:xfrm>
      </p:grpSpPr>
      <p:sp>
        <p:nvSpPr>
          <p:cNvPr id="532" name="Shape 0"/>
          <p:cNvSpPr/>
          <p:nvPr/>
        </p:nvSpPr>
        <p:spPr>
          <a:xfrm>
            <a:off x="567000" y="53028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533" name="Text 1"/>
          <p:cNvSpPr/>
          <p:nvPr/>
        </p:nvSpPr>
        <p:spPr>
          <a:xfrm>
            <a:off x="822960" y="45720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C9A8DC"/>
                </a:solidFill>
                <a:effectLst/>
                <a:uFillTx/>
                <a:latin typeface="Calibri"/>
                <a:ea typeface="Calibri"/>
              </a:rPr>
              <a:t>BEST PRACTICE</a:t>
            </a:r>
            <a:endParaRPr lang="de-DE" sz="1200" b="0" u="none" strike="noStrike">
              <a:solidFill>
                <a:srgbClr val="FFFFFF"/>
              </a:solidFill>
              <a:effectLst/>
              <a:uFillTx/>
              <a:latin typeface="Arial"/>
            </a:endParaRPr>
          </a:p>
        </p:txBody>
      </p:sp>
      <p:sp>
        <p:nvSpPr>
          <p:cNvPr id="534" name="Text 2"/>
          <p:cNvSpPr/>
          <p:nvPr/>
        </p:nvSpPr>
        <p:spPr>
          <a:xfrm>
            <a:off x="567000" y="768240"/>
            <a:ext cx="110574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FFFFFF"/>
                </a:solidFill>
                <a:effectLst/>
                <a:uFillTx/>
                <a:latin typeface="Cambria"/>
                <a:ea typeface="Cambria"/>
              </a:rPr>
              <a:t>Do it right — and make it reusable</a:t>
            </a:r>
            <a:endParaRPr lang="de-DE" sz="2900" b="0" u="none" strike="noStrike">
              <a:solidFill>
                <a:srgbClr val="FFFFFF"/>
              </a:solidFill>
              <a:effectLst/>
              <a:uFillTx/>
              <a:latin typeface="Arial"/>
            </a:endParaRPr>
          </a:p>
        </p:txBody>
      </p:sp>
      <p:sp>
        <p:nvSpPr>
          <p:cNvPr id="535" name="Shape 3"/>
          <p:cNvSpPr/>
          <p:nvPr/>
        </p:nvSpPr>
        <p:spPr>
          <a:xfrm>
            <a:off x="567000" y="1783080"/>
            <a:ext cx="5322960" cy="3291480"/>
          </a:xfrm>
          <a:prstGeom prst="roundRect">
            <a:avLst>
              <a:gd name="adj" fmla="val 1944"/>
            </a:avLst>
          </a:prstGeom>
          <a:solidFill>
            <a:srgbClr val="3D2049"/>
          </a:solidFill>
          <a:ln w="9525">
            <a:solidFill>
              <a:srgbClr val="5A3A6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536" name="Text 4"/>
          <p:cNvSpPr/>
          <p:nvPr/>
        </p:nvSpPr>
        <p:spPr>
          <a:xfrm>
            <a:off x="795600" y="1947600"/>
            <a:ext cx="48657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E8606B"/>
                </a:solidFill>
                <a:effectLst/>
                <a:uFillTx/>
                <a:latin typeface="Calibri"/>
                <a:ea typeface="Calibri"/>
              </a:rPr>
              <a:t>Common pitfalls</a:t>
            </a:r>
            <a:endParaRPr lang="de-DE" sz="1500" b="0" u="none" strike="noStrike">
              <a:solidFill>
                <a:srgbClr val="FFFFFF"/>
              </a:solidFill>
              <a:effectLst/>
              <a:uFillTx/>
              <a:latin typeface="Arial"/>
            </a:endParaRPr>
          </a:p>
        </p:txBody>
      </p:sp>
      <p:sp>
        <p:nvSpPr>
          <p:cNvPr id="537" name="Text 5"/>
          <p:cNvSpPr/>
          <p:nvPr/>
        </p:nvSpPr>
        <p:spPr>
          <a:xfrm>
            <a:off x="795600" y="2350080"/>
            <a:ext cx="4865760" cy="255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00"/>
              </a:spcAft>
              <a:buClr>
                <a:srgbClr val="EADFEF"/>
              </a:buClr>
              <a:buFont typeface="Symbol" charset="2"/>
              <a:buChar char=""/>
            </a:pPr>
            <a:r>
              <a:rPr lang="en-US" sz="1300" b="0" u="none" strike="noStrike">
                <a:solidFill>
                  <a:srgbClr val="EADFEF"/>
                </a:solidFill>
                <a:effectLst/>
                <a:uFillTx/>
                <a:latin typeface="Calibri"/>
                <a:ea typeface="Calibri"/>
              </a:rPr>
              <a:t>Repeats / nested TEs → false duplications — QC repeat regions</a:t>
            </a:r>
            <a:endParaRPr lang="de-DE" sz="1300" b="0" u="none" strike="noStrike">
              <a:solidFill>
                <a:srgbClr val="FFFFFF"/>
              </a:solidFill>
              <a:effectLst/>
              <a:uFillTx/>
              <a:latin typeface="Arial"/>
            </a:endParaRPr>
          </a:p>
          <a:p>
            <a:pPr marL="177840" indent="-177840" defTabSz="914400">
              <a:lnSpc>
                <a:spcPct val="100000"/>
              </a:lnSpc>
              <a:spcAft>
                <a:spcPts val="1100"/>
              </a:spcAft>
              <a:buClr>
                <a:srgbClr val="EADFEF"/>
              </a:buClr>
              <a:buFont typeface="Symbol" charset="2"/>
              <a:buChar char=""/>
            </a:pPr>
            <a:r>
              <a:rPr lang="en-US" sz="1300" b="0" u="none" strike="noStrike">
                <a:solidFill>
                  <a:srgbClr val="EADFEF"/>
                </a:solidFill>
                <a:effectLst/>
                <a:uFillTx/>
                <a:latin typeface="Calibri"/>
                <a:ea typeface="Calibri"/>
              </a:rPr>
              <a:t>Per-chromosome graphs miss inter-chromosomal translocations</a:t>
            </a:r>
            <a:endParaRPr lang="de-DE" sz="1300" b="0" u="none" strike="noStrike">
              <a:solidFill>
                <a:srgbClr val="FFFFFF"/>
              </a:solidFill>
              <a:effectLst/>
              <a:uFillTx/>
              <a:latin typeface="Arial"/>
            </a:endParaRPr>
          </a:p>
          <a:p>
            <a:pPr marL="177840" indent="-177840" defTabSz="914400">
              <a:lnSpc>
                <a:spcPct val="100000"/>
              </a:lnSpc>
              <a:spcAft>
                <a:spcPts val="1100"/>
              </a:spcAft>
              <a:buClr>
                <a:srgbClr val="EADFEF"/>
              </a:buClr>
              <a:buFont typeface="Symbol" charset="2"/>
              <a:buChar char=""/>
            </a:pPr>
            <a:r>
              <a:rPr lang="en-US" sz="1300" b="0" u="none" strike="noStrike">
                <a:solidFill>
                  <a:srgbClr val="EADFEF"/>
                </a:solidFill>
                <a:effectLst/>
                <a:uFillTx/>
                <a:latin typeface="Calibri"/>
                <a:ea typeface="Calibri"/>
              </a:rPr>
              <a:t>Reference bias — reference-free reduces it, still check coverage</a:t>
            </a:r>
            <a:endParaRPr lang="de-DE" sz="1300" b="0" u="none" strike="noStrike">
              <a:solidFill>
                <a:srgbClr val="FFFFFF"/>
              </a:solidFill>
              <a:effectLst/>
              <a:uFillTx/>
              <a:latin typeface="Arial"/>
            </a:endParaRPr>
          </a:p>
          <a:p>
            <a:pPr marL="177840" indent="-177840" defTabSz="914400">
              <a:lnSpc>
                <a:spcPct val="100000"/>
              </a:lnSpc>
              <a:spcAft>
                <a:spcPts val="1100"/>
              </a:spcAft>
              <a:buClr>
                <a:srgbClr val="EADFEF"/>
              </a:buClr>
              <a:buFont typeface="Symbol" charset="2"/>
              <a:buChar char=""/>
            </a:pPr>
            <a:r>
              <a:rPr lang="en-US" sz="1300" b="0" u="none" strike="noStrike">
                <a:solidFill>
                  <a:srgbClr val="EADFEF"/>
                </a:solidFill>
                <a:effectLst/>
                <a:uFillTx/>
                <a:latin typeface="Calibri"/>
                <a:ea typeface="Calibri"/>
              </a:rPr>
              <a:t>BUSCO dips on a graph — confirm with k-mer checks</a:t>
            </a:r>
            <a:endParaRPr lang="de-DE" sz="1300" b="0" u="none" strike="noStrike">
              <a:solidFill>
                <a:srgbClr val="FFFFFF"/>
              </a:solidFill>
              <a:effectLst/>
              <a:uFillTx/>
              <a:latin typeface="Arial"/>
            </a:endParaRPr>
          </a:p>
          <a:p>
            <a:pPr marL="177840" indent="-177840" defTabSz="914400">
              <a:lnSpc>
                <a:spcPct val="100000"/>
              </a:lnSpc>
              <a:spcAft>
                <a:spcPts val="1100"/>
              </a:spcAft>
              <a:buClr>
                <a:srgbClr val="EADFEF"/>
              </a:buClr>
              <a:buFont typeface="Symbol" charset="2"/>
              <a:buChar char=""/>
            </a:pPr>
            <a:r>
              <a:rPr lang="en-US" sz="1300" b="0" u="none" strike="noStrike">
                <a:solidFill>
                  <a:srgbClr val="EADFEF"/>
                </a:solidFill>
                <a:effectLst/>
                <a:uFillTx/>
                <a:latin typeface="Calibri"/>
                <a:ea typeface="Calibri"/>
              </a:rPr>
              <a:t>Too few genomes → core/shell/cloud not yet saturated</a:t>
            </a:r>
            <a:endParaRPr lang="de-DE" sz="1300" b="0" u="none" strike="noStrike">
              <a:solidFill>
                <a:srgbClr val="FFFFFF"/>
              </a:solidFill>
              <a:effectLst/>
              <a:uFillTx/>
              <a:latin typeface="Arial"/>
            </a:endParaRPr>
          </a:p>
        </p:txBody>
      </p:sp>
      <p:sp>
        <p:nvSpPr>
          <p:cNvPr id="538" name="Shape 6"/>
          <p:cNvSpPr/>
          <p:nvPr/>
        </p:nvSpPr>
        <p:spPr>
          <a:xfrm>
            <a:off x="6301440" y="1783080"/>
            <a:ext cx="5322960" cy="3291480"/>
          </a:xfrm>
          <a:prstGeom prst="roundRect">
            <a:avLst>
              <a:gd name="adj" fmla="val 1944"/>
            </a:avLst>
          </a:prstGeom>
          <a:solidFill>
            <a:srgbClr val="3D2049"/>
          </a:solidFill>
          <a:ln w="9525">
            <a:solidFill>
              <a:srgbClr val="5A3A6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539" name="Text 7"/>
          <p:cNvSpPr/>
          <p:nvPr/>
        </p:nvSpPr>
        <p:spPr>
          <a:xfrm>
            <a:off x="6530040" y="1947600"/>
            <a:ext cx="48657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8FD0C4"/>
                </a:solidFill>
                <a:effectLst/>
                <a:uFillTx/>
                <a:latin typeface="Calibri"/>
                <a:ea typeface="Calibri"/>
              </a:rPr>
              <a:t>Make it trustworthy &amp; FAIR</a:t>
            </a:r>
            <a:endParaRPr lang="de-DE" sz="1500" b="0" u="none" strike="noStrike">
              <a:solidFill>
                <a:srgbClr val="FFFFFF"/>
              </a:solidFill>
              <a:effectLst/>
              <a:uFillTx/>
              <a:latin typeface="Arial"/>
            </a:endParaRPr>
          </a:p>
        </p:txBody>
      </p:sp>
      <p:sp>
        <p:nvSpPr>
          <p:cNvPr id="540" name="Text 8"/>
          <p:cNvSpPr/>
          <p:nvPr/>
        </p:nvSpPr>
        <p:spPr>
          <a:xfrm>
            <a:off x="6530040" y="2350080"/>
            <a:ext cx="4865760" cy="255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00"/>
              </a:spcAft>
              <a:buClr>
                <a:srgbClr val="EADFEF"/>
              </a:buClr>
              <a:buFont typeface="Symbol" charset="2"/>
              <a:buChar char=""/>
            </a:pPr>
            <a:r>
              <a:rPr lang="en-US" sz="1300" b="0" u="none" strike="noStrike">
                <a:solidFill>
                  <a:srgbClr val="EADFEF"/>
                </a:solidFill>
                <a:effectLst/>
                <a:uFillTx/>
                <a:latin typeface="Calibri"/>
                <a:ea typeface="Calibri"/>
              </a:rPr>
              <a:t>Log every version &amp; parameter (PGGB −p/−s/−n, odgi, panacus)</a:t>
            </a:r>
            <a:endParaRPr lang="de-DE" sz="1300" b="0" u="none" strike="noStrike">
              <a:solidFill>
                <a:srgbClr val="FFFFFF"/>
              </a:solidFill>
              <a:effectLst/>
              <a:uFillTx/>
              <a:latin typeface="Arial"/>
            </a:endParaRPr>
          </a:p>
          <a:p>
            <a:pPr marL="177840" indent="-177840" defTabSz="914400">
              <a:lnSpc>
                <a:spcPct val="100000"/>
              </a:lnSpc>
              <a:spcAft>
                <a:spcPts val="1100"/>
              </a:spcAft>
              <a:buClr>
                <a:srgbClr val="EADFEF"/>
              </a:buClr>
              <a:buFont typeface="Symbol" charset="2"/>
              <a:buChar char=""/>
            </a:pPr>
            <a:r>
              <a:rPr lang="en-US" sz="1300" b="0" u="none" strike="noStrike">
                <a:solidFill>
                  <a:srgbClr val="EADFEF"/>
                </a:solidFill>
                <a:effectLst/>
                <a:uFillTx/>
                <a:latin typeface="Calibri"/>
                <a:ea typeface="Calibri"/>
              </a:rPr>
              <a:t>Wrap in a workflow manager (Snakemake / Nextflow) for provenance</a:t>
            </a:r>
            <a:endParaRPr lang="de-DE" sz="1300" b="0" u="none" strike="noStrike">
              <a:solidFill>
                <a:srgbClr val="FFFFFF"/>
              </a:solidFill>
              <a:effectLst/>
              <a:uFillTx/>
              <a:latin typeface="Arial"/>
            </a:endParaRPr>
          </a:p>
          <a:p>
            <a:pPr marL="177840" indent="-177840" defTabSz="914400">
              <a:lnSpc>
                <a:spcPct val="100000"/>
              </a:lnSpc>
              <a:spcAft>
                <a:spcPts val="1100"/>
              </a:spcAft>
              <a:buClr>
                <a:srgbClr val="EADFEF"/>
              </a:buClr>
              <a:buFont typeface="Symbol" charset="2"/>
              <a:buChar char=""/>
            </a:pPr>
            <a:r>
              <a:rPr lang="en-US" sz="1300" b="0" u="none" strike="noStrike">
                <a:solidFill>
                  <a:srgbClr val="EADFEF"/>
                </a:solidFill>
                <a:effectLst/>
                <a:uFillTx/>
                <a:latin typeface="Calibri"/>
                <a:ea typeface="Calibri"/>
              </a:rPr>
              <a:t>Package GFA + GFF3 + VCF + metadata together (RO-Crate / JSON-LD)</a:t>
            </a:r>
            <a:endParaRPr lang="de-DE" sz="1300" b="0" u="none" strike="noStrike">
              <a:solidFill>
                <a:srgbClr val="FFFFFF"/>
              </a:solidFill>
              <a:effectLst/>
              <a:uFillTx/>
              <a:latin typeface="Arial"/>
            </a:endParaRPr>
          </a:p>
          <a:p>
            <a:pPr marL="177840" indent="-177840" defTabSz="914400">
              <a:lnSpc>
                <a:spcPct val="100000"/>
              </a:lnSpc>
              <a:spcAft>
                <a:spcPts val="1100"/>
              </a:spcAft>
              <a:buClr>
                <a:srgbClr val="EADFEF"/>
              </a:buClr>
              <a:buFont typeface="Symbol" charset="2"/>
              <a:buChar char=""/>
            </a:pPr>
            <a:r>
              <a:rPr lang="en-US" sz="1300" b="0" u="none" strike="noStrike">
                <a:solidFill>
                  <a:srgbClr val="EADFEF"/>
                </a:solidFill>
                <a:effectLst/>
                <a:uFillTx/>
                <a:latin typeface="Calibri"/>
                <a:ea typeface="Calibri"/>
              </a:rPr>
              <a:t>Record constituent genomes, accessions and build date</a:t>
            </a:r>
            <a:endParaRPr lang="de-DE" sz="1300" b="0" u="none" strike="noStrike">
              <a:solidFill>
                <a:srgbClr val="FFFFFF"/>
              </a:solidFill>
              <a:effectLst/>
              <a:uFillTx/>
              <a:latin typeface="Arial"/>
            </a:endParaRPr>
          </a:p>
          <a:p>
            <a:pPr marL="177840" indent="-177840" defTabSz="914400">
              <a:lnSpc>
                <a:spcPct val="100000"/>
              </a:lnSpc>
              <a:spcAft>
                <a:spcPts val="1100"/>
              </a:spcAft>
              <a:buClr>
                <a:srgbClr val="EADFEF"/>
              </a:buClr>
              <a:buFont typeface="Symbol" charset="2"/>
              <a:buChar char=""/>
            </a:pPr>
            <a:r>
              <a:rPr lang="en-US" sz="1300" b="0" u="none" strike="noStrike">
                <a:solidFill>
                  <a:srgbClr val="EADFEF"/>
                </a:solidFill>
                <a:effectLst/>
                <a:uFillTx/>
                <a:latin typeface="Calibri"/>
                <a:ea typeface="Calibri"/>
              </a:rPr>
              <a:t>Eggplant is just one example — the same QC fits any species</a:t>
            </a:r>
            <a:endParaRPr lang="de-DE" sz="1300" b="0" u="none" strike="noStrike">
              <a:solidFill>
                <a:srgbClr val="FFFFFF"/>
              </a:solidFill>
              <a:effectLst/>
              <a:uFillTx/>
              <a:latin typeface="Arial"/>
            </a:endParaRPr>
          </a:p>
        </p:txBody>
      </p:sp>
      <p:sp>
        <p:nvSpPr>
          <p:cNvPr id="541" name="Text 9"/>
          <p:cNvSpPr/>
          <p:nvPr/>
        </p:nvSpPr>
        <p:spPr>
          <a:xfrm>
            <a:off x="567000" y="5303520"/>
            <a:ext cx="11057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a:solidFill>
                  <a:srgbClr val="DE8E2C"/>
                </a:solidFill>
                <a:effectLst/>
                <a:uFillTx/>
                <a:latin typeface="Calibri"/>
                <a:ea typeface="Calibri"/>
              </a:rPr>
              <a:t>FAIR</a:t>
            </a:r>
            <a:r>
              <a:rPr lang="en-US" sz="1150" b="0" u="none" strike="noStrike">
                <a:solidFill>
                  <a:srgbClr val="C9B8D2"/>
                </a:solidFill>
                <a:effectLst/>
                <a:uFillTx/>
                <a:latin typeface="Calibri"/>
                <a:ea typeface="Calibri"/>
              </a:rPr>
              <a:t> = Findable, Accessible, Interoperable, Reusable  ·  </a:t>
            </a:r>
            <a:r>
              <a:rPr lang="en-US" sz="1150" b="1" u="none" strike="noStrike">
                <a:solidFill>
                  <a:srgbClr val="DE8E2C"/>
                </a:solidFill>
                <a:effectLst/>
                <a:uFillTx/>
                <a:latin typeface="Calibri"/>
                <a:ea typeface="Calibri"/>
              </a:rPr>
              <a:t>RO-Crate</a:t>
            </a:r>
            <a:r>
              <a:rPr lang="en-US" sz="1150" b="0" u="none" strike="noStrike">
                <a:solidFill>
                  <a:srgbClr val="C9B8D2"/>
                </a:solidFill>
                <a:effectLst/>
                <a:uFillTx/>
                <a:latin typeface="Calibri"/>
                <a:ea typeface="Calibri"/>
              </a:rPr>
              <a:t> = Research Object Crate  ·  </a:t>
            </a:r>
            <a:r>
              <a:rPr lang="en-US" sz="1150" b="1" u="none" strike="noStrike">
                <a:solidFill>
                  <a:srgbClr val="DE8E2C"/>
                </a:solidFill>
                <a:effectLst/>
                <a:uFillTx/>
                <a:latin typeface="Calibri"/>
                <a:ea typeface="Calibri"/>
              </a:rPr>
              <a:t>JSON-LD</a:t>
            </a:r>
            <a:r>
              <a:rPr lang="en-US" sz="1150" b="0" u="none" strike="noStrike">
                <a:solidFill>
                  <a:srgbClr val="C9B8D2"/>
                </a:solidFill>
                <a:effectLst/>
                <a:uFillTx/>
                <a:latin typeface="Calibri"/>
                <a:ea typeface="Calibri"/>
              </a:rPr>
              <a:t> = JSON for Linking Data</a:t>
            </a:r>
            <a:endParaRPr lang="de-DE" sz="1150" b="0" u="none" strike="noStrike">
              <a:solidFill>
                <a:srgbClr val="FFFFFF"/>
              </a:solidFill>
              <a:effectLst/>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543"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REFERENCE</a:t>
            </a:r>
            <a:endParaRPr lang="de-DE" sz="1200" b="0" u="none" strike="noStrike">
              <a:solidFill>
                <a:srgbClr val="000000"/>
              </a:solidFill>
              <a:effectLst/>
              <a:uFillTx/>
              <a:latin typeface="Arial"/>
            </a:endParaRPr>
          </a:p>
        </p:txBody>
      </p:sp>
      <p:sp>
        <p:nvSpPr>
          <p:cNvPr id="544"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Abbreviations at a glance</a:t>
            </a:r>
            <a:endParaRPr lang="de-DE" sz="2900" b="0" u="none" strike="noStrike">
              <a:solidFill>
                <a:srgbClr val="000000"/>
              </a:solidFill>
              <a:effectLst/>
              <a:uFillTx/>
              <a:latin typeface="Arial"/>
            </a:endParaRPr>
          </a:p>
        </p:txBody>
      </p:sp>
      <p:sp>
        <p:nvSpPr>
          <p:cNvPr id="545" name="Text 3"/>
          <p:cNvSpPr/>
          <p:nvPr/>
        </p:nvSpPr>
        <p:spPr>
          <a:xfrm>
            <a:off x="567000" y="155448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SNP  </a:t>
            </a:r>
            <a:r>
              <a:rPr lang="en-US" sz="1100" b="0" u="none" strike="noStrike">
                <a:solidFill>
                  <a:srgbClr val="2B2331"/>
                </a:solidFill>
                <a:effectLst/>
                <a:uFillTx/>
                <a:latin typeface="Calibri"/>
                <a:ea typeface="Calibri"/>
              </a:rPr>
              <a:t>— single-nucleotide polymorphism</a:t>
            </a:r>
            <a:endParaRPr lang="de-DE" sz="1100" b="0" u="none" strike="noStrike">
              <a:solidFill>
                <a:srgbClr val="000000"/>
              </a:solidFill>
              <a:effectLst/>
              <a:uFillTx/>
              <a:latin typeface="Arial"/>
            </a:endParaRPr>
          </a:p>
        </p:txBody>
      </p:sp>
      <p:sp>
        <p:nvSpPr>
          <p:cNvPr id="546" name="Text 4"/>
          <p:cNvSpPr/>
          <p:nvPr/>
        </p:nvSpPr>
        <p:spPr>
          <a:xfrm>
            <a:off x="4329000" y="155448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indel  </a:t>
            </a:r>
            <a:r>
              <a:rPr lang="en-US" sz="1100" b="0" u="none" strike="noStrike">
                <a:solidFill>
                  <a:srgbClr val="2B2331"/>
                </a:solidFill>
                <a:effectLst/>
                <a:uFillTx/>
                <a:latin typeface="Calibri"/>
                <a:ea typeface="Calibri"/>
              </a:rPr>
              <a:t>— insertion / deletion (1–50 bp)</a:t>
            </a:r>
            <a:endParaRPr lang="de-DE" sz="1100" b="0" u="none" strike="noStrike">
              <a:solidFill>
                <a:srgbClr val="000000"/>
              </a:solidFill>
              <a:effectLst/>
              <a:uFillTx/>
              <a:latin typeface="Arial"/>
            </a:endParaRPr>
          </a:p>
        </p:txBody>
      </p:sp>
      <p:sp>
        <p:nvSpPr>
          <p:cNvPr id="547" name="Text 5"/>
          <p:cNvSpPr/>
          <p:nvPr/>
        </p:nvSpPr>
        <p:spPr>
          <a:xfrm>
            <a:off x="8091360" y="155448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SV  </a:t>
            </a:r>
            <a:r>
              <a:rPr lang="en-US" sz="1100" b="0" u="none" strike="noStrike">
                <a:solidFill>
                  <a:srgbClr val="2B2331"/>
                </a:solidFill>
                <a:effectLst/>
                <a:uFillTx/>
                <a:latin typeface="Calibri"/>
                <a:ea typeface="Calibri"/>
              </a:rPr>
              <a:t>— structural variant (&gt; 50 bp)</a:t>
            </a:r>
            <a:endParaRPr lang="de-DE" sz="1100" b="0" u="none" strike="noStrike">
              <a:solidFill>
                <a:srgbClr val="000000"/>
              </a:solidFill>
              <a:effectLst/>
              <a:uFillTx/>
              <a:latin typeface="Arial"/>
            </a:endParaRPr>
          </a:p>
        </p:txBody>
      </p:sp>
      <p:sp>
        <p:nvSpPr>
          <p:cNvPr id="548" name="Text 6"/>
          <p:cNvSpPr/>
          <p:nvPr/>
        </p:nvSpPr>
        <p:spPr>
          <a:xfrm>
            <a:off x="567000" y="206244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PAV  </a:t>
            </a:r>
            <a:r>
              <a:rPr lang="en-US" sz="1100" b="0" u="none" strike="noStrike">
                <a:solidFill>
                  <a:srgbClr val="2B2331"/>
                </a:solidFill>
                <a:effectLst/>
                <a:uFillTx/>
                <a:latin typeface="Calibri"/>
                <a:ea typeface="Calibri"/>
              </a:rPr>
              <a:t>— presence/absence variation</a:t>
            </a:r>
            <a:endParaRPr lang="de-DE" sz="1100" b="0" u="none" strike="noStrike">
              <a:solidFill>
                <a:srgbClr val="000000"/>
              </a:solidFill>
              <a:effectLst/>
              <a:uFillTx/>
              <a:latin typeface="Arial"/>
            </a:endParaRPr>
          </a:p>
        </p:txBody>
      </p:sp>
      <p:sp>
        <p:nvSpPr>
          <p:cNvPr id="549" name="Text 7"/>
          <p:cNvSpPr/>
          <p:nvPr/>
        </p:nvSpPr>
        <p:spPr>
          <a:xfrm>
            <a:off x="4329000" y="206244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CNV  </a:t>
            </a:r>
            <a:r>
              <a:rPr lang="en-US" sz="1100" b="0" u="none" strike="noStrike">
                <a:solidFill>
                  <a:srgbClr val="2B2331"/>
                </a:solidFill>
                <a:effectLst/>
                <a:uFillTx/>
                <a:latin typeface="Calibri"/>
                <a:ea typeface="Calibri"/>
              </a:rPr>
              <a:t>— copy-number variation</a:t>
            </a:r>
            <a:endParaRPr lang="de-DE" sz="1100" b="0" u="none" strike="noStrike">
              <a:solidFill>
                <a:srgbClr val="000000"/>
              </a:solidFill>
              <a:effectLst/>
              <a:uFillTx/>
              <a:latin typeface="Arial"/>
            </a:endParaRPr>
          </a:p>
        </p:txBody>
      </p:sp>
      <p:sp>
        <p:nvSpPr>
          <p:cNvPr id="550" name="Text 8"/>
          <p:cNvSpPr/>
          <p:nvPr/>
        </p:nvSpPr>
        <p:spPr>
          <a:xfrm>
            <a:off x="8091360" y="206244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bp / Gb  </a:t>
            </a:r>
            <a:r>
              <a:rPr lang="en-US" sz="1100" b="0" u="none" strike="noStrike">
                <a:solidFill>
                  <a:srgbClr val="2B2331"/>
                </a:solidFill>
                <a:effectLst/>
                <a:uFillTx/>
                <a:latin typeface="Calibri"/>
                <a:ea typeface="Calibri"/>
              </a:rPr>
              <a:t>— base pairs / gigabase (10⁹ bp)</a:t>
            </a:r>
            <a:endParaRPr lang="de-DE" sz="1100" b="0" u="none" strike="noStrike">
              <a:solidFill>
                <a:srgbClr val="000000"/>
              </a:solidFill>
              <a:effectLst/>
              <a:uFillTx/>
              <a:latin typeface="Arial"/>
            </a:endParaRPr>
          </a:p>
        </p:txBody>
      </p:sp>
      <p:sp>
        <p:nvSpPr>
          <p:cNvPr id="551" name="Text 9"/>
          <p:cNvSpPr/>
          <p:nvPr/>
        </p:nvSpPr>
        <p:spPr>
          <a:xfrm>
            <a:off x="567000" y="257040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ONT  </a:t>
            </a:r>
            <a:r>
              <a:rPr lang="en-US" sz="1100" b="0" u="none" strike="noStrike">
                <a:solidFill>
                  <a:srgbClr val="2B2331"/>
                </a:solidFill>
                <a:effectLst/>
                <a:uFillTx/>
                <a:latin typeface="Calibri"/>
                <a:ea typeface="Calibri"/>
              </a:rPr>
              <a:t>— Oxford Nanopore Technologies</a:t>
            </a:r>
            <a:endParaRPr lang="de-DE" sz="1100" b="0" u="none" strike="noStrike">
              <a:solidFill>
                <a:srgbClr val="000000"/>
              </a:solidFill>
              <a:effectLst/>
              <a:uFillTx/>
              <a:latin typeface="Arial"/>
            </a:endParaRPr>
          </a:p>
        </p:txBody>
      </p:sp>
      <p:sp>
        <p:nvSpPr>
          <p:cNvPr id="552" name="Text 10"/>
          <p:cNvSpPr/>
          <p:nvPr/>
        </p:nvSpPr>
        <p:spPr>
          <a:xfrm>
            <a:off x="4329000" y="257040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HiFi  </a:t>
            </a:r>
            <a:r>
              <a:rPr lang="en-US" sz="1100" b="0" u="none" strike="noStrike">
                <a:solidFill>
                  <a:srgbClr val="2B2331"/>
                </a:solidFill>
                <a:effectLst/>
                <a:uFillTx/>
                <a:latin typeface="Calibri"/>
                <a:ea typeface="Calibri"/>
              </a:rPr>
              <a:t>— high-fidelity (PacBio) reads</a:t>
            </a:r>
            <a:endParaRPr lang="de-DE" sz="1100" b="0" u="none" strike="noStrike">
              <a:solidFill>
                <a:srgbClr val="000000"/>
              </a:solidFill>
              <a:effectLst/>
              <a:uFillTx/>
              <a:latin typeface="Arial"/>
            </a:endParaRPr>
          </a:p>
        </p:txBody>
      </p:sp>
      <p:sp>
        <p:nvSpPr>
          <p:cNvPr id="553" name="Text 11"/>
          <p:cNvSpPr/>
          <p:nvPr/>
        </p:nvSpPr>
        <p:spPr>
          <a:xfrm>
            <a:off x="8091360" y="257040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Hi-C  </a:t>
            </a:r>
            <a:r>
              <a:rPr lang="en-US" sz="1100" b="0" u="none" strike="noStrike">
                <a:solidFill>
                  <a:srgbClr val="2B2331"/>
                </a:solidFill>
                <a:effectLst/>
                <a:uFillTx/>
                <a:latin typeface="Calibri"/>
                <a:ea typeface="Calibri"/>
              </a:rPr>
              <a:t>— chromosome conformation capture</a:t>
            </a:r>
            <a:endParaRPr lang="de-DE" sz="1100" b="0" u="none" strike="noStrike">
              <a:solidFill>
                <a:srgbClr val="000000"/>
              </a:solidFill>
              <a:effectLst/>
              <a:uFillTx/>
              <a:latin typeface="Arial"/>
            </a:endParaRPr>
          </a:p>
        </p:txBody>
      </p:sp>
      <p:sp>
        <p:nvSpPr>
          <p:cNvPr id="554" name="Text 12"/>
          <p:cNvSpPr/>
          <p:nvPr/>
        </p:nvSpPr>
        <p:spPr>
          <a:xfrm>
            <a:off x="567000" y="307836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QV / Q  </a:t>
            </a:r>
            <a:r>
              <a:rPr lang="en-US" sz="1100" b="0" u="none" strike="noStrike">
                <a:solidFill>
                  <a:srgbClr val="2B2331"/>
                </a:solidFill>
                <a:effectLst/>
                <a:uFillTx/>
                <a:latin typeface="Calibri"/>
                <a:ea typeface="Calibri"/>
              </a:rPr>
              <a:t>— (consensus) quality value, Phred</a:t>
            </a:r>
            <a:endParaRPr lang="de-DE" sz="1100" b="0" u="none" strike="noStrike">
              <a:solidFill>
                <a:srgbClr val="000000"/>
              </a:solidFill>
              <a:effectLst/>
              <a:uFillTx/>
              <a:latin typeface="Arial"/>
            </a:endParaRPr>
          </a:p>
        </p:txBody>
      </p:sp>
      <p:sp>
        <p:nvSpPr>
          <p:cNvPr id="555" name="Text 13"/>
          <p:cNvSpPr/>
          <p:nvPr/>
        </p:nvSpPr>
        <p:spPr>
          <a:xfrm>
            <a:off x="4329000" y="307836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N50  </a:t>
            </a:r>
            <a:r>
              <a:rPr lang="en-US" sz="1100" b="0" u="none" strike="noStrike">
                <a:solidFill>
                  <a:srgbClr val="2B2331"/>
                </a:solidFill>
                <a:effectLst/>
                <a:uFillTx/>
                <a:latin typeface="Calibri"/>
                <a:ea typeface="Calibri"/>
              </a:rPr>
              <a:t>— length-weighted median contig size</a:t>
            </a:r>
            <a:endParaRPr lang="de-DE" sz="1100" b="0" u="none" strike="noStrike">
              <a:solidFill>
                <a:srgbClr val="000000"/>
              </a:solidFill>
              <a:effectLst/>
              <a:uFillTx/>
              <a:latin typeface="Arial"/>
            </a:endParaRPr>
          </a:p>
        </p:txBody>
      </p:sp>
      <p:sp>
        <p:nvSpPr>
          <p:cNvPr id="556" name="Text 14"/>
          <p:cNvSpPr/>
          <p:nvPr/>
        </p:nvSpPr>
        <p:spPr>
          <a:xfrm>
            <a:off x="8091360" y="307836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BUSCO  </a:t>
            </a:r>
            <a:r>
              <a:rPr lang="en-US" sz="1100" b="0" u="none" strike="noStrike">
                <a:solidFill>
                  <a:srgbClr val="2B2331"/>
                </a:solidFill>
                <a:effectLst/>
                <a:uFillTx/>
                <a:latin typeface="Calibri"/>
                <a:ea typeface="Calibri"/>
              </a:rPr>
              <a:t>— Benchmarking Universal Single-Copy Orthologs</a:t>
            </a:r>
            <a:endParaRPr lang="de-DE" sz="1100" b="0" u="none" strike="noStrike">
              <a:solidFill>
                <a:srgbClr val="000000"/>
              </a:solidFill>
              <a:effectLst/>
              <a:uFillTx/>
              <a:latin typeface="Arial"/>
            </a:endParaRPr>
          </a:p>
        </p:txBody>
      </p:sp>
      <p:sp>
        <p:nvSpPr>
          <p:cNvPr id="557" name="Text 15"/>
          <p:cNvSpPr/>
          <p:nvPr/>
        </p:nvSpPr>
        <p:spPr>
          <a:xfrm>
            <a:off x="567000" y="358632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LAI / LTR  </a:t>
            </a:r>
            <a:r>
              <a:rPr lang="en-US" sz="1100" b="0" u="none" strike="noStrike">
                <a:solidFill>
                  <a:srgbClr val="2B2331"/>
                </a:solidFill>
                <a:effectLst/>
                <a:uFillTx/>
                <a:latin typeface="Calibri"/>
                <a:ea typeface="Calibri"/>
              </a:rPr>
              <a:t>— LTR Assembly Index / long terminal repeat</a:t>
            </a:r>
            <a:endParaRPr lang="de-DE" sz="1100" b="0" u="none" strike="noStrike">
              <a:solidFill>
                <a:srgbClr val="000000"/>
              </a:solidFill>
              <a:effectLst/>
              <a:uFillTx/>
              <a:latin typeface="Arial"/>
            </a:endParaRPr>
          </a:p>
        </p:txBody>
      </p:sp>
      <p:sp>
        <p:nvSpPr>
          <p:cNvPr id="558" name="Text 16"/>
          <p:cNvSpPr/>
          <p:nvPr/>
        </p:nvSpPr>
        <p:spPr>
          <a:xfrm>
            <a:off x="4329000" y="358632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TE  </a:t>
            </a:r>
            <a:r>
              <a:rPr lang="en-US" sz="1100" b="0" u="none" strike="noStrike">
                <a:solidFill>
                  <a:srgbClr val="2B2331"/>
                </a:solidFill>
                <a:effectLst/>
                <a:uFillTx/>
                <a:latin typeface="Calibri"/>
                <a:ea typeface="Calibri"/>
              </a:rPr>
              <a:t>— transposable element</a:t>
            </a:r>
            <a:endParaRPr lang="de-DE" sz="1100" b="0" u="none" strike="noStrike">
              <a:solidFill>
                <a:srgbClr val="000000"/>
              </a:solidFill>
              <a:effectLst/>
              <a:uFillTx/>
              <a:latin typeface="Arial"/>
            </a:endParaRPr>
          </a:p>
        </p:txBody>
      </p:sp>
      <p:sp>
        <p:nvSpPr>
          <p:cNvPr id="559" name="Text 17"/>
          <p:cNvSpPr/>
          <p:nvPr/>
        </p:nvSpPr>
        <p:spPr>
          <a:xfrm>
            <a:off x="8091360" y="358632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GFF3  </a:t>
            </a:r>
            <a:r>
              <a:rPr lang="en-US" sz="1100" b="0" u="none" strike="noStrike">
                <a:solidFill>
                  <a:srgbClr val="2B2331"/>
                </a:solidFill>
                <a:effectLst/>
                <a:uFillTx/>
                <a:latin typeface="Calibri"/>
                <a:ea typeface="Calibri"/>
              </a:rPr>
              <a:t>— General Feature Format v3</a:t>
            </a:r>
            <a:endParaRPr lang="de-DE" sz="1100" b="0" u="none" strike="noStrike">
              <a:solidFill>
                <a:srgbClr val="000000"/>
              </a:solidFill>
              <a:effectLst/>
              <a:uFillTx/>
              <a:latin typeface="Arial"/>
            </a:endParaRPr>
          </a:p>
        </p:txBody>
      </p:sp>
      <p:sp>
        <p:nvSpPr>
          <p:cNvPr id="560" name="Text 18"/>
          <p:cNvSpPr/>
          <p:nvPr/>
        </p:nvSpPr>
        <p:spPr>
          <a:xfrm>
            <a:off x="567000" y="409464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PGGB  </a:t>
            </a:r>
            <a:r>
              <a:rPr lang="en-US" sz="1100" b="0" u="none" strike="noStrike">
                <a:solidFill>
                  <a:srgbClr val="2B2331"/>
                </a:solidFill>
                <a:effectLst/>
                <a:uFillTx/>
                <a:latin typeface="Calibri"/>
                <a:ea typeface="Calibri"/>
              </a:rPr>
              <a:t>— PanGenome Graph Builder</a:t>
            </a:r>
            <a:endParaRPr lang="de-DE" sz="1100" b="0" u="none" strike="noStrike">
              <a:solidFill>
                <a:srgbClr val="000000"/>
              </a:solidFill>
              <a:effectLst/>
              <a:uFillTx/>
              <a:latin typeface="Arial"/>
            </a:endParaRPr>
          </a:p>
        </p:txBody>
      </p:sp>
      <p:sp>
        <p:nvSpPr>
          <p:cNvPr id="561" name="Text 19"/>
          <p:cNvSpPr/>
          <p:nvPr/>
        </p:nvSpPr>
        <p:spPr>
          <a:xfrm>
            <a:off x="4329000" y="409464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GFA  </a:t>
            </a:r>
            <a:r>
              <a:rPr lang="en-US" sz="1100" b="0" u="none" strike="noStrike">
                <a:solidFill>
                  <a:srgbClr val="2B2331"/>
                </a:solidFill>
                <a:effectLst/>
                <a:uFillTx/>
                <a:latin typeface="Calibri"/>
                <a:ea typeface="Calibri"/>
              </a:rPr>
              <a:t>— Graphical Fragment Assembly</a:t>
            </a:r>
            <a:endParaRPr lang="de-DE" sz="1100" b="0" u="none" strike="noStrike">
              <a:solidFill>
                <a:srgbClr val="000000"/>
              </a:solidFill>
              <a:effectLst/>
              <a:uFillTx/>
              <a:latin typeface="Arial"/>
            </a:endParaRPr>
          </a:p>
        </p:txBody>
      </p:sp>
      <p:sp>
        <p:nvSpPr>
          <p:cNvPr id="562" name="Text 20"/>
          <p:cNvSpPr/>
          <p:nvPr/>
        </p:nvSpPr>
        <p:spPr>
          <a:xfrm>
            <a:off x="8091360" y="409464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PanSN  </a:t>
            </a:r>
            <a:r>
              <a:rPr lang="en-US" sz="1100" b="0" u="none" strike="noStrike">
                <a:solidFill>
                  <a:srgbClr val="2B2331"/>
                </a:solidFill>
                <a:effectLst/>
                <a:uFillTx/>
                <a:latin typeface="Calibri"/>
                <a:ea typeface="Calibri"/>
              </a:rPr>
              <a:t>— Pangenome Sequence Naming</a:t>
            </a:r>
            <a:endParaRPr lang="de-DE" sz="1100" b="0" u="none" strike="noStrike">
              <a:solidFill>
                <a:srgbClr val="000000"/>
              </a:solidFill>
              <a:effectLst/>
              <a:uFillTx/>
              <a:latin typeface="Arial"/>
            </a:endParaRPr>
          </a:p>
        </p:txBody>
      </p:sp>
      <p:sp>
        <p:nvSpPr>
          <p:cNvPr id="563" name="Text 21"/>
          <p:cNvSpPr/>
          <p:nvPr/>
        </p:nvSpPr>
        <p:spPr>
          <a:xfrm>
            <a:off x="567000" y="460260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odgi  </a:t>
            </a:r>
            <a:r>
              <a:rPr lang="en-US" sz="1100" b="0" u="none" strike="noStrike">
                <a:solidFill>
                  <a:srgbClr val="2B2331"/>
                </a:solidFill>
                <a:effectLst/>
                <a:uFillTx/>
                <a:latin typeface="Calibri"/>
                <a:ea typeface="Calibri"/>
              </a:rPr>
              <a:t>— Optimized Dynamic Genome Implementation</a:t>
            </a:r>
            <a:endParaRPr lang="de-DE" sz="1100" b="0" u="none" strike="noStrike">
              <a:solidFill>
                <a:srgbClr val="000000"/>
              </a:solidFill>
              <a:effectLst/>
              <a:uFillTx/>
              <a:latin typeface="Arial"/>
            </a:endParaRPr>
          </a:p>
        </p:txBody>
      </p:sp>
      <p:sp>
        <p:nvSpPr>
          <p:cNvPr id="564" name="Text 22"/>
          <p:cNvSpPr/>
          <p:nvPr/>
        </p:nvSpPr>
        <p:spPr>
          <a:xfrm>
            <a:off x="4329000" y="460260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vg  </a:t>
            </a:r>
            <a:r>
              <a:rPr lang="en-US" sz="1100" b="0" u="none" strike="noStrike">
                <a:solidFill>
                  <a:srgbClr val="2B2331"/>
                </a:solidFill>
                <a:effectLst/>
                <a:uFillTx/>
                <a:latin typeface="Calibri"/>
                <a:ea typeface="Calibri"/>
              </a:rPr>
              <a:t>— variation graph toolkit</a:t>
            </a:r>
            <a:endParaRPr lang="de-DE" sz="1100" b="0" u="none" strike="noStrike">
              <a:solidFill>
                <a:srgbClr val="000000"/>
              </a:solidFill>
              <a:effectLst/>
              <a:uFillTx/>
              <a:latin typeface="Arial"/>
            </a:endParaRPr>
          </a:p>
        </p:txBody>
      </p:sp>
      <p:sp>
        <p:nvSpPr>
          <p:cNvPr id="565" name="Text 23"/>
          <p:cNvSpPr/>
          <p:nvPr/>
        </p:nvSpPr>
        <p:spPr>
          <a:xfrm>
            <a:off x="8091360" y="460260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VCF  </a:t>
            </a:r>
            <a:r>
              <a:rPr lang="en-US" sz="1100" b="0" u="none" strike="noStrike">
                <a:solidFill>
                  <a:srgbClr val="2B2331"/>
                </a:solidFill>
                <a:effectLst/>
                <a:uFillTx/>
                <a:latin typeface="Calibri"/>
                <a:ea typeface="Calibri"/>
              </a:rPr>
              <a:t>— Variant Call Format</a:t>
            </a:r>
            <a:endParaRPr lang="de-DE" sz="1100" b="0" u="none" strike="noStrike">
              <a:solidFill>
                <a:srgbClr val="000000"/>
              </a:solidFill>
              <a:effectLst/>
              <a:uFillTx/>
              <a:latin typeface="Arial"/>
            </a:endParaRPr>
          </a:p>
        </p:txBody>
      </p:sp>
      <p:sp>
        <p:nvSpPr>
          <p:cNvPr id="566" name="Text 24"/>
          <p:cNvSpPr/>
          <p:nvPr/>
        </p:nvSpPr>
        <p:spPr>
          <a:xfrm>
            <a:off x="567000" y="511056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POA / WFA  </a:t>
            </a:r>
            <a:r>
              <a:rPr lang="en-US" sz="1100" b="0" u="none" strike="noStrike">
                <a:solidFill>
                  <a:srgbClr val="2B2331"/>
                </a:solidFill>
                <a:effectLst/>
                <a:uFillTx/>
                <a:latin typeface="Calibri"/>
                <a:ea typeface="Calibri"/>
              </a:rPr>
              <a:t>— partial-order / wavefront alignment</a:t>
            </a:r>
            <a:endParaRPr lang="de-DE" sz="1100" b="0" u="none" strike="noStrike">
              <a:solidFill>
                <a:srgbClr val="000000"/>
              </a:solidFill>
              <a:effectLst/>
              <a:uFillTx/>
              <a:latin typeface="Arial"/>
            </a:endParaRPr>
          </a:p>
        </p:txBody>
      </p:sp>
      <p:sp>
        <p:nvSpPr>
          <p:cNvPr id="567" name="Text 25"/>
          <p:cNvSpPr/>
          <p:nvPr/>
        </p:nvSpPr>
        <p:spPr>
          <a:xfrm>
            <a:off x="4329000" y="511056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F1  </a:t>
            </a:r>
            <a:r>
              <a:rPr lang="en-US" sz="1100" b="0" u="none" strike="noStrike">
                <a:solidFill>
                  <a:srgbClr val="2B2331"/>
                </a:solidFill>
                <a:effectLst/>
                <a:uFillTx/>
                <a:latin typeface="Calibri"/>
                <a:ea typeface="Calibri"/>
              </a:rPr>
              <a:t>— precision–recall harmonic mean</a:t>
            </a:r>
            <a:endParaRPr lang="de-DE" sz="1100" b="0" u="none" strike="noStrike">
              <a:solidFill>
                <a:srgbClr val="000000"/>
              </a:solidFill>
              <a:effectLst/>
              <a:uFillTx/>
              <a:latin typeface="Arial"/>
            </a:endParaRPr>
          </a:p>
        </p:txBody>
      </p:sp>
      <p:sp>
        <p:nvSpPr>
          <p:cNvPr id="568" name="Text 26"/>
          <p:cNvSpPr/>
          <p:nvPr/>
        </p:nvSpPr>
        <p:spPr>
          <a:xfrm>
            <a:off x="8091360" y="511056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GWA(S)  </a:t>
            </a:r>
            <a:r>
              <a:rPr lang="en-US" sz="1100" b="0" u="none" strike="noStrike">
                <a:solidFill>
                  <a:srgbClr val="2B2331"/>
                </a:solidFill>
                <a:effectLst/>
                <a:uFillTx/>
                <a:latin typeface="Calibri"/>
                <a:ea typeface="Calibri"/>
              </a:rPr>
              <a:t>— genome-wide association study</a:t>
            </a:r>
            <a:endParaRPr lang="de-DE" sz="1100" b="0" u="none" strike="noStrike">
              <a:solidFill>
                <a:srgbClr val="000000"/>
              </a:solidFill>
              <a:effectLst/>
              <a:uFillTx/>
              <a:latin typeface="Arial"/>
            </a:endParaRPr>
          </a:p>
        </p:txBody>
      </p:sp>
      <p:sp>
        <p:nvSpPr>
          <p:cNvPr id="569" name="Text 27"/>
          <p:cNvSpPr/>
          <p:nvPr/>
        </p:nvSpPr>
        <p:spPr>
          <a:xfrm>
            <a:off x="567000" y="561852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ncRNA  </a:t>
            </a:r>
            <a:r>
              <a:rPr lang="en-US" sz="1100" b="0" u="none" strike="noStrike">
                <a:solidFill>
                  <a:srgbClr val="2B2331"/>
                </a:solidFill>
                <a:effectLst/>
                <a:uFillTx/>
                <a:latin typeface="Calibri"/>
                <a:ea typeface="Calibri"/>
              </a:rPr>
              <a:t>— non-coding RNA (miRNA, lncRNA)</a:t>
            </a:r>
            <a:endParaRPr lang="de-DE" sz="1100" b="0" u="none" strike="noStrike">
              <a:solidFill>
                <a:srgbClr val="000000"/>
              </a:solidFill>
              <a:effectLst/>
              <a:uFillTx/>
              <a:latin typeface="Arial"/>
            </a:endParaRPr>
          </a:p>
        </p:txBody>
      </p:sp>
      <p:sp>
        <p:nvSpPr>
          <p:cNvPr id="570" name="Text 28"/>
          <p:cNvSpPr/>
          <p:nvPr/>
        </p:nvSpPr>
        <p:spPr>
          <a:xfrm>
            <a:off x="4329000" y="561852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CRE  </a:t>
            </a:r>
            <a:r>
              <a:rPr lang="en-US" sz="1100" b="0" u="none" strike="noStrike">
                <a:solidFill>
                  <a:srgbClr val="2B2331"/>
                </a:solidFill>
                <a:effectLst/>
                <a:uFillTx/>
                <a:latin typeface="Calibri"/>
                <a:ea typeface="Calibri"/>
              </a:rPr>
              <a:t>— cis-regulatory element</a:t>
            </a:r>
            <a:endParaRPr lang="de-DE" sz="1100" b="0" u="none" strike="noStrike">
              <a:solidFill>
                <a:srgbClr val="000000"/>
              </a:solidFill>
              <a:effectLst/>
              <a:uFillTx/>
              <a:latin typeface="Arial"/>
            </a:endParaRPr>
          </a:p>
        </p:txBody>
      </p:sp>
      <p:sp>
        <p:nvSpPr>
          <p:cNvPr id="571" name="Text 29"/>
          <p:cNvSpPr/>
          <p:nvPr/>
        </p:nvSpPr>
        <p:spPr>
          <a:xfrm>
            <a:off x="8091360" y="5618520"/>
            <a:ext cx="3533040" cy="4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E2A75"/>
                </a:solidFill>
                <a:effectLst/>
                <a:uFillTx/>
                <a:latin typeface="Calibri"/>
                <a:ea typeface="Calibri"/>
              </a:rPr>
              <a:t>FAIR  </a:t>
            </a:r>
            <a:r>
              <a:rPr lang="en-US" sz="1100" b="0" u="none" strike="noStrike">
                <a:solidFill>
                  <a:srgbClr val="2B2331"/>
                </a:solidFill>
                <a:effectLst/>
                <a:uFillTx/>
                <a:latin typeface="Calibri"/>
                <a:ea typeface="Calibri"/>
              </a:rPr>
              <a:t>— Findable Accessible Interop. Reusable</a:t>
            </a:r>
            <a:endParaRPr lang="de-DE" sz="11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2B1533"/>
        </a:solidFill>
        <a:effectLst/>
      </p:bgPr>
    </p:bg>
    <p:spTree>
      <p:nvGrpSpPr>
        <p:cNvPr id="1" name=""/>
        <p:cNvGrpSpPr/>
        <p:nvPr/>
      </p:nvGrpSpPr>
      <p:grpSpPr>
        <a:xfrm>
          <a:off x="0" y="0"/>
          <a:ext cx="0" cy="0"/>
          <a:chOff x="0" y="0"/>
          <a:chExt cx="0" cy="0"/>
        </a:xfrm>
      </p:grpSpPr>
      <p:sp>
        <p:nvSpPr>
          <p:cNvPr id="572" name="Shape 0"/>
          <p:cNvSpPr/>
          <p:nvPr/>
        </p:nvSpPr>
        <p:spPr>
          <a:xfrm>
            <a:off x="567000" y="53028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573" name="Text 1"/>
          <p:cNvSpPr/>
          <p:nvPr/>
        </p:nvSpPr>
        <p:spPr>
          <a:xfrm>
            <a:off x="822960" y="45720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C9A8DC"/>
                </a:solidFill>
                <a:effectLst/>
                <a:uFillTx/>
                <a:latin typeface="Calibri"/>
                <a:ea typeface="Calibri"/>
              </a:rPr>
              <a:t>TAKEAWAYS</a:t>
            </a:r>
            <a:endParaRPr lang="de-DE" sz="1200" b="0" u="none" strike="noStrike">
              <a:solidFill>
                <a:srgbClr val="FFFFFF"/>
              </a:solidFill>
              <a:effectLst/>
              <a:uFillTx/>
              <a:latin typeface="Arial"/>
            </a:endParaRPr>
          </a:p>
        </p:txBody>
      </p:sp>
      <p:sp>
        <p:nvSpPr>
          <p:cNvPr id="574" name="Text 2"/>
          <p:cNvSpPr/>
          <p:nvPr/>
        </p:nvSpPr>
        <p:spPr>
          <a:xfrm>
            <a:off x="567000" y="768240"/>
            <a:ext cx="110574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FFFFFF"/>
                </a:solidFill>
                <a:effectLst/>
                <a:uFillTx/>
                <a:latin typeface="Cambria"/>
                <a:ea typeface="Cambria"/>
              </a:rPr>
              <a:t>Summary</a:t>
            </a:r>
            <a:endParaRPr lang="de-DE" sz="2900" b="0" u="none" strike="noStrike">
              <a:solidFill>
                <a:srgbClr val="FFFFFF"/>
              </a:solidFill>
              <a:effectLst/>
              <a:uFillTx/>
              <a:latin typeface="Arial"/>
            </a:endParaRPr>
          </a:p>
        </p:txBody>
      </p:sp>
      <p:sp>
        <p:nvSpPr>
          <p:cNvPr id="575" name="Text 3"/>
          <p:cNvSpPr/>
          <p:nvPr/>
        </p:nvSpPr>
        <p:spPr>
          <a:xfrm>
            <a:off x="567000" y="1783080"/>
            <a:ext cx="11057400" cy="310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400"/>
              </a:spcAft>
              <a:buClr>
                <a:srgbClr val="EADFEF"/>
              </a:buClr>
              <a:buFont typeface="Symbol" charset="2"/>
              <a:buChar char=""/>
            </a:pPr>
            <a:r>
              <a:rPr lang="en-US" sz="1500" b="1" u="none" strike="noStrike">
                <a:solidFill>
                  <a:srgbClr val="EADFEF"/>
                </a:solidFill>
                <a:effectLst/>
                <a:uFillTx/>
                <a:latin typeface="Calibri"/>
                <a:ea typeface="Calibri"/>
              </a:rPr>
              <a:t>A pangenome captures a whole species; a graph stores it without reference bias</a:t>
            </a:r>
            <a:endParaRPr lang="de-DE" sz="1500" b="0" u="none" strike="noStrike">
              <a:solidFill>
                <a:srgbClr val="FFFFFF"/>
              </a:solidFill>
              <a:effectLst/>
              <a:uFillTx/>
              <a:latin typeface="Arial"/>
            </a:endParaRPr>
          </a:p>
          <a:p>
            <a:pPr marL="177840" indent="-177840" defTabSz="914400">
              <a:lnSpc>
                <a:spcPct val="100000"/>
              </a:lnSpc>
              <a:spcAft>
                <a:spcPts val="1400"/>
              </a:spcAft>
              <a:buClr>
                <a:srgbClr val="EADFEF"/>
              </a:buClr>
              <a:buFont typeface="Symbol" charset="2"/>
              <a:buChar char=""/>
            </a:pPr>
            <a:r>
              <a:rPr lang="en-US" sz="1500" b="0" u="none" strike="noStrike">
                <a:solidFill>
                  <a:srgbClr val="EADFEF"/>
                </a:solidFill>
                <a:effectLst/>
                <a:uFillTx/>
                <a:latin typeface="Calibri"/>
                <a:ea typeface="Calibri"/>
              </a:rPr>
              <a:t>Quality is end-to-end: reads → assemblies → annotation → graph — evaluate every step</a:t>
            </a:r>
            <a:endParaRPr lang="de-DE" sz="1500" b="0" u="none" strike="noStrike">
              <a:solidFill>
                <a:srgbClr val="FFFFFF"/>
              </a:solidFill>
              <a:effectLst/>
              <a:uFillTx/>
              <a:latin typeface="Arial"/>
            </a:endParaRPr>
          </a:p>
          <a:p>
            <a:pPr marL="177840" indent="-177840" defTabSz="914400">
              <a:lnSpc>
                <a:spcPct val="100000"/>
              </a:lnSpc>
              <a:spcAft>
                <a:spcPts val="1400"/>
              </a:spcAft>
              <a:buClr>
                <a:srgbClr val="EADFEF"/>
              </a:buClr>
              <a:buFont typeface="Symbol" charset="2"/>
              <a:buChar char=""/>
            </a:pPr>
            <a:r>
              <a:rPr lang="en-US" sz="1500" b="0" u="none" strike="noStrike">
                <a:solidFill>
                  <a:srgbClr val="EADFEF"/>
                </a:solidFill>
                <a:effectLst/>
                <a:uFillTx/>
                <a:latin typeface="Calibri"/>
                <a:ea typeface="Calibri"/>
              </a:rPr>
              <a:t>Build with PGGB per chromosome; read variants straight out as a VCF</a:t>
            </a:r>
            <a:endParaRPr lang="de-DE" sz="1500" b="0" u="none" strike="noStrike">
              <a:solidFill>
                <a:srgbClr val="FFFFFF"/>
              </a:solidFill>
              <a:effectLst/>
              <a:uFillTx/>
              <a:latin typeface="Arial"/>
            </a:endParaRPr>
          </a:p>
          <a:p>
            <a:pPr marL="177840" indent="-177840" defTabSz="914400">
              <a:lnSpc>
                <a:spcPct val="100000"/>
              </a:lnSpc>
              <a:spcAft>
                <a:spcPts val="1400"/>
              </a:spcAft>
              <a:buClr>
                <a:srgbClr val="EADFEF"/>
              </a:buClr>
              <a:buFont typeface="Symbol" charset="2"/>
              <a:buChar char=""/>
            </a:pPr>
            <a:r>
              <a:rPr lang="en-US" sz="1500" b="0" u="none" strike="noStrike">
                <a:solidFill>
                  <a:srgbClr val="EADFEF"/>
                </a:solidFill>
                <a:effectLst/>
                <a:uFillTx/>
                <a:latin typeface="Calibri"/>
                <a:ea typeface="Calibri"/>
              </a:rPr>
              <a:t>Evaluate the graph: all inputs represented, saturation reached, repeats handled, variants accurate</a:t>
            </a:r>
            <a:endParaRPr lang="de-DE" sz="1500" b="0" u="none" strike="noStrike">
              <a:solidFill>
                <a:srgbClr val="FFFFFF"/>
              </a:solidFill>
              <a:effectLst/>
              <a:uFillTx/>
              <a:latin typeface="Arial"/>
            </a:endParaRPr>
          </a:p>
          <a:p>
            <a:pPr marL="177840" indent="-177840" defTabSz="914400">
              <a:lnSpc>
                <a:spcPct val="100000"/>
              </a:lnSpc>
              <a:spcAft>
                <a:spcPts val="1400"/>
              </a:spcAft>
              <a:buClr>
                <a:srgbClr val="EADFEF"/>
              </a:buClr>
              <a:buFont typeface="Symbol" charset="2"/>
              <a:buChar char=""/>
            </a:pPr>
            <a:r>
              <a:rPr lang="en-US" sz="1500" b="0" u="none" strike="noStrike">
                <a:solidFill>
                  <a:srgbClr val="EADFEF"/>
                </a:solidFill>
                <a:effectLst/>
                <a:uFillTx/>
                <a:latin typeface="Calibri"/>
                <a:ea typeface="Calibri"/>
              </a:rPr>
              <a:t>Structural variants — not just SNPs — drive real plant traits (e.g. eggplant prickliness)</a:t>
            </a:r>
            <a:endParaRPr lang="de-DE" sz="1500" b="0" u="none" strike="noStrike">
              <a:solidFill>
                <a:srgbClr val="FFFFFF"/>
              </a:solidFill>
              <a:effectLst/>
              <a:uFillTx/>
              <a:latin typeface="Arial"/>
            </a:endParaRPr>
          </a:p>
          <a:p>
            <a:pPr marL="177840" indent="-177840" defTabSz="914400">
              <a:lnSpc>
                <a:spcPct val="100000"/>
              </a:lnSpc>
              <a:spcAft>
                <a:spcPts val="1400"/>
              </a:spcAft>
              <a:buClr>
                <a:srgbClr val="EADFEF"/>
              </a:buClr>
              <a:buFont typeface="Symbol" charset="2"/>
              <a:buChar char=""/>
            </a:pPr>
            <a:r>
              <a:rPr lang="en-US" sz="1500" b="0" u="none" strike="noStrike">
                <a:solidFill>
                  <a:srgbClr val="EADFEF"/>
                </a:solidFill>
                <a:effectLst/>
                <a:uFillTx/>
                <a:latin typeface="Calibri"/>
                <a:ea typeface="Calibri"/>
              </a:rPr>
              <a:t>Log everything and package FAIRly so others can reuse it</a:t>
            </a:r>
            <a:endParaRPr lang="de-DE" sz="1500" b="0" u="none" strike="noStrike">
              <a:solidFill>
                <a:srgbClr val="FFFFFF"/>
              </a:solidFill>
              <a:effectLst/>
              <a:uFillTx/>
              <a:latin typeface="Arial"/>
            </a:endParaRPr>
          </a:p>
        </p:txBody>
      </p:sp>
      <p:sp>
        <p:nvSpPr>
          <p:cNvPr id="576" name="Shape 4"/>
          <p:cNvSpPr/>
          <p:nvPr/>
        </p:nvSpPr>
        <p:spPr>
          <a:xfrm>
            <a:off x="566640" y="5349240"/>
            <a:ext cx="11058120" cy="360"/>
          </a:xfrm>
          <a:prstGeom prst="line">
            <a:avLst/>
          </a:prstGeom>
          <a:ln w="12700">
            <a:solidFill>
              <a:srgbClr val="5A3A6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de-DE" sz="1800" b="0" u="none" strike="noStrike">
              <a:solidFill>
                <a:srgbClr val="FFFFFF"/>
              </a:solidFill>
              <a:effectLst/>
              <a:uFillTx/>
              <a:latin typeface="Arial"/>
            </a:endParaRPr>
          </a:p>
        </p:txBody>
      </p:sp>
      <p:sp>
        <p:nvSpPr>
          <p:cNvPr id="577" name="Text 5"/>
          <p:cNvSpPr/>
          <p:nvPr/>
        </p:nvSpPr>
        <p:spPr>
          <a:xfrm>
            <a:off x="567000" y="5486400"/>
            <a:ext cx="110574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FFFFFF"/>
                </a:solidFill>
                <a:effectLst/>
                <a:uFillTx/>
                <a:latin typeface="Calibri"/>
                <a:ea typeface="Calibri"/>
              </a:rPr>
              <a:t>Community standards:  </a:t>
            </a:r>
            <a:r>
              <a:rPr lang="en-US" sz="1250" b="0" u="none" strike="noStrike">
                <a:solidFill>
                  <a:srgbClr val="C9B8D2"/>
                </a:solidFill>
                <a:effectLst/>
                <a:uFillTx/>
                <a:latin typeface="Calibri"/>
                <a:ea typeface="Calibri"/>
              </a:rPr>
              <a:t>Heuermann, Barros, Beier et al. — White paper: standards for handling and analyzing plant pan-genomes. </a:t>
            </a:r>
            <a:r>
              <a:rPr lang="en-US" sz="1250" b="0" i="1" u="none" strike="noStrike">
                <a:solidFill>
                  <a:srgbClr val="C9B8D2"/>
                </a:solidFill>
                <a:effectLst/>
                <a:uFillTx/>
                <a:latin typeface="Calibri"/>
                <a:ea typeface="Calibri"/>
              </a:rPr>
              <a:t>F1000Research 2026, 14:739.</a:t>
            </a:r>
            <a:endParaRPr lang="de-DE" sz="1250" b="0" u="none" strike="noStrike">
              <a:solidFill>
                <a:srgbClr val="FFFFFF"/>
              </a:solidFill>
              <a:effectLst/>
              <a:uFillTx/>
              <a:latin typeface="Arial"/>
            </a:endParaRPr>
          </a:p>
        </p:txBody>
      </p:sp>
      <p:sp>
        <p:nvSpPr>
          <p:cNvPr id="578" name="Text 6"/>
          <p:cNvSpPr/>
          <p:nvPr/>
        </p:nvSpPr>
        <p:spPr>
          <a:xfrm>
            <a:off x="567000" y="5989320"/>
            <a:ext cx="11057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DE8E2C"/>
                </a:solidFill>
                <a:effectLst/>
                <a:uFillTx/>
                <a:latin typeface="Calibri"/>
                <a:ea typeface="Calibri"/>
              </a:rPr>
              <a:t>Next — Session 5: presenting &amp; disseminating pan-genome information</a:t>
            </a:r>
            <a:endParaRPr lang="de-DE" sz="1200" b="0" u="none" strike="noStrike">
              <a:solidFill>
                <a:srgbClr val="FFFFFF"/>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5781</Words>
  <Application>Microsoft Office PowerPoint</Application>
  <PresentationFormat>Breitbild</PresentationFormat>
  <Paragraphs>550</Paragraphs>
  <Slides>33</Slides>
  <Notes>33</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33</vt:i4>
      </vt:variant>
    </vt:vector>
  </HeadingPairs>
  <TitlesOfParts>
    <vt:vector size="42" baseType="lpstr">
      <vt:lpstr>Arial</vt:lpstr>
      <vt:lpstr>Calibri</vt:lpstr>
      <vt:lpstr>Cambria</vt:lpstr>
      <vt:lpstr>Consolas</vt:lpstr>
      <vt:lpstr>DejaVu Sans</vt:lpstr>
      <vt:lpstr>Symbol</vt:lpstr>
      <vt:lpstr>Times New Roman</vt:lpstr>
      <vt:lpstr>Wingdings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and Evaluating Plant Pangenomes</dc:title>
  <dc:subject>PptxGenJS Presentation</dc:subject>
  <dc:creator>Dr. Sebastian Beier</dc:creator>
  <dc:description/>
  <cp:lastModifiedBy>Sebastian Beier</cp:lastModifiedBy>
  <cp:revision>2</cp:revision>
  <dcterms:created xsi:type="dcterms:W3CDTF">2026-06-29T12:05:27Z</dcterms:created>
  <dcterms:modified xsi:type="dcterms:W3CDTF">2026-06-29T12:32:26Z</dcterms:modified>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33</vt:r8>
  </property>
  <property fmtid="{D5CDD505-2E9C-101B-9397-08002B2CF9AE}" pid="3" name="PresentationFormat">
    <vt:lpwstr>On-screen Show (16:9)</vt:lpwstr>
  </property>
  <property fmtid="{D5CDD505-2E9C-101B-9397-08002B2CF9AE}" pid="4" name="Slides">
    <vt:r8>33</vt:r8>
  </property>
</Properties>
</file>