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22"/>
    <p:sldId id="270" r:id="rId16"/>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9" d="100"/>
          <a:sy n="119" d="100"/>
        </p:scale>
        <p:origin x="15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de-DE" sz="1800" b="0" u="none" strike="noStrike">
                <a:solidFill>
                  <a:schemeClr val="dk1"/>
                </a:solidFill>
                <a:effectLst/>
                <a:uFillTx/>
                <a:latin typeface="Calibri"/>
              </a:rPr>
              <a:t>Folie mittels Klicken verschieben</a:t>
            </a: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de-DE" sz="2000" b="0" u="none" strike="noStrike">
                <a:solidFill>
                  <a:srgbClr val="000000"/>
                </a:solidFill>
                <a:effectLst/>
                <a:uFillTx/>
                <a:latin typeface="Arial"/>
              </a:rPr>
              <a:t>Format der Notizen mittels Klicken bearbeiten</a:t>
            </a:r>
          </a:p>
        </p:txBody>
      </p:sp>
      <p:sp>
        <p:nvSpPr>
          <p:cNvPr id="4"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de-DE" sz="1400" b="0" u="none" strike="noStrike">
                <a:solidFill>
                  <a:srgbClr val="000000"/>
                </a:solidFill>
                <a:effectLst/>
                <a:uFillTx/>
                <a:latin typeface="Times New Roman"/>
              </a:rPr>
              <a:t> </a:t>
            </a:r>
          </a:p>
        </p:txBody>
      </p:sp>
      <p:sp>
        <p:nvSpPr>
          <p:cNvPr id="5"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de-DE" sz="1400" b="0" u="none" strike="noStrike">
                <a:solidFill>
                  <a:srgbClr val="000000"/>
                </a:solidFill>
                <a:effectLst/>
                <a:uFillTx/>
                <a:latin typeface="Times New Roman"/>
              </a:defRPr>
            </a:lvl1pPr>
          </a:lstStyle>
          <a:p>
            <a:pPr indent="0" algn="r">
              <a:buNone/>
            </a:pPr>
            <a:r>
              <a:rPr lang="de-DE" sz="1400" b="0" u="none" strike="noStrike">
                <a:solidFill>
                  <a:srgbClr val="000000"/>
                </a:solidFill>
                <a:effectLst/>
                <a:uFillTx/>
                <a:latin typeface="Times New Roman"/>
              </a:rPr>
              <a:t> </a:t>
            </a: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de-DE" sz="1400" b="0" u="none" strike="noStrike">
                <a:solidFill>
                  <a:srgbClr val="000000"/>
                </a:solidFill>
                <a:effectLst/>
                <a:uFillTx/>
                <a:latin typeface="Times New Roman"/>
              </a:defRPr>
            </a:lvl1pPr>
          </a:lstStyle>
          <a:p>
            <a:pPr indent="0">
              <a:buNone/>
            </a:pPr>
            <a:r>
              <a:rPr lang="de-DE" sz="1400" b="0" u="none" strike="noStrike">
                <a:solidFill>
                  <a:srgbClr val="000000"/>
                </a:solidFill>
                <a:effectLst/>
                <a:uFillTx/>
                <a:latin typeface="Times New Roman"/>
              </a:rPr>
              <a:t> </a:t>
            </a: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de-DE" sz="1400" b="0" u="none" strike="noStrike">
                <a:solidFill>
                  <a:srgbClr val="000000"/>
                </a:solidFill>
                <a:effectLst/>
                <a:uFillTx/>
                <a:latin typeface="Times New Roman"/>
              </a:defRPr>
            </a:lvl1pPr>
          </a:lstStyle>
          <a:p>
            <a:pPr indent="0" algn="r">
              <a:buNone/>
            </a:pPr>
            <a:fld id="{73CD765A-1C0F-4860-A93E-B7DDC9B03AD6}" type="slidenum">
              <a:rPr lang="de-DE" sz="1400" b="0" u="none" strike="noStrike">
                <a:solidFill>
                  <a:srgbClr val="000000"/>
                </a:solidFill>
                <a:effectLst/>
                <a:uFillTx/>
                <a:latin typeface="Times New Roman"/>
              </a:rPr>
              <a:t>‹Nr.›</a:t>
            </a:fld>
            <a:endParaRPr lang="de-DE"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 name="PlaceHolder 1"/>
          <p:cNvSpPr>
            <a:spLocks noGrp="1" noRot="1" noChangeAspect="1"/>
          </p:cNvSpPr>
          <p:nvPr>
            <p:ph type="sldImg"/>
          </p:nvPr>
        </p:nvSpPr>
        <p:spPr>
          <a:xfrm>
            <a:off x="685800" y="1143000"/>
            <a:ext cx="5486040" cy="3085920"/>
          </a:xfrm>
          <a:prstGeom prst="rect">
            <a:avLst/>
          </a:prstGeom>
          <a:ln w="0">
            <a:noFill/>
          </a:ln>
        </p:spPr>
      </p:sp>
      <p:sp>
        <p:nvSpPr>
          <p:cNvPr id="29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Welcome to Session 5. Session 4 built and evaluated a pangenome; here we cover the last mile — presenting and sharing it so others can see it, find it, trust it and reuse it. The whole session follows the recommendations of the ELIXIR E-PAN white paper, the community standards effort I'm a co-author on.</a:t>
            </a:r>
            <a:endParaRPr lang="de-DE" sz="2000" b="0" u="none" strike="noStrike">
              <a:solidFill>
                <a:srgbClr val="000000"/>
              </a:solidFill>
              <a:effectLst/>
              <a:uFillTx/>
              <a:latin typeface="Arial"/>
            </a:endParaRPr>
          </a:p>
        </p:txBody>
      </p:sp>
      <p:sp>
        <p:nvSpPr>
          <p:cNvPr id="293"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18E7CFD-AC4D-4BB2-8BE6-CF174E02C9C9}" type="slidenum">
              <a:rPr lang="en-US" sz="1200" b="0" u="none" strike="noStrike">
                <a:solidFill>
                  <a:schemeClr val="dk1"/>
                </a:solidFill>
                <a:effectLst/>
                <a:uFillTx/>
                <a:latin typeface="+mn-lt"/>
                <a:ea typeface="+mn-ea"/>
              </a:rPr>
              <a:t>1</a:t>
            </a:fld>
            <a:endParaRPr lang="de-DE"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 name="PlaceHolder 1"/>
          <p:cNvSpPr>
            <a:spLocks noGrp="1" noRot="1" noChangeAspect="1"/>
          </p:cNvSpPr>
          <p:nvPr>
            <p:ph type="sldImg"/>
          </p:nvPr>
        </p:nvSpPr>
        <p:spPr>
          <a:xfrm>
            <a:off x="685800" y="1143000"/>
            <a:ext cx="5486040" cy="3085920"/>
          </a:xfrm>
          <a:prstGeom prst="rect">
            <a:avLst/>
          </a:prstGeom>
          <a:ln w="0">
            <a:noFill/>
          </a:ln>
        </p:spPr>
      </p:sp>
      <p:sp>
        <p:nvSpPr>
          <p:cNvPr id="29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The core problem: a graph sitting on your disk helps nobody. To be useful it must be findable, viewable and reusable — and pangenomes need their own conventions because they're far more complex than a single FASTA. Our guide throughout is the ELIXIR E-PAN white paper, a community standards effort across barley, rice, tomato and Arabidopsis, aimed squarely at making these resources FAIR.</a:t>
            </a:r>
            <a:endParaRPr lang="de-DE" sz="2000" b="0" u="none" strike="noStrike">
              <a:solidFill>
                <a:srgbClr val="000000"/>
              </a:solidFill>
              <a:effectLst/>
              <a:uFillTx/>
              <a:latin typeface="Arial"/>
            </a:endParaRPr>
          </a:p>
        </p:txBody>
      </p:sp>
      <p:sp>
        <p:nvSpPr>
          <p:cNvPr id="296"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B2826A1-D6F6-4539-B03D-6E9C0543A8F4}" type="slidenum">
              <a:rPr lang="en-US" sz="1200" b="0" u="none" strike="noStrike">
                <a:solidFill>
                  <a:schemeClr val="dk1"/>
                </a:solidFill>
                <a:effectLst/>
                <a:uFillTx/>
                <a:latin typeface="+mn-lt"/>
                <a:ea typeface="+mn-ea"/>
              </a:rPr>
              <a:t>2</a:t>
            </a:fld>
            <a:endParaRPr lang="de-DE"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PlaceHolder 1"/>
          <p:cNvSpPr>
            <a:spLocks noGrp="1" noRot="1" noChangeAspect="1"/>
          </p:cNvSpPr>
          <p:nvPr>
            <p:ph type="sldImg"/>
          </p:nvPr>
        </p:nvSpPr>
        <p:spPr>
          <a:xfrm>
            <a:off x="685800" y="1143000"/>
            <a:ext cx="5486040" cy="3085920"/>
          </a:xfrm>
          <a:prstGeom prst="rect">
            <a:avLst/>
          </a:prstGeom>
          <a:ln w="0">
            <a:noFill/>
          </a:ln>
        </p:spPr>
      </p:sp>
      <p:sp>
        <p:nvSpPr>
          <p:cNvPr id="29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Three jobs. Visualize — make the graph and its variation readable. Share — release standard files with rich metadata, the FAIR way. Integrate — plug it into the wider ecosystem of portals, APIs and knowledge graphs. The acid test: a stranger can find your pangenome, open it, understand it, and build on it.</a:t>
            </a:r>
            <a:endParaRPr lang="de-DE" sz="2000" b="0" u="none" strike="noStrike">
              <a:solidFill>
                <a:srgbClr val="000000"/>
              </a:solidFill>
              <a:effectLst/>
              <a:uFillTx/>
              <a:latin typeface="Arial"/>
            </a:endParaRPr>
          </a:p>
        </p:txBody>
      </p:sp>
      <p:sp>
        <p:nvSpPr>
          <p:cNvPr id="299"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58C8321-3DCA-422D-8671-2B9FFC865F06}" type="slidenum">
              <a:rPr lang="en-US" sz="1200" b="0" u="none" strike="noStrike">
                <a:solidFill>
                  <a:schemeClr val="dk1"/>
                </a:solidFill>
                <a:effectLst/>
                <a:uFillTx/>
                <a:latin typeface="+mn-lt"/>
                <a:ea typeface="+mn-ea"/>
              </a:rPr>
              <a:t>3</a:t>
            </a:fld>
            <a:endParaRPr lang="de-DE"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PlaceHolder 1"/>
          <p:cNvSpPr>
            <a:spLocks noGrp="1" noRot="1" noChangeAspect="1"/>
          </p:cNvSpPr>
          <p:nvPr>
            <p:ph type="sldImg"/>
          </p:nvPr>
        </p:nvSpPr>
        <p:spPr>
          <a:xfrm>
            <a:off x="685800" y="1143000"/>
            <a:ext cx="5486400" cy="3086100"/>
          </a:xfrm>
          <a:prstGeom prst="rect">
            <a:avLst/>
          </a:prstGeom>
          <a:ln w="0">
            <a:noFill/>
          </a:ln>
        </p:spPr>
      </p:sp>
      <p:sp>
        <p:nvSpPr>
          <p:cNvPr id="30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de-DE" sz="1800" b="0" u="none" strike="noStrike">
              <a:solidFill>
                <a:srgbClr val="000000"/>
              </a:solidFill>
              <a:effectLst/>
              <a:uFillTx/>
              <a:latin typeface="Arial"/>
            </a:endParaRPr>
          </a:p>
        </p:txBody>
      </p:sp>
      <p:sp>
        <p:nvSpPr>
          <p:cNvPr id="302"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E00C58F-8F01-41A1-B318-68B46B0700C6}" type="slidenum">
              <a:rPr lang="en-US" sz="1200" b="0" u="none" strike="noStrike">
                <a:solidFill>
                  <a:schemeClr val="dk1"/>
                </a:solidFill>
                <a:effectLst/>
                <a:uFillTx/>
                <a:latin typeface="+mn-lt"/>
                <a:ea typeface="+mn-ea"/>
              </a:rPr>
              <a:t>4</a:t>
            </a:fld>
            <a:endParaRPr lang="de-DE"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 name="PlaceHolder 1"/>
          <p:cNvSpPr>
            <a:spLocks noGrp="1" noRot="1" noChangeAspect="1"/>
          </p:cNvSpPr>
          <p:nvPr>
            <p:ph type="sldImg"/>
          </p:nvPr>
        </p:nvSpPr>
        <p:spPr>
          <a:xfrm>
            <a:off x="685800" y="1143000"/>
            <a:ext cx="5486040" cy="3085920"/>
          </a:xfrm>
          <a:prstGeom prst="rect">
            <a:avLst/>
          </a:prstGeom>
          <a:ln w="0">
            <a:noFill/>
          </a:ln>
        </p:spPr>
      </p:sp>
      <p:sp>
        <p:nvSpPr>
          <p:cNvPr id="30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A small visual vocabulary recurs across pangenome papers. A PAV heatmap answers 'who has which gene'. A core/shell/cloud bar shows how diversity is partitioned. A growth curve tells you whether the pangenome is open or closed. An UpSet plot shows which accessions share which features. The skill is matching the idiom to the question — and always labelling thresholds and sample size.</a:t>
            </a:r>
            <a:endParaRPr lang="de-DE" sz="2000" b="0" u="none" strike="noStrike">
              <a:solidFill>
                <a:srgbClr val="000000"/>
              </a:solidFill>
              <a:effectLst/>
              <a:uFillTx/>
              <a:latin typeface="Arial"/>
            </a:endParaRPr>
          </a:p>
        </p:txBody>
      </p:sp>
      <p:sp>
        <p:nvSpPr>
          <p:cNvPr id="305"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D524DDF-B9FE-482F-944B-DEDEB0E70479}" type="slidenum">
              <a:rPr lang="en-US" sz="1200" b="0" u="none" strike="noStrike">
                <a:solidFill>
                  <a:schemeClr val="dk1"/>
                </a:solidFill>
                <a:effectLst/>
                <a:uFillTx/>
                <a:latin typeface="+mn-lt"/>
                <a:ea typeface="+mn-ea"/>
              </a:rPr>
              <a:t>5</a:t>
            </a:fld>
            <a:endParaRPr lang="de-DE" sz="12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 name="PlaceHolder 1"/>
          <p:cNvSpPr>
            <a:spLocks noGrp="1" noRot="1" noChangeAspect="1"/>
          </p:cNvSpPr>
          <p:nvPr>
            <p:ph type="sldImg"/>
          </p:nvPr>
        </p:nvSpPr>
        <p:spPr>
          <a:xfrm>
            <a:off x="685800" y="1143000"/>
            <a:ext cx="5486040" cy="3085920"/>
          </a:xfrm>
          <a:prstGeom prst="rect">
            <a:avLst/>
          </a:prstGeom>
          <a:ln w="0">
            <a:noFill/>
          </a:ln>
        </p:spPr>
      </p:sp>
      <p:sp>
        <p:nvSpPr>
          <p:cNvPr id="30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For the graph itself, two families of tool. The sequence tube map makes a graph genome intuitive — each haplotype is a coloured line, and SNPs, indels, inversions and duplications jump out. For interaction, Bandage and odgi let you explore topology, search a gene, and see which genomes carry a node; Cytoscape and MoMI-G add network and multi-scale views. All sit on toolkits like the VG toolkit, PGGB, PanTools and wfmash — the set the E-PAN paper recommends.</a:t>
            </a:r>
            <a:endParaRPr lang="de-DE" sz="2000" b="0" u="none" strike="noStrike">
              <a:solidFill>
                <a:srgbClr val="000000"/>
              </a:solidFill>
              <a:effectLst/>
              <a:uFillTx/>
              <a:latin typeface="Arial"/>
            </a:endParaRPr>
          </a:p>
        </p:txBody>
      </p:sp>
      <p:sp>
        <p:nvSpPr>
          <p:cNvPr id="308"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8ED109A-BBBE-4DBD-90E9-552FFFCDC7A6}" type="slidenum">
              <a:rPr lang="en-US" sz="1200" b="0" u="none" strike="noStrike">
                <a:solidFill>
                  <a:schemeClr val="dk1"/>
                </a:solidFill>
                <a:effectLst/>
                <a:uFillTx/>
                <a:latin typeface="+mn-lt"/>
                <a:ea typeface="+mn-ea"/>
              </a:rPr>
              <a:t>6</a:t>
            </a:fld>
            <a:endParaRPr lang="de-DE" sz="12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 name="PlaceHolder 1"/>
          <p:cNvSpPr>
            <a:spLocks noGrp="1" noRot="1" noChangeAspect="1"/>
          </p:cNvSpPr>
          <p:nvPr>
            <p:ph type="sldImg"/>
          </p:nvPr>
        </p:nvSpPr>
        <p:spPr>
          <a:xfrm>
            <a:off x="685800" y="1143000"/>
            <a:ext cx="5486040" cy="3085920"/>
          </a:xfrm>
          <a:prstGeom prst="rect">
            <a:avLst/>
          </a:prstGeom>
          <a:ln w="0">
            <a:noFill/>
          </a:ln>
        </p:spPr>
      </p:sp>
      <p:sp>
        <p:nvSpPr>
          <p:cNvPr id="31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Release each layer in its established format: FASTA for assemblies, GFF3 or GTF for annotation, VCF or BCF for variants, TSV for orthogroups, GFA for the graph itself, and JSON-LD or RO-Crate for metadata. The golden rule from the white paper: the sequence IDs in your GFF3 must match the FASTA headers exactly — name mismatches are the single most common reason a shared pangenome can't be used.</a:t>
            </a:r>
            <a:endParaRPr lang="de-DE" sz="2000" b="0" u="none" strike="noStrike">
              <a:solidFill>
                <a:srgbClr val="000000"/>
              </a:solidFill>
              <a:effectLst/>
              <a:uFillTx/>
              <a:latin typeface="Arial"/>
            </a:endParaRPr>
          </a:p>
        </p:txBody>
      </p:sp>
      <p:sp>
        <p:nvSpPr>
          <p:cNvPr id="311"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404CC4E-7F7E-486D-809A-4C76850FC395}" type="slidenum">
              <a:rPr lang="en-US" sz="1200" b="0" u="none" strike="noStrike">
                <a:solidFill>
                  <a:schemeClr val="dk1"/>
                </a:solidFill>
                <a:effectLst/>
                <a:uFillTx/>
                <a:latin typeface="+mn-lt"/>
                <a:ea typeface="+mn-ea"/>
              </a:rPr>
              <a:t>7</a:t>
            </a:fld>
            <a:endParaRPr lang="de-DE" sz="12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 name="PlaceHolder 1"/>
          <p:cNvSpPr>
            <a:spLocks noGrp="1" noRot="1" noChangeAspect="1"/>
          </p:cNvSpPr>
          <p:nvPr>
            <p:ph type="sldImg"/>
          </p:nvPr>
        </p:nvSpPr>
        <p:spPr>
          <a:xfrm>
            <a:off x="685800" y="1143000"/>
            <a:ext cx="5486040" cy="3085920"/>
          </a:xfrm>
          <a:prstGeom prst="rect">
            <a:avLst/>
          </a:prstGeom>
          <a:ln w="0">
            <a:noFill/>
          </a:ln>
        </p:spPr>
      </p:sp>
      <p:sp>
        <p:nvSpPr>
          <p:cNvPr id="31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Two halves of being reusable. Naming: assembly IDs with at least four dot-separated fields — species, variety, project, version — plus stable pan-gene IDs, ToLID species prefixes and PanSN for graph sequence names. Metadata: MIAPPE for phenotyping context, Sequence Ontology for feature types, and a record of sequencing technology, assembly method, software versions, BioSample and taxonomy IDs — and for the pangenome, its version, build date and the exact list of constituent genomes.</a:t>
            </a:r>
            <a:endParaRPr lang="de-DE" sz="2000" b="0" u="none" strike="noStrike">
              <a:solidFill>
                <a:srgbClr val="000000"/>
              </a:solidFill>
              <a:effectLst/>
              <a:uFillTx/>
              <a:latin typeface="Arial"/>
            </a:endParaRPr>
          </a:p>
        </p:txBody>
      </p:sp>
      <p:sp>
        <p:nvSpPr>
          <p:cNvPr id="314"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3FA4A3A-5DBB-4E0B-B46A-E1438435A856}" type="slidenum">
              <a:rPr lang="en-US" sz="1200" b="0" u="none" strike="noStrike">
                <a:solidFill>
                  <a:schemeClr val="dk1"/>
                </a:solidFill>
                <a:effectLst/>
                <a:uFillTx/>
                <a:latin typeface="+mn-lt"/>
                <a:ea typeface="+mn-ea"/>
              </a:rPr>
              <a:t>8</a:t>
            </a:fld>
            <a:endParaRPr lang="de-DE" sz="1200" b="0" u="none" strike="noStrike">
              <a:solidFill>
                <a:srgbClr val="000000"/>
              </a:solidFill>
              <a:effectLst/>
              <a:uFillTx/>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 name="PlaceHolder 1"/>
          <p:cNvSpPr>
            <a:spLocks noGrp="1" noRot="1" noChangeAspect="1"/>
          </p:cNvSpPr>
          <p:nvPr>
            <p:ph type="sldImg"/>
          </p:nvPr>
        </p:nvSpPr>
        <p:spPr>
          <a:xfrm>
            <a:off x="685800" y="1143000"/>
            <a:ext cx="5486040" cy="3085920"/>
          </a:xfrm>
          <a:prstGeom prst="rect">
            <a:avLst/>
          </a:prstGeom>
          <a:ln w="0">
            <a:noFill/>
          </a:ln>
        </p:spPr>
      </p:sp>
      <p:sp>
        <p:nvSpPr>
          <p:cNvPr id="31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Deposit in the established public archives: INSDC for reads and assemblies, Ensembl for annotations, CNCB-NGDC as a mirror — and mint DOIs via DataCite so each dataset version is citable, like Barley v2. The Human Pangenome Reference Consortium is the model to copy: 47 assemblies, versioned and openly archived.</a:t>
            </a:r>
            <a:endParaRPr lang="de-DE" sz="2000" b="0" u="none" strike="noStrike">
              <a:solidFill>
                <a:srgbClr val="000000"/>
              </a:solidFill>
              <a:effectLst/>
              <a:uFillTx/>
              <a:latin typeface="Arial"/>
            </a:endParaRPr>
          </a:p>
        </p:txBody>
      </p:sp>
      <p:sp>
        <p:nvSpPr>
          <p:cNvPr id="317"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45E4869-EE35-4877-94CE-6203C20DFA65}" type="slidenum">
              <a:rPr lang="en-US" sz="1200" b="0" u="none" strike="noStrike">
                <a:solidFill>
                  <a:schemeClr val="dk1"/>
                </a:solidFill>
                <a:effectLst/>
                <a:uFillTx/>
                <a:latin typeface="+mn-lt"/>
                <a:ea typeface="+mn-ea"/>
              </a:rPr>
              <a:t>9</a:t>
            </a:fld>
            <a:endParaRPr lang="de-DE" sz="1200" b="0" u="none" strike="noStrike">
              <a:solidFill>
                <a:srgbClr val="000000"/>
              </a:solidFill>
              <a:effectLst/>
              <a:uFillTx/>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 name="PlaceHolder 1"/>
          <p:cNvSpPr>
            <a:spLocks noGrp="1" noRot="1" noChangeAspect="1"/>
          </p:cNvSpPr>
          <p:nvPr>
            <p:ph type="sldImg"/>
          </p:nvPr>
        </p:nvSpPr>
        <p:spPr>
          <a:xfrm>
            <a:off x="685800" y="1143000"/>
            <a:ext cx="5486040" cy="3085920"/>
          </a:xfrm>
          <a:prstGeom prst="rect">
            <a:avLst/>
          </a:prstGeom>
          <a:ln w="0">
            <a:noFill/>
          </a:ln>
        </p:spPr>
      </p:sp>
      <p:sp>
        <p:nvSpPr>
          <p:cNvPr id="31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The white paper's concrete recipe makes a release FAIR by construction. Submit a minimal compliant package — FASTA, GFF3, VCF and core metadata — to the public archives. Alongside it, attach a single RO-Crate archive holding the full GFA graph, the Snakemake or Nextflow workflow files, the validation reports and JSON-LD metadata, and give it a DOI on Zenodo. That delivers all four FAIR properties at once.</a:t>
            </a:r>
            <a:endParaRPr lang="de-DE" sz="2000" b="0" u="none" strike="noStrike">
              <a:solidFill>
                <a:srgbClr val="000000"/>
              </a:solidFill>
              <a:effectLst/>
              <a:uFillTx/>
              <a:latin typeface="Arial"/>
            </a:endParaRPr>
          </a:p>
        </p:txBody>
      </p:sp>
      <p:sp>
        <p:nvSpPr>
          <p:cNvPr id="320"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41EAA7D-52F9-4C43-A620-1252E72AF35C}" type="slidenum">
              <a:rPr lang="en-US" sz="1200" b="0" u="none" strike="noStrike">
                <a:solidFill>
                  <a:schemeClr val="dk1"/>
                </a:solidFill>
                <a:effectLst/>
                <a:uFillTx/>
                <a:latin typeface="+mn-lt"/>
                <a:ea typeface="+mn-ea"/>
              </a:rPr>
              <a:t>10</a:t>
            </a:fld>
            <a:endParaRPr lang="de-DE" sz="1200" b="0" u="none" strike="noStrike">
              <a:solidFill>
                <a:srgbClr val="000000"/>
              </a:solidFill>
              <a:effectLst/>
              <a:uFillTx/>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 name="PlaceHolder 1"/>
          <p:cNvSpPr>
            <a:spLocks noGrp="1" noRot="1" noChangeAspect="1"/>
          </p:cNvSpPr>
          <p:nvPr>
            <p:ph type="sldImg"/>
          </p:nvPr>
        </p:nvSpPr>
        <p:spPr>
          <a:xfrm>
            <a:off x="685800" y="1143000"/>
            <a:ext cx="5486040" cy="3085920"/>
          </a:xfrm>
          <a:prstGeom prst="rect">
            <a:avLst/>
          </a:prstGeom>
          <a:ln w="0">
            <a:noFill/>
          </a:ln>
        </p:spPr>
      </p:sp>
      <p:sp>
        <p:nvSpPr>
          <p:cNvPr id="32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Not everyone uses a command line. Pre-rendered web portals let breeders and biologists explore a pangenome directly. Panache is a browser for presence/absence variation across a linearized pangenome — searchable tracks, PAV matrices, summary plots. PanBARLEX, hosted at my institute IPK, is exactly this kind of community barley portal, and the white paper highlights it as an exemplar.</a:t>
            </a:r>
            <a:endParaRPr lang="de-DE" sz="2000" b="0" u="none" strike="noStrike">
              <a:solidFill>
                <a:srgbClr val="000000"/>
              </a:solidFill>
              <a:effectLst/>
              <a:uFillTx/>
              <a:latin typeface="Arial"/>
            </a:endParaRPr>
          </a:p>
        </p:txBody>
      </p:sp>
      <p:sp>
        <p:nvSpPr>
          <p:cNvPr id="323"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DF27D00-83DE-47B8-BDEB-86F0246145E5}" type="slidenum">
              <a:rPr lang="en-US" sz="1200" b="0" u="none" strike="noStrike">
                <a:solidFill>
                  <a:schemeClr val="dk1"/>
                </a:solidFill>
                <a:effectLst/>
                <a:uFillTx/>
                <a:latin typeface="+mn-lt"/>
                <a:ea typeface="+mn-ea"/>
              </a:rPr>
              <a:t>11</a:t>
            </a:fld>
            <a:endParaRPr lang="de-DE" sz="1200" b="0" u="none" strike="noStrike">
              <a:solidFill>
                <a:srgbClr val="000000"/>
              </a:solidFill>
              <a:effectLst/>
              <a:uFillTx/>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 name="PlaceHolder 1"/>
          <p:cNvSpPr>
            <a:spLocks noGrp="1" noRot="1" noChangeAspect="1"/>
          </p:cNvSpPr>
          <p:nvPr>
            <p:ph type="sldImg"/>
          </p:nvPr>
        </p:nvSpPr>
        <p:spPr>
          <a:xfrm>
            <a:off x="685800" y="1143000"/>
            <a:ext cx="5486400" cy="3086100"/>
          </a:xfrm>
          <a:prstGeom prst="rect">
            <a:avLst/>
          </a:prstGeom>
          <a:ln w="0">
            <a:noFill/>
          </a:ln>
        </p:spPr>
      </p:sp>
      <p:sp>
        <p:nvSpPr>
          <p:cNvPr id="32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Beyond a website, expose the data programmatically so other tools consume it automatically. BrAPI — the Breeding API — is the community standard for exchanging breeding and genotype data: a standardised JSON response means the same query works across many databases. Graph queries via the VG toolkit expose variants and paths to downstream pipelines. Interoperability is what turns isolated resources into a connected ecosystem.</a:t>
            </a:r>
            <a:endParaRPr lang="de-DE" sz="2000" b="0" u="none" strike="noStrike">
              <a:solidFill>
                <a:srgbClr val="000000"/>
              </a:solidFill>
              <a:effectLst/>
              <a:uFillTx/>
              <a:latin typeface="Arial"/>
            </a:endParaRPr>
          </a:p>
        </p:txBody>
      </p:sp>
      <p:sp>
        <p:nvSpPr>
          <p:cNvPr id="326"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9B898C2-004E-4267-B6F3-BF141D7BF5F6}" type="slidenum">
              <a:rPr lang="en-US" sz="1200" b="0" u="none" strike="noStrike">
                <a:solidFill>
                  <a:schemeClr val="dk1"/>
                </a:solidFill>
                <a:effectLst/>
                <a:uFillTx/>
                <a:latin typeface="+mn-lt"/>
                <a:ea typeface="+mn-ea"/>
              </a:rPr>
              <a:t>12</a:t>
            </a:fld>
            <a:endParaRPr lang="de-DE" sz="1200" b="0" u="none" strike="noStrike">
              <a:solidFill>
                <a:srgbClr val="000000"/>
              </a:solidFill>
              <a:effectLst/>
              <a:uFillTx/>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 name="PlaceHolder 1"/>
          <p:cNvSpPr>
            <a:spLocks noGrp="1" noRot="1" noChangeAspect="1"/>
          </p:cNvSpPr>
          <p:nvPr>
            <p:ph type="sldImg"/>
          </p:nvPr>
        </p:nvSpPr>
        <p:spPr>
          <a:xfrm>
            <a:off x="685800" y="1143000"/>
            <a:ext cx="5486400" cy="3086100"/>
          </a:xfrm>
          <a:prstGeom prst="rect">
            <a:avLst/>
          </a:prstGeom>
          <a:ln w="0">
            <a:noFill/>
          </a:ln>
        </p:spPr>
      </p:sp>
      <p:sp>
        <p:nvSpPr>
          <p:cNvPr id="32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The ultimate point of sharing is reuse for biology. Detect structural variants and PAV across accessions and test them against traits — graph-based GWAS finds associations a single reference misses; the tomato pangenome recovered about 24% more missing heritability, and rice revealed hidden structural variants behind phenotypes. Then feed it into knowledge graphs like KnetMiner that fuse pangenome, association, omics and literature — exactly Dr. Bleker's Session 3, and discoverable through Dr. Pommier's federated portals from Session 1. The pangenome becomes a hub, not a dead-end file.</a:t>
            </a:r>
            <a:endParaRPr lang="de-DE" sz="2000" b="0" u="none" strike="noStrike">
              <a:solidFill>
                <a:srgbClr val="000000"/>
              </a:solidFill>
              <a:effectLst/>
              <a:uFillTx/>
              <a:latin typeface="Arial"/>
            </a:endParaRPr>
          </a:p>
        </p:txBody>
      </p:sp>
      <p:sp>
        <p:nvSpPr>
          <p:cNvPr id="329"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A84603F-3835-45BC-914A-BA798B0B30DD}" type="slidenum">
              <a:rPr lang="en-US" sz="1200" b="0" u="none" strike="noStrike">
                <a:solidFill>
                  <a:schemeClr val="dk1"/>
                </a:solidFill>
                <a:effectLst/>
                <a:uFillTx/>
                <a:latin typeface="+mn-lt"/>
                <a:ea typeface="+mn-ea"/>
              </a:rPr>
              <a:t>13</a:t>
            </a:fld>
            <a:endParaRPr lang="de-DE" sz="1200" b="0" u="none" strike="noStrike">
              <a:solidFill>
                <a:srgbClr val="000000"/>
              </a:solidFill>
              <a:effectLst/>
              <a:uFillTx/>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 name="PlaceHolder 1"/>
          <p:cNvSpPr>
            <a:spLocks noGrp="1" noRot="1" noChangeAspect="1"/>
          </p:cNvSpPr>
          <p:nvPr>
            <p:ph type="sldImg"/>
          </p:nvPr>
        </p:nvSpPr>
        <p:spPr>
          <a:xfrm>
            <a:off x="685800" y="1143000"/>
            <a:ext cx="5486040" cy="3085920"/>
          </a:xfrm>
          <a:prstGeom prst="rect">
            <a:avLst/>
          </a:prstGeom>
          <a:ln w="0">
            <a:noFill/>
          </a:ln>
        </p:spPr>
      </p:sp>
      <p:sp>
        <p:nvSpPr>
          <p:cNvPr id="33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A practical checklist you can apply to any pangenome. On the left: consistent names, standard formats, rich metadata, matching IDs. On the right: deposit the minimal package, add an RO-Crate, version it with a DOI, and provide a viewer plus links to knowledge graphs. Tick all eight and your pangenome is findable, viewable and reusable — the whole goal of the E-PAN standards.</a:t>
            </a:r>
            <a:endParaRPr lang="de-DE" sz="2000" b="0" u="none" strike="noStrike">
              <a:solidFill>
                <a:srgbClr val="000000"/>
              </a:solidFill>
              <a:effectLst/>
              <a:uFillTx/>
              <a:latin typeface="Arial"/>
            </a:endParaRPr>
          </a:p>
        </p:txBody>
      </p:sp>
      <p:sp>
        <p:nvSpPr>
          <p:cNvPr id="332" name="PlaceHolder 3"/>
          <p:cNvSpPr>
            <a:spLocks noGrp="1"/>
          </p:cNvSpPr>
          <p:nvPr>
            <p:ph type="sldNum" idx="1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5F3B23D-988B-4B88-9B31-E7FB4B4B731B}" type="slidenum">
              <a:rPr lang="en-US" sz="1200" b="0" u="none" strike="noStrike">
                <a:solidFill>
                  <a:schemeClr val="dk1"/>
                </a:solidFill>
                <a:effectLst/>
                <a:uFillTx/>
                <a:latin typeface="+mn-lt"/>
                <a:ea typeface="+mn-ea"/>
              </a:rPr>
              <a:t>14</a:t>
            </a:fld>
            <a:endParaRPr lang="de-DE" sz="1200" b="0" u="none" strike="noStrike">
              <a:solidFill>
                <a:srgbClr val="000000"/>
              </a:solidFill>
              <a:effectLst/>
              <a:uFillTx/>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 name="PlaceHolder 1"/>
          <p:cNvSpPr>
            <a:spLocks noGrp="1" noRot="1" noChangeAspect="1"/>
          </p:cNvSpPr>
          <p:nvPr>
            <p:ph type="sldImg"/>
          </p:nvPr>
        </p:nvSpPr>
        <p:spPr>
          <a:xfrm>
            <a:off x="685800" y="1143000"/>
            <a:ext cx="5486040" cy="3085920"/>
          </a:xfrm>
          <a:prstGeom prst="rect">
            <a:avLst/>
          </a:prstGeom>
          <a:ln w="0">
            <a:noFill/>
          </a:ln>
        </p:spPr>
      </p:sp>
      <p:sp>
        <p:nvSpPr>
          <p:cNvPr id="33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To close the session and the tutorial. Dissemination is the last mile — visualize with the right view, share standard formats with rich metadata as a minimal package plus an RO-Crate under a DOI, and integrate via portals, APIs and knowledge graphs so the pangenome becomes a hub. Do it to community standards and everything interoperates. It's all set out in the E-PAN white paper. Thank you — happy to take questions.</a:t>
            </a:r>
            <a:endParaRPr lang="de-DE" sz="2000" b="0" u="none" strike="noStrike">
              <a:solidFill>
                <a:srgbClr val="000000"/>
              </a:solidFill>
              <a:effectLst/>
              <a:uFillTx/>
              <a:latin typeface="Arial"/>
            </a:endParaRPr>
          </a:p>
        </p:txBody>
      </p:sp>
      <p:sp>
        <p:nvSpPr>
          <p:cNvPr id="335" name="PlaceHolder 3"/>
          <p:cNvSpPr>
            <a:spLocks noGrp="1"/>
          </p:cNvSpPr>
          <p:nvPr>
            <p:ph type="sldNum" idx="1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EF3DB87-7435-446A-A188-DD942F58C320}" type="slidenum">
              <a:rPr lang="en-US" sz="1200" b="0" u="none" strike="noStrike">
                <a:solidFill>
                  <a:schemeClr val="dk1"/>
                </a:solidFill>
                <a:effectLst/>
                <a:uFillTx/>
                <a:latin typeface="+mn-lt"/>
                <a:ea typeface="+mn-ea"/>
              </a:rPr>
              <a:t>15</a:t>
            </a:fld>
            <a:endParaRPr lang="de-DE" sz="1200" b="0" u="none" strike="noStrike">
              <a:solidFill>
                <a:srgbClr val="000000"/>
              </a:solidFill>
              <a:effectLst/>
              <a:uFillTx/>
              <a:latin typeface="Times New Roman"/>
            </a:endParaRP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Dissemination is also social. Beyond standards, three communities are worth joining. IPPGN, the International Plant Pangenome Network, founded in 2025, brings together academics, tool developers and breeders to solve pangenome-graph problems in the open. ERGA, the European Reference Genome Atlas, is building reference genomes across European biodiversity and launched a Pangenomes Working Group in May 2026, focused on pangenome standards and best practices — bottom-up and open to all (contact secretariat@erga-biodiversity.org). And ELIXIR E-PAN is the standards initiative behind today's white paper. Getting involved is the fastest way to keep up and to make your own resources interoperate.</a:t>
            </a:r>
          </a:p>
        </p:txBody>
      </p:sp>
      <p:sp>
        <p:nvSpPr>
          <p:cNvPr id="4" name="Slide Number Placeholder 3"/>
          <p:cNvSpPr>
            <a:spLocks noGrp="1"/>
          </p:cNvSpPr>
          <p:nvPr>
            <p:ph type="sldNum" idx="3"/>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r>
              <a:rPr lang="de-DE" sz="1800" b="0" u="none" strike="noStrike">
                <a:solidFill>
                  <a:schemeClr val="dk1"/>
                </a:solidFill>
                <a:effectLst/>
                <a:uFillTx/>
                <a:latin typeface="Calibri"/>
              </a:rPr>
              <a:t>Format des Titeltextes durch Klicken bearbeiten</a:t>
            </a: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de-DE" sz="3200" b="0" u="none" strike="noStrike">
                <a:solidFill>
                  <a:schemeClr val="dk1"/>
                </a:solidFill>
                <a:effectLst/>
                <a:uFillTx/>
                <a:latin typeface="Calibri"/>
              </a:rPr>
              <a:t>Format des Gliederungstextes durch Klicken bearbeiten</a:t>
            </a:r>
          </a:p>
          <a:p>
            <a:pPr marL="864000" lvl="1" indent="-324000">
              <a:spcBef>
                <a:spcPts val="1134"/>
              </a:spcBef>
              <a:buClr>
                <a:srgbClr val="000000"/>
              </a:buClr>
              <a:buSzPct val="75000"/>
              <a:buFont typeface="Symbol" charset="2"/>
              <a:buChar char=""/>
            </a:pPr>
            <a:r>
              <a:rPr lang="de-DE" sz="2400" b="0" u="none" strike="noStrike">
                <a:solidFill>
                  <a:schemeClr val="dk1"/>
                </a:solidFill>
                <a:effectLst/>
                <a:uFillTx/>
                <a:latin typeface="Calibri"/>
              </a:rPr>
              <a:t>Zweite Gliederungsebene</a:t>
            </a:r>
          </a:p>
          <a:p>
            <a:pPr marL="1296000" lvl="2" indent="-288000">
              <a:spcBef>
                <a:spcPts val="850"/>
              </a:spcBef>
              <a:buClr>
                <a:srgbClr val="000000"/>
              </a:buClr>
              <a:buSzPct val="45000"/>
              <a:buFont typeface="Wingdings" charset="2"/>
              <a:buChar char=""/>
            </a:pPr>
            <a:r>
              <a:rPr lang="de-DE" sz="2000" b="0" u="none" strike="noStrike">
                <a:solidFill>
                  <a:schemeClr val="dk1"/>
                </a:solidFill>
                <a:effectLst/>
                <a:uFillTx/>
                <a:latin typeface="Calibri"/>
              </a:rPr>
              <a:t>Dritte Gliederungsebene</a:t>
            </a:r>
          </a:p>
          <a:p>
            <a:pPr marL="1728000" lvl="3" indent="-216000">
              <a:spcBef>
                <a:spcPts val="567"/>
              </a:spcBef>
              <a:buClr>
                <a:srgbClr val="000000"/>
              </a:buClr>
              <a:buSzPct val="75000"/>
              <a:buFont typeface="Symbol" charset="2"/>
              <a:buChar char=""/>
            </a:pPr>
            <a:r>
              <a:rPr lang="de-DE" sz="2000" b="0" u="none" strike="noStrike">
                <a:solidFill>
                  <a:schemeClr val="dk1"/>
                </a:solidFill>
                <a:effectLst/>
                <a:uFillTx/>
                <a:latin typeface="Calibri"/>
              </a:rPr>
              <a:t>Vierte Gliederungsebene</a:t>
            </a:r>
          </a:p>
          <a:p>
            <a:pPr marL="2160000" lvl="4" indent="-216000">
              <a:spcBef>
                <a:spcPts val="283"/>
              </a:spcBef>
              <a:buClr>
                <a:srgbClr val="000000"/>
              </a:buClr>
              <a:buSzPct val="45000"/>
              <a:buFont typeface="Wingdings" charset="2"/>
              <a:buChar char=""/>
            </a:pPr>
            <a:r>
              <a:rPr lang="de-DE" sz="2000" b="0" u="none" strike="noStrike">
                <a:solidFill>
                  <a:schemeClr val="dk1"/>
                </a:solidFill>
                <a:effectLst/>
                <a:uFillTx/>
                <a:latin typeface="Calibri"/>
              </a:rPr>
              <a:t>Fünfte Gliederungsebene</a:t>
            </a:r>
          </a:p>
          <a:p>
            <a:pPr marL="2592000" lvl="5" indent="-216000">
              <a:spcBef>
                <a:spcPts val="283"/>
              </a:spcBef>
              <a:buClr>
                <a:srgbClr val="000000"/>
              </a:buClr>
              <a:buSzPct val="45000"/>
              <a:buFont typeface="Wingdings" charset="2"/>
              <a:buChar char=""/>
            </a:pPr>
            <a:r>
              <a:rPr lang="de-DE" sz="2000" b="0" u="none" strike="noStrike">
                <a:solidFill>
                  <a:schemeClr val="dk1"/>
                </a:solidFill>
                <a:effectLst/>
                <a:uFillTx/>
                <a:latin typeface="Calibri"/>
              </a:rPr>
              <a:t>Sechste Gliederungsebene</a:t>
            </a:r>
          </a:p>
          <a:p>
            <a:pPr marL="3024000" lvl="6" indent="-216000">
              <a:spcBef>
                <a:spcPts val="283"/>
              </a:spcBef>
              <a:buClr>
                <a:srgbClr val="000000"/>
              </a:buClr>
              <a:buSzPct val="45000"/>
              <a:buFont typeface="Wingdings" charset="2"/>
              <a:buChar char=""/>
            </a:pPr>
            <a:r>
              <a:rPr lang="de-DE" sz="2000" b="0" u="none" strike="noStrike">
                <a:solidFill>
                  <a:schemeClr val="dk1"/>
                </a:solidFill>
                <a:effectLst/>
                <a:uFillTx/>
                <a:latin typeface="Calibri"/>
              </a:rPr>
              <a:t>Siebte Gliederungsebene</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jpeg"/><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B1533"/>
        </a:solidFill>
        <a:effectLst/>
      </p:bgPr>
    </p:bg>
    <p:spTree>
      <p:nvGrpSpPr>
        <p:cNvPr id="1" name=""/>
        <p:cNvGrpSpPr/>
        <p:nvPr/>
      </p:nvGrpSpPr>
      <p:grpSpPr>
        <a:xfrm>
          <a:off x="0" y="0"/>
          <a:ext cx="0" cy="0"/>
          <a:chOff x="0" y="0"/>
          <a:chExt cx="0" cy="0"/>
        </a:xfrm>
      </p:grpSpPr>
      <p:sp>
        <p:nvSpPr>
          <p:cNvPr id="8" name="Shape 0"/>
          <p:cNvSpPr/>
          <p:nvPr/>
        </p:nvSpPr>
        <p:spPr>
          <a:xfrm>
            <a:off x="10094760" y="1042200"/>
            <a:ext cx="731520" cy="502920"/>
          </a:xfrm>
          <a:prstGeom prst="line">
            <a:avLst/>
          </a:prstGeom>
          <a:ln w="25400">
            <a:solidFill>
              <a:srgbClr val="8246A0"/>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de-DE" sz="1800" b="0" u="none" strike="noStrike">
              <a:solidFill>
                <a:srgbClr val="FFFFFF"/>
              </a:solidFill>
              <a:effectLst/>
              <a:uFillTx/>
              <a:latin typeface="Arial"/>
            </a:endParaRPr>
          </a:p>
        </p:txBody>
      </p:sp>
      <p:sp>
        <p:nvSpPr>
          <p:cNvPr id="9" name="Shape 1"/>
          <p:cNvSpPr/>
          <p:nvPr/>
        </p:nvSpPr>
        <p:spPr>
          <a:xfrm flipV="1">
            <a:off x="10826280" y="1179360"/>
            <a:ext cx="777240" cy="365760"/>
          </a:xfrm>
          <a:prstGeom prst="line">
            <a:avLst/>
          </a:prstGeom>
          <a:ln w="25400">
            <a:solidFill>
              <a:srgbClr val="8246A0"/>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de-DE" sz="1800" b="0" u="none" strike="noStrike">
              <a:solidFill>
                <a:srgbClr val="FFFFFF"/>
              </a:solidFill>
              <a:effectLst/>
              <a:uFillTx/>
              <a:latin typeface="Arial"/>
            </a:endParaRPr>
          </a:p>
        </p:txBody>
      </p:sp>
      <p:sp>
        <p:nvSpPr>
          <p:cNvPr id="10" name="Shape 2"/>
          <p:cNvSpPr/>
          <p:nvPr/>
        </p:nvSpPr>
        <p:spPr>
          <a:xfrm flipH="1">
            <a:off x="10506240" y="1545120"/>
            <a:ext cx="320040" cy="640080"/>
          </a:xfrm>
          <a:prstGeom prst="line">
            <a:avLst/>
          </a:prstGeom>
          <a:ln w="25400">
            <a:solidFill>
              <a:srgbClr val="8246A0"/>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de-DE" sz="1800" b="0" u="none" strike="noStrike">
              <a:solidFill>
                <a:srgbClr val="FFFFFF"/>
              </a:solidFill>
              <a:effectLst/>
              <a:uFillTx/>
              <a:latin typeface="Arial"/>
            </a:endParaRPr>
          </a:p>
        </p:txBody>
      </p:sp>
      <p:sp>
        <p:nvSpPr>
          <p:cNvPr id="11" name="Shape 3"/>
          <p:cNvSpPr/>
          <p:nvPr/>
        </p:nvSpPr>
        <p:spPr>
          <a:xfrm>
            <a:off x="10506240" y="2185200"/>
            <a:ext cx="777240" cy="91440"/>
          </a:xfrm>
          <a:prstGeom prst="line">
            <a:avLst/>
          </a:prstGeom>
          <a:ln w="25400">
            <a:solidFill>
              <a:srgbClr val="8246A0"/>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de-DE" sz="1800" b="0" u="none" strike="noStrike">
              <a:solidFill>
                <a:srgbClr val="FFFFFF"/>
              </a:solidFill>
              <a:effectLst/>
              <a:uFillTx/>
              <a:latin typeface="Arial"/>
            </a:endParaRPr>
          </a:p>
        </p:txBody>
      </p:sp>
      <p:sp>
        <p:nvSpPr>
          <p:cNvPr id="12" name="Shape 4"/>
          <p:cNvSpPr/>
          <p:nvPr/>
        </p:nvSpPr>
        <p:spPr>
          <a:xfrm>
            <a:off x="11603520" y="1179360"/>
            <a:ext cx="320040" cy="731520"/>
          </a:xfrm>
          <a:prstGeom prst="line">
            <a:avLst/>
          </a:prstGeom>
          <a:ln w="25400">
            <a:solidFill>
              <a:srgbClr val="8246A0"/>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de-DE" sz="1800" b="0" u="none" strike="noStrike">
              <a:solidFill>
                <a:srgbClr val="FFFFFF"/>
              </a:solidFill>
              <a:effectLst/>
              <a:uFillTx/>
              <a:latin typeface="Arial"/>
            </a:endParaRPr>
          </a:p>
        </p:txBody>
      </p:sp>
      <p:sp>
        <p:nvSpPr>
          <p:cNvPr id="13" name="Shape 5"/>
          <p:cNvSpPr/>
          <p:nvPr/>
        </p:nvSpPr>
        <p:spPr>
          <a:xfrm flipV="1">
            <a:off x="11283480" y="1910880"/>
            <a:ext cx="640080" cy="365760"/>
          </a:xfrm>
          <a:prstGeom prst="line">
            <a:avLst/>
          </a:prstGeom>
          <a:ln w="25400">
            <a:solidFill>
              <a:srgbClr val="8246A0"/>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de-DE" sz="1800" b="0" u="none" strike="noStrike">
              <a:solidFill>
                <a:srgbClr val="FFFFFF"/>
              </a:solidFill>
              <a:effectLst/>
              <a:uFillTx/>
              <a:latin typeface="Arial"/>
            </a:endParaRPr>
          </a:p>
        </p:txBody>
      </p:sp>
      <p:sp>
        <p:nvSpPr>
          <p:cNvPr id="14" name="Shape 6"/>
          <p:cNvSpPr/>
          <p:nvPr/>
        </p:nvSpPr>
        <p:spPr>
          <a:xfrm>
            <a:off x="9966960" y="914400"/>
            <a:ext cx="255600" cy="255600"/>
          </a:xfrm>
          <a:prstGeom prst="ellipse">
            <a:avLst/>
          </a:prstGeom>
          <a:solidFill>
            <a:srgbClr val="E860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5" name="Shape 7"/>
          <p:cNvSpPr/>
          <p:nvPr/>
        </p:nvSpPr>
        <p:spPr>
          <a:xfrm>
            <a:off x="10698480" y="1417320"/>
            <a:ext cx="255600" cy="255600"/>
          </a:xfrm>
          <a:prstGeom prst="ellipse">
            <a:avLst/>
          </a:prstGeom>
          <a:solidFill>
            <a:srgbClr val="DE8E2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16" name="Shape 8"/>
          <p:cNvSpPr/>
          <p:nvPr/>
        </p:nvSpPr>
        <p:spPr>
          <a:xfrm>
            <a:off x="11475720" y="1051560"/>
            <a:ext cx="255600" cy="255600"/>
          </a:xfrm>
          <a:prstGeom prst="ellipse">
            <a:avLst/>
          </a:prstGeom>
          <a:solidFill>
            <a:srgbClr val="C9A8D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17" name="Shape 9"/>
          <p:cNvSpPr/>
          <p:nvPr/>
        </p:nvSpPr>
        <p:spPr>
          <a:xfrm>
            <a:off x="10378440" y="2057400"/>
            <a:ext cx="255600" cy="255600"/>
          </a:xfrm>
          <a:prstGeom prst="ellipse">
            <a:avLst/>
          </a:prstGeom>
          <a:solidFill>
            <a:srgbClr val="E860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8" name="Shape 10"/>
          <p:cNvSpPr/>
          <p:nvPr/>
        </p:nvSpPr>
        <p:spPr>
          <a:xfrm>
            <a:off x="11155680" y="2148840"/>
            <a:ext cx="255600" cy="255600"/>
          </a:xfrm>
          <a:prstGeom prst="ellipse">
            <a:avLst/>
          </a:prstGeom>
          <a:solidFill>
            <a:srgbClr val="DE8E2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19" name="Shape 11"/>
          <p:cNvSpPr/>
          <p:nvPr/>
        </p:nvSpPr>
        <p:spPr>
          <a:xfrm>
            <a:off x="11795760" y="1783080"/>
            <a:ext cx="255600" cy="255600"/>
          </a:xfrm>
          <a:prstGeom prst="ellipse">
            <a:avLst/>
          </a:prstGeom>
          <a:solidFill>
            <a:srgbClr val="C9A8D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20" name="Text 12"/>
          <p:cNvSpPr/>
          <p:nvPr/>
        </p:nvSpPr>
        <p:spPr>
          <a:xfrm>
            <a:off x="567000" y="1371600"/>
            <a:ext cx="91436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spc="300">
                <a:solidFill>
                  <a:srgbClr val="C9A8DC"/>
                </a:solidFill>
                <a:effectLst/>
                <a:uFillTx/>
                <a:latin typeface="Calibri"/>
                <a:ea typeface="Calibri"/>
              </a:rPr>
              <a:t>ECCB 2026  ·  TUTORIAL 12  ·  SESSION 5</a:t>
            </a:r>
            <a:endParaRPr lang="de-DE" sz="1400" b="0" u="none" strike="noStrike">
              <a:solidFill>
                <a:srgbClr val="FFFFFF"/>
              </a:solidFill>
              <a:effectLst/>
              <a:uFillTx/>
              <a:latin typeface="Arial"/>
            </a:endParaRPr>
          </a:p>
        </p:txBody>
      </p:sp>
      <p:sp>
        <p:nvSpPr>
          <p:cNvPr id="21" name="Text 13"/>
          <p:cNvSpPr/>
          <p:nvPr/>
        </p:nvSpPr>
        <p:spPr>
          <a:xfrm>
            <a:off x="567000" y="1828800"/>
            <a:ext cx="10606680" cy="191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8000"/>
              </a:lnSpc>
              <a:tabLst>
                <a:tab pos="0" algn="l"/>
              </a:tabLst>
            </a:pPr>
            <a:r>
              <a:rPr lang="en-US" sz="4800" b="1" u="none" strike="noStrike">
                <a:solidFill>
                  <a:srgbClr val="FFFFFF"/>
                </a:solidFill>
                <a:effectLst/>
                <a:uFillTx/>
                <a:latin typeface="Cambria"/>
                <a:ea typeface="Cambria"/>
              </a:rPr>
              <a:t>Presenting &amp; Disseminating</a:t>
            </a:r>
            <a:endParaRPr lang="de-DE" sz="4800" b="0" u="none" strike="noStrike">
              <a:solidFill>
                <a:srgbClr val="FFFFFF"/>
              </a:solidFill>
              <a:effectLst/>
              <a:uFillTx/>
              <a:latin typeface="Arial"/>
            </a:endParaRPr>
          </a:p>
          <a:p>
            <a:pPr defTabSz="914400">
              <a:lnSpc>
                <a:spcPct val="98000"/>
              </a:lnSpc>
              <a:tabLst>
                <a:tab pos="0" algn="l"/>
              </a:tabLst>
            </a:pPr>
            <a:r>
              <a:rPr lang="en-US" sz="4800" b="1" u="none" strike="noStrike">
                <a:solidFill>
                  <a:srgbClr val="FFFFFF"/>
                </a:solidFill>
                <a:effectLst/>
                <a:uFillTx/>
                <a:latin typeface="Cambria"/>
                <a:ea typeface="Cambria"/>
              </a:rPr>
              <a:t>Plant Pangenomes</a:t>
            </a:r>
            <a:endParaRPr lang="de-DE" sz="4800" b="0" u="none" strike="noStrike">
              <a:solidFill>
                <a:srgbClr val="FFFFFF"/>
              </a:solidFill>
              <a:effectLst/>
              <a:uFillTx/>
              <a:latin typeface="Arial"/>
            </a:endParaRPr>
          </a:p>
        </p:txBody>
      </p:sp>
      <p:sp>
        <p:nvSpPr>
          <p:cNvPr id="22" name="Shape 14"/>
          <p:cNvSpPr/>
          <p:nvPr/>
        </p:nvSpPr>
        <p:spPr>
          <a:xfrm>
            <a:off x="585000" y="3931920"/>
            <a:ext cx="2743200" cy="360"/>
          </a:xfrm>
          <a:prstGeom prst="line">
            <a:avLst/>
          </a:prstGeom>
          <a:ln w="31750">
            <a:solidFill>
              <a:srgbClr val="E8606B"/>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de-DE" sz="1800" b="0" u="none" strike="noStrike">
              <a:solidFill>
                <a:srgbClr val="FFFFFF"/>
              </a:solidFill>
              <a:effectLst/>
              <a:uFillTx/>
              <a:latin typeface="Arial"/>
            </a:endParaRPr>
          </a:p>
        </p:txBody>
      </p:sp>
      <p:sp>
        <p:nvSpPr>
          <p:cNvPr id="23" name="Text 15"/>
          <p:cNvSpPr/>
          <p:nvPr/>
        </p:nvSpPr>
        <p:spPr>
          <a:xfrm>
            <a:off x="567000" y="4114800"/>
            <a:ext cx="104238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0" i="1" u="none" strike="noStrike">
                <a:solidFill>
                  <a:srgbClr val="E7DCEF"/>
                </a:solidFill>
                <a:effectLst/>
                <a:uFillTx/>
                <a:latin typeface="Calibri"/>
                <a:ea typeface="Calibri"/>
              </a:rPr>
              <a:t>The last mile: making a pangenome findable, viewable and reusable</a:t>
            </a:r>
            <a:endParaRPr lang="de-DE" sz="1700" b="0" u="none" strike="noStrike">
              <a:solidFill>
                <a:srgbClr val="FFFFFF"/>
              </a:solidFill>
              <a:effectLst/>
              <a:uFillTx/>
              <a:latin typeface="Arial"/>
            </a:endParaRPr>
          </a:p>
        </p:txBody>
      </p:sp>
      <p:sp>
        <p:nvSpPr>
          <p:cNvPr id="24" name="Text 16"/>
          <p:cNvSpPr/>
          <p:nvPr/>
        </p:nvSpPr>
        <p:spPr>
          <a:xfrm>
            <a:off x="567000" y="5166360"/>
            <a:ext cx="822924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FFFFFF"/>
                </a:solidFill>
                <a:effectLst/>
                <a:uFillTx/>
                <a:latin typeface="Calibri"/>
                <a:ea typeface="Calibri"/>
              </a:rPr>
              <a:t>Dr. Sebastian Beier</a:t>
            </a:r>
            <a:endParaRPr lang="de-DE" sz="1500" b="0" u="none" strike="noStrike">
              <a:solidFill>
                <a:srgbClr val="FFFFFF"/>
              </a:solidFill>
              <a:effectLst/>
              <a:uFillTx/>
              <a:latin typeface="Arial"/>
            </a:endParaRPr>
          </a:p>
          <a:p>
            <a:pPr defTabSz="914400">
              <a:lnSpc>
                <a:spcPct val="100000"/>
              </a:lnSpc>
              <a:tabLst>
                <a:tab pos="0" algn="l"/>
              </a:tabLst>
            </a:pPr>
            <a:r>
              <a:rPr lang="en-US" sz="1250" b="0" u="none" strike="noStrike">
                <a:solidFill>
                  <a:srgbClr val="BFA8CC"/>
                </a:solidFill>
                <a:effectLst/>
                <a:uFillTx/>
                <a:latin typeface="Calibri"/>
                <a:ea typeface="Calibri"/>
              </a:rPr>
              <a:t>Forschungszentrum Jülich · IBG-4 (Bioinformatics)</a:t>
            </a:r>
            <a:endParaRPr lang="de-DE" sz="1250" b="0" u="none" strike="noStrike">
              <a:solidFill>
                <a:srgbClr val="FFFFFF"/>
              </a:solidFill>
              <a:effectLst/>
              <a:uFillTx/>
              <a:latin typeface="Arial"/>
            </a:endParaRPr>
          </a:p>
        </p:txBody>
      </p:sp>
      <p:sp>
        <p:nvSpPr>
          <p:cNvPr id="25" name="Text 17"/>
          <p:cNvSpPr/>
          <p:nvPr/>
        </p:nvSpPr>
        <p:spPr>
          <a:xfrm>
            <a:off x="567000" y="6400800"/>
            <a:ext cx="110574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0" i="1" u="none" strike="noStrike">
                <a:solidFill>
                  <a:srgbClr val="9A85A8"/>
                </a:solidFill>
                <a:effectLst/>
                <a:uFillTx/>
                <a:latin typeface="Calibri"/>
                <a:ea typeface="Calibri"/>
              </a:rPr>
              <a:t>Building on the ELIXIR E-PAN white paper for plant pan-genome standards</a:t>
            </a:r>
            <a:endParaRPr lang="de-DE" sz="1050" b="0" u="none" strike="noStrike">
              <a:solidFill>
                <a:srgbClr val="FFFFFF"/>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Shape 0"/>
          <p:cNvSpPr/>
          <p:nvPr/>
        </p:nvSpPr>
        <p:spPr>
          <a:xfrm>
            <a:off x="567000" y="457200"/>
            <a:ext cx="155160" cy="155160"/>
          </a:xfrm>
          <a:prstGeom prst="ellipse">
            <a:avLst/>
          </a:prstGeom>
          <a:solidFill>
            <a:srgbClr val="E860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27" name="Text 1"/>
          <p:cNvSpPr/>
          <p:nvPr/>
        </p:nvSpPr>
        <p:spPr>
          <a:xfrm>
            <a:off x="822960" y="384120"/>
            <a:ext cx="10801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201">
                <a:solidFill>
                  <a:srgbClr val="5E2A75"/>
                </a:solidFill>
                <a:effectLst/>
                <a:uFillTx/>
                <a:latin typeface="Calibri"/>
                <a:ea typeface="Calibri"/>
              </a:rPr>
              <a:t>FROM BUILDING TO SHARING</a:t>
            </a:r>
            <a:endParaRPr lang="de-DE" sz="1200" b="0" u="none" strike="noStrike">
              <a:solidFill>
                <a:srgbClr val="000000"/>
              </a:solidFill>
              <a:effectLst/>
              <a:uFillTx/>
              <a:latin typeface="Arial"/>
            </a:endParaRPr>
          </a:p>
        </p:txBody>
      </p:sp>
      <p:sp>
        <p:nvSpPr>
          <p:cNvPr id="28" name="Text 2"/>
          <p:cNvSpPr/>
          <p:nvPr/>
        </p:nvSpPr>
        <p:spPr>
          <a:xfrm>
            <a:off x="567000" y="676800"/>
            <a:ext cx="110574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2B2331"/>
                </a:solidFill>
                <a:effectLst/>
                <a:uFillTx/>
                <a:latin typeface="Cambria"/>
                <a:ea typeface="Cambria"/>
              </a:rPr>
              <a:t>A pangenome on your disk helps no one</a:t>
            </a:r>
            <a:endParaRPr lang="de-DE" sz="2900" b="0" u="none" strike="noStrike">
              <a:solidFill>
                <a:srgbClr val="000000"/>
              </a:solidFill>
              <a:effectLst/>
              <a:uFillTx/>
              <a:latin typeface="Arial"/>
            </a:endParaRPr>
          </a:p>
        </p:txBody>
      </p:sp>
      <p:sp>
        <p:nvSpPr>
          <p:cNvPr id="29" name="Shape 3"/>
          <p:cNvSpPr/>
          <p:nvPr/>
        </p:nvSpPr>
        <p:spPr>
          <a:xfrm>
            <a:off x="567000" y="1645920"/>
            <a:ext cx="5345640" cy="4023000"/>
          </a:xfrm>
          <a:prstGeom prst="roundRect">
            <a:avLst>
              <a:gd name="adj" fmla="val 1591"/>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30" name="Text 4"/>
          <p:cNvSpPr/>
          <p:nvPr/>
        </p:nvSpPr>
        <p:spPr>
          <a:xfrm>
            <a:off x="749880" y="1764720"/>
            <a:ext cx="49798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u="none" strike="noStrike">
                <a:solidFill>
                  <a:srgbClr val="E8606B"/>
                </a:solidFill>
                <a:effectLst/>
                <a:uFillTx/>
                <a:latin typeface="Calibri"/>
                <a:ea typeface="Calibri"/>
              </a:rPr>
              <a:t>The dissemination gap</a:t>
            </a:r>
            <a:endParaRPr lang="de-DE" sz="1350" b="0" u="none" strike="noStrike">
              <a:solidFill>
                <a:srgbClr val="000000"/>
              </a:solidFill>
              <a:effectLst/>
              <a:uFillTx/>
              <a:latin typeface="Arial"/>
            </a:endParaRPr>
          </a:p>
        </p:txBody>
      </p:sp>
      <p:sp>
        <p:nvSpPr>
          <p:cNvPr id="31" name="Text 5"/>
          <p:cNvSpPr/>
          <p:nvPr/>
        </p:nvSpPr>
        <p:spPr>
          <a:xfrm>
            <a:off x="768240" y="2212920"/>
            <a:ext cx="4943520" cy="3291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1301"/>
              </a:spcAft>
              <a:buClr>
                <a:srgbClr val="2B2331"/>
              </a:buClr>
              <a:buFont typeface="Symbol" charset="2"/>
              <a:buChar char=""/>
            </a:pPr>
            <a:r>
              <a:rPr lang="en-US" sz="1350" b="0" u="none" strike="noStrike">
                <a:solidFill>
                  <a:srgbClr val="2B2331"/>
                </a:solidFill>
                <a:effectLst/>
                <a:uFillTx/>
                <a:latin typeface="Calibri"/>
                <a:ea typeface="Calibri"/>
              </a:rPr>
              <a:t>A finished graph is only useful once others can access it</a:t>
            </a:r>
            <a:endParaRPr lang="de-DE" sz="1350" b="0" u="none" strike="noStrike">
              <a:solidFill>
                <a:srgbClr val="000000"/>
              </a:solidFill>
              <a:effectLst/>
              <a:uFillTx/>
              <a:latin typeface="Arial"/>
            </a:endParaRPr>
          </a:p>
          <a:p>
            <a:pPr marL="177840" indent="-177840" defTabSz="914400">
              <a:lnSpc>
                <a:spcPct val="100000"/>
              </a:lnSpc>
              <a:spcAft>
                <a:spcPts val="1301"/>
              </a:spcAft>
              <a:buClr>
                <a:srgbClr val="2B2331"/>
              </a:buClr>
              <a:buFont typeface="Symbol" charset="2"/>
              <a:buChar char=""/>
            </a:pPr>
            <a:r>
              <a:rPr lang="en-US" sz="1350" b="0" u="none" strike="noStrike">
                <a:solidFill>
                  <a:srgbClr val="2B2331"/>
                </a:solidFill>
                <a:effectLst/>
                <a:uFillTx/>
                <a:latin typeface="Calibri"/>
                <a:ea typeface="Calibri"/>
              </a:rPr>
              <a:t>It must be FINDABLE (indexed, identified), VIEWABLE (a usable interface) and REUSABLE (standard formats + metadata)</a:t>
            </a:r>
            <a:endParaRPr lang="de-DE" sz="1350" b="0" u="none" strike="noStrike">
              <a:solidFill>
                <a:srgbClr val="000000"/>
              </a:solidFill>
              <a:effectLst/>
              <a:uFillTx/>
              <a:latin typeface="Arial"/>
            </a:endParaRPr>
          </a:p>
          <a:p>
            <a:pPr marL="177840" indent="-177840" defTabSz="914400">
              <a:lnSpc>
                <a:spcPct val="100000"/>
              </a:lnSpc>
              <a:spcAft>
                <a:spcPts val="1301"/>
              </a:spcAft>
              <a:buClr>
                <a:srgbClr val="2B2331"/>
              </a:buClr>
              <a:buFont typeface="Symbol" charset="2"/>
              <a:buChar char=""/>
            </a:pPr>
            <a:r>
              <a:rPr lang="en-US" sz="1350" b="0" u="none" strike="noStrike">
                <a:solidFill>
                  <a:srgbClr val="2B2331"/>
                </a:solidFill>
                <a:effectLst/>
                <a:uFillTx/>
                <a:latin typeface="Calibri"/>
                <a:ea typeface="Calibri"/>
              </a:rPr>
              <a:t>Pangenomes are bigger and stranger than a single FASTA — sharing them needs its own conventions</a:t>
            </a:r>
            <a:endParaRPr lang="de-DE" sz="1350" b="0" u="none" strike="noStrike">
              <a:solidFill>
                <a:srgbClr val="000000"/>
              </a:solidFill>
              <a:effectLst/>
              <a:uFillTx/>
              <a:latin typeface="Arial"/>
            </a:endParaRPr>
          </a:p>
          <a:p>
            <a:pPr marL="177840" indent="-177840" defTabSz="914400">
              <a:lnSpc>
                <a:spcPct val="100000"/>
              </a:lnSpc>
              <a:spcAft>
                <a:spcPts val="1301"/>
              </a:spcAft>
              <a:buClr>
                <a:srgbClr val="2B2331"/>
              </a:buClr>
              <a:buFont typeface="Symbol" charset="2"/>
              <a:buChar char=""/>
            </a:pPr>
            <a:r>
              <a:rPr lang="en-US" sz="1350" b="0" u="none" strike="noStrike">
                <a:solidFill>
                  <a:srgbClr val="2B2331"/>
                </a:solidFill>
                <a:effectLst/>
                <a:uFillTx/>
                <a:latin typeface="Calibri"/>
                <a:ea typeface="Calibri"/>
              </a:rPr>
              <a:t>Without shared standards, every group reinvents formats, names and viewers — and nothing interoperates</a:t>
            </a:r>
            <a:endParaRPr lang="de-DE" sz="1350" b="0" u="none" strike="noStrike">
              <a:solidFill>
                <a:srgbClr val="000000"/>
              </a:solidFill>
              <a:effectLst/>
              <a:uFillTx/>
              <a:latin typeface="Arial"/>
            </a:endParaRPr>
          </a:p>
        </p:txBody>
      </p:sp>
      <p:sp>
        <p:nvSpPr>
          <p:cNvPr id="32" name="Shape 6"/>
          <p:cNvSpPr/>
          <p:nvPr/>
        </p:nvSpPr>
        <p:spPr>
          <a:xfrm>
            <a:off x="6278760" y="1645920"/>
            <a:ext cx="5345640" cy="4023000"/>
          </a:xfrm>
          <a:prstGeom prst="roundRect">
            <a:avLst>
              <a:gd name="adj" fmla="val 1591"/>
            </a:avLst>
          </a:prstGeom>
          <a:solidFill>
            <a:srgbClr val="F2ECEF"/>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33" name="Text 7"/>
          <p:cNvSpPr/>
          <p:nvPr/>
        </p:nvSpPr>
        <p:spPr>
          <a:xfrm>
            <a:off x="6461640" y="1764720"/>
            <a:ext cx="49798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u="none" strike="noStrike">
                <a:solidFill>
                  <a:srgbClr val="5E2A75"/>
                </a:solidFill>
                <a:effectLst/>
                <a:uFillTx/>
                <a:latin typeface="Calibri"/>
                <a:ea typeface="Calibri"/>
              </a:rPr>
              <a:t>Our guide: the ELIXIR E-PAN white paper</a:t>
            </a:r>
            <a:endParaRPr lang="de-DE" sz="1350" b="0" u="none" strike="noStrike">
              <a:solidFill>
                <a:srgbClr val="000000"/>
              </a:solidFill>
              <a:effectLst/>
              <a:uFillTx/>
              <a:latin typeface="Arial"/>
            </a:endParaRPr>
          </a:p>
        </p:txBody>
      </p:sp>
      <p:sp>
        <p:nvSpPr>
          <p:cNvPr id="34" name="Text 8"/>
          <p:cNvSpPr/>
          <p:nvPr/>
        </p:nvSpPr>
        <p:spPr>
          <a:xfrm>
            <a:off x="6480000" y="2212920"/>
            <a:ext cx="4943520" cy="3291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1100"/>
              </a:spcAft>
              <a:buClr>
                <a:srgbClr val="2B2331"/>
              </a:buClr>
              <a:buFont typeface="Symbol" charset="2"/>
              <a:buChar char=""/>
            </a:pPr>
            <a:r>
              <a:rPr lang="en-US" sz="1300" b="1" u="none" strike="noStrike">
                <a:solidFill>
                  <a:srgbClr val="2B2331"/>
                </a:solidFill>
                <a:effectLst/>
                <a:uFillTx/>
                <a:latin typeface="Calibri"/>
                <a:ea typeface="Calibri"/>
              </a:rPr>
              <a:t>ELIXIR E-PAN = a community initiative for plant pan-genome standards</a:t>
            </a:r>
            <a:endParaRPr lang="de-DE" sz="1300" b="0" u="none" strike="noStrike">
              <a:solidFill>
                <a:srgbClr val="000000"/>
              </a:solidFill>
              <a:effectLst/>
              <a:uFillTx/>
              <a:latin typeface="Arial"/>
            </a:endParaRPr>
          </a:p>
          <a:p>
            <a:pPr marL="177840" indent="-177840" defTabSz="914400">
              <a:lnSpc>
                <a:spcPct val="100000"/>
              </a:lnSpc>
              <a:spcAft>
                <a:spcPts val="1100"/>
              </a:spcAft>
              <a:buClr>
                <a:srgbClr val="2B2331"/>
              </a:buClr>
              <a:buFont typeface="Symbol" charset="2"/>
              <a:buChar char=""/>
            </a:pPr>
            <a:r>
              <a:rPr lang="en-US" sz="1300" b="0" u="none" strike="noStrike">
                <a:solidFill>
                  <a:srgbClr val="2B2331"/>
                </a:solidFill>
                <a:effectLst/>
                <a:uFillTx/>
                <a:latin typeface="Calibri"/>
                <a:ea typeface="Calibri"/>
              </a:rPr>
              <a:t>Synthesises lessons from barley, rice, tomato &amp; Arabidopsis into actionable standards</a:t>
            </a:r>
            <a:endParaRPr lang="de-DE" sz="1300" b="0" u="none" strike="noStrike">
              <a:solidFill>
                <a:srgbClr val="000000"/>
              </a:solidFill>
              <a:effectLst/>
              <a:uFillTx/>
              <a:latin typeface="Arial"/>
            </a:endParaRPr>
          </a:p>
          <a:p>
            <a:pPr marL="177840" indent="-177840" defTabSz="914400">
              <a:lnSpc>
                <a:spcPct val="100000"/>
              </a:lnSpc>
              <a:spcAft>
                <a:spcPts val="1100"/>
              </a:spcAft>
              <a:buClr>
                <a:srgbClr val="2B2331"/>
              </a:buClr>
              <a:buFont typeface="Symbol" charset="2"/>
              <a:buChar char=""/>
            </a:pPr>
            <a:r>
              <a:rPr lang="en-US" sz="1300" b="0" u="none" strike="noStrike">
                <a:solidFill>
                  <a:srgbClr val="2B2331"/>
                </a:solidFill>
                <a:effectLst/>
                <a:uFillTx/>
                <a:latin typeface="Calibri"/>
                <a:ea typeface="Calibri"/>
              </a:rPr>
              <a:t>Goal: unify the community and make resources FAIR — Findable, Accessible, Interoperable, Reusable</a:t>
            </a:r>
            <a:endParaRPr lang="de-DE" sz="1300" b="0" u="none" strike="noStrike">
              <a:solidFill>
                <a:srgbClr val="000000"/>
              </a:solidFill>
              <a:effectLst/>
              <a:uFillTx/>
              <a:latin typeface="Arial"/>
            </a:endParaRPr>
          </a:p>
          <a:p>
            <a:pPr marL="177840" indent="-177840" defTabSz="914400">
              <a:lnSpc>
                <a:spcPct val="100000"/>
              </a:lnSpc>
              <a:spcAft>
                <a:spcPts val="1100"/>
              </a:spcAft>
              <a:buClr>
                <a:srgbClr val="2B2331"/>
              </a:buClr>
              <a:buFont typeface="Symbol" charset="2"/>
              <a:buChar char=""/>
            </a:pPr>
            <a:r>
              <a:rPr lang="en-US" sz="1300" b="0" u="none" strike="noStrike">
                <a:solidFill>
                  <a:srgbClr val="2B2331"/>
                </a:solidFill>
                <a:effectLst/>
                <a:uFillTx/>
                <a:latin typeface="Calibri"/>
                <a:ea typeface="Calibri"/>
              </a:rPr>
              <a:t>Covers naming, QC, data sharing, visualization &amp; integration — the spine of this talk</a:t>
            </a:r>
            <a:endParaRPr lang="de-DE" sz="1300" b="0" u="none" strike="noStrike">
              <a:solidFill>
                <a:srgbClr val="000000"/>
              </a:solidFill>
              <a:effectLst/>
              <a:uFillTx/>
              <a:latin typeface="Arial"/>
            </a:endParaRPr>
          </a:p>
        </p:txBody>
      </p:sp>
      <p:sp>
        <p:nvSpPr>
          <p:cNvPr id="35" name="Text 9"/>
          <p:cNvSpPr/>
          <p:nvPr/>
        </p:nvSpPr>
        <p:spPr>
          <a:xfrm>
            <a:off x="567000" y="6455520"/>
            <a:ext cx="110574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50" b="0" i="1" u="none" strike="noStrike">
                <a:solidFill>
                  <a:srgbClr val="726A7A"/>
                </a:solidFill>
                <a:effectLst/>
                <a:uFillTx/>
                <a:latin typeface="Calibri"/>
                <a:ea typeface="Calibri"/>
              </a:rPr>
              <a:t>Heuermann, Barros, Beier et al. (2026). White paper: standards for handling and analyzing plant pan-genomes. F1000Research 14:739 (CC-BY).</a:t>
            </a:r>
            <a:endParaRPr lang="de-DE" sz="950" b="0" u="none" strike="noStrike">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 name="Shape 0"/>
          <p:cNvSpPr/>
          <p:nvPr/>
        </p:nvSpPr>
        <p:spPr>
          <a:xfrm>
            <a:off x="567000" y="457200"/>
            <a:ext cx="155160" cy="155160"/>
          </a:xfrm>
          <a:prstGeom prst="ellipse">
            <a:avLst/>
          </a:prstGeom>
          <a:solidFill>
            <a:srgbClr val="E860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37" name="Text 1"/>
          <p:cNvSpPr/>
          <p:nvPr/>
        </p:nvSpPr>
        <p:spPr>
          <a:xfrm>
            <a:off x="822960" y="384120"/>
            <a:ext cx="10801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201">
                <a:solidFill>
                  <a:srgbClr val="5E2A75"/>
                </a:solidFill>
                <a:effectLst/>
                <a:uFillTx/>
                <a:latin typeface="Calibri"/>
                <a:ea typeface="Calibri"/>
              </a:rPr>
              <a:t>ROADMAP</a:t>
            </a:r>
            <a:endParaRPr lang="de-DE" sz="1200" b="0" u="none" strike="noStrike">
              <a:solidFill>
                <a:srgbClr val="000000"/>
              </a:solidFill>
              <a:effectLst/>
              <a:uFillTx/>
              <a:latin typeface="Arial"/>
            </a:endParaRPr>
          </a:p>
        </p:txBody>
      </p:sp>
      <p:sp>
        <p:nvSpPr>
          <p:cNvPr id="38" name="Text 2"/>
          <p:cNvSpPr/>
          <p:nvPr/>
        </p:nvSpPr>
        <p:spPr>
          <a:xfrm>
            <a:off x="567000" y="676800"/>
            <a:ext cx="110574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2B2331"/>
                </a:solidFill>
                <a:effectLst/>
                <a:uFillTx/>
                <a:latin typeface="Cambria"/>
                <a:ea typeface="Cambria"/>
              </a:rPr>
              <a:t>Three jobs of dissemination</a:t>
            </a:r>
            <a:endParaRPr lang="de-DE" sz="2900" b="0" u="none" strike="noStrike">
              <a:solidFill>
                <a:srgbClr val="000000"/>
              </a:solidFill>
              <a:effectLst/>
              <a:uFillTx/>
              <a:latin typeface="Arial"/>
            </a:endParaRPr>
          </a:p>
        </p:txBody>
      </p:sp>
      <p:sp>
        <p:nvSpPr>
          <p:cNvPr id="39" name="Shape 3"/>
          <p:cNvSpPr/>
          <p:nvPr/>
        </p:nvSpPr>
        <p:spPr>
          <a:xfrm>
            <a:off x="567000" y="1920240"/>
            <a:ext cx="3441600" cy="2468520"/>
          </a:xfrm>
          <a:prstGeom prst="roundRect">
            <a:avLst>
              <a:gd name="adj" fmla="val 2593"/>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40" name="Shape 4"/>
          <p:cNvSpPr/>
          <p:nvPr/>
        </p:nvSpPr>
        <p:spPr>
          <a:xfrm>
            <a:off x="1968120" y="2194560"/>
            <a:ext cx="639720" cy="639720"/>
          </a:xfrm>
          <a:prstGeom prst="ellipse">
            <a:avLst/>
          </a:prstGeom>
          <a:solidFill>
            <a:srgbClr val="2147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41" name="Text 5"/>
          <p:cNvSpPr/>
          <p:nvPr/>
        </p:nvSpPr>
        <p:spPr>
          <a:xfrm>
            <a:off x="1968120" y="2194560"/>
            <a:ext cx="63972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600" b="1" u="none" strike="noStrike">
                <a:solidFill>
                  <a:srgbClr val="FFFFFF"/>
                </a:solidFill>
                <a:effectLst/>
                <a:uFillTx/>
                <a:latin typeface="Cambria"/>
                <a:ea typeface="Cambria"/>
              </a:rPr>
              <a:t>1</a:t>
            </a:r>
            <a:endParaRPr lang="de-DE" sz="2600" b="0" u="none" strike="noStrike">
              <a:solidFill>
                <a:srgbClr val="000000"/>
              </a:solidFill>
              <a:effectLst/>
              <a:uFillTx/>
              <a:latin typeface="Arial"/>
            </a:endParaRPr>
          </a:p>
        </p:txBody>
      </p:sp>
      <p:sp>
        <p:nvSpPr>
          <p:cNvPr id="42" name="Text 6"/>
          <p:cNvSpPr/>
          <p:nvPr/>
        </p:nvSpPr>
        <p:spPr>
          <a:xfrm>
            <a:off x="749880" y="2971800"/>
            <a:ext cx="30758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rgbClr val="21476B"/>
                </a:solidFill>
                <a:effectLst/>
                <a:uFillTx/>
                <a:latin typeface="Cambria"/>
                <a:ea typeface="Cambria"/>
              </a:rPr>
              <a:t>Visualize</a:t>
            </a:r>
            <a:endParaRPr lang="de-DE" sz="2000" b="0" u="none" strike="noStrike">
              <a:solidFill>
                <a:srgbClr val="000000"/>
              </a:solidFill>
              <a:effectLst/>
              <a:uFillTx/>
              <a:latin typeface="Arial"/>
            </a:endParaRPr>
          </a:p>
        </p:txBody>
      </p:sp>
      <p:sp>
        <p:nvSpPr>
          <p:cNvPr id="43" name="Text 7"/>
          <p:cNvSpPr/>
          <p:nvPr/>
        </p:nvSpPr>
        <p:spPr>
          <a:xfrm>
            <a:off x="795600" y="3383280"/>
            <a:ext cx="298440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50" b="0" u="none" strike="noStrike">
                <a:solidFill>
                  <a:srgbClr val="2B2331"/>
                </a:solidFill>
                <a:effectLst/>
                <a:uFillTx/>
                <a:latin typeface="Calibri"/>
                <a:ea typeface="Calibri"/>
              </a:rPr>
              <a:t>make the graph &amp; its variation human-readable</a:t>
            </a:r>
            <a:endParaRPr lang="de-DE" sz="1250" b="0" u="none" strike="noStrike">
              <a:solidFill>
                <a:srgbClr val="000000"/>
              </a:solidFill>
              <a:effectLst/>
              <a:uFillTx/>
              <a:latin typeface="Arial"/>
            </a:endParaRPr>
          </a:p>
        </p:txBody>
      </p:sp>
      <p:sp>
        <p:nvSpPr>
          <p:cNvPr id="44" name="Text 8"/>
          <p:cNvSpPr/>
          <p:nvPr/>
        </p:nvSpPr>
        <p:spPr>
          <a:xfrm>
            <a:off x="795600" y="4005000"/>
            <a:ext cx="29844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0" i="1" u="none" strike="noStrike">
                <a:solidFill>
                  <a:srgbClr val="726A7A"/>
                </a:solidFill>
                <a:effectLst/>
                <a:uFillTx/>
                <a:latin typeface="Calibri"/>
                <a:ea typeface="Calibri"/>
              </a:rPr>
              <a:t>viewers · idioms · figure craft</a:t>
            </a:r>
            <a:endParaRPr lang="de-DE" sz="1100" b="0" u="none" strike="noStrike">
              <a:solidFill>
                <a:srgbClr val="000000"/>
              </a:solidFill>
              <a:effectLst/>
              <a:uFillTx/>
              <a:latin typeface="Arial"/>
            </a:endParaRPr>
          </a:p>
        </p:txBody>
      </p:sp>
      <p:sp>
        <p:nvSpPr>
          <p:cNvPr id="45" name="Shape 9"/>
          <p:cNvSpPr/>
          <p:nvPr/>
        </p:nvSpPr>
        <p:spPr>
          <a:xfrm>
            <a:off x="4045680" y="3008520"/>
            <a:ext cx="273960" cy="292320"/>
          </a:xfrm>
          <a:prstGeom prst="rtTriangle">
            <a:avLst/>
          </a:prstGeom>
          <a:solidFill>
            <a:srgbClr val="DE8E2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46" name="Shape 10"/>
          <p:cNvSpPr/>
          <p:nvPr/>
        </p:nvSpPr>
        <p:spPr>
          <a:xfrm>
            <a:off x="4374720" y="1920240"/>
            <a:ext cx="3441600" cy="2468520"/>
          </a:xfrm>
          <a:prstGeom prst="roundRect">
            <a:avLst>
              <a:gd name="adj" fmla="val 2593"/>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47" name="Shape 11"/>
          <p:cNvSpPr/>
          <p:nvPr/>
        </p:nvSpPr>
        <p:spPr>
          <a:xfrm>
            <a:off x="5775840" y="2194560"/>
            <a:ext cx="639720" cy="639720"/>
          </a:xfrm>
          <a:prstGeom prst="ellipse">
            <a:avLst/>
          </a:prstGeom>
          <a:solidFill>
            <a:srgbClr val="5E2A75"/>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48" name="Text 12"/>
          <p:cNvSpPr/>
          <p:nvPr/>
        </p:nvSpPr>
        <p:spPr>
          <a:xfrm>
            <a:off x="5775840" y="2194560"/>
            <a:ext cx="63972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600" b="1" u="none" strike="noStrike">
                <a:solidFill>
                  <a:srgbClr val="FFFFFF"/>
                </a:solidFill>
                <a:effectLst/>
                <a:uFillTx/>
                <a:latin typeface="Cambria"/>
                <a:ea typeface="Cambria"/>
              </a:rPr>
              <a:t>2</a:t>
            </a:r>
            <a:endParaRPr lang="de-DE" sz="2600" b="0" u="none" strike="noStrike">
              <a:solidFill>
                <a:srgbClr val="000000"/>
              </a:solidFill>
              <a:effectLst/>
              <a:uFillTx/>
              <a:latin typeface="Arial"/>
            </a:endParaRPr>
          </a:p>
        </p:txBody>
      </p:sp>
      <p:sp>
        <p:nvSpPr>
          <p:cNvPr id="49" name="Text 13"/>
          <p:cNvSpPr/>
          <p:nvPr/>
        </p:nvSpPr>
        <p:spPr>
          <a:xfrm>
            <a:off x="4557600" y="2971800"/>
            <a:ext cx="30758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rgbClr val="5E2A75"/>
                </a:solidFill>
                <a:effectLst/>
                <a:uFillTx/>
                <a:latin typeface="Cambria"/>
                <a:ea typeface="Cambria"/>
              </a:rPr>
              <a:t>Share</a:t>
            </a:r>
            <a:endParaRPr lang="de-DE" sz="2000" b="0" u="none" strike="noStrike">
              <a:solidFill>
                <a:srgbClr val="000000"/>
              </a:solidFill>
              <a:effectLst/>
              <a:uFillTx/>
              <a:latin typeface="Arial"/>
            </a:endParaRPr>
          </a:p>
        </p:txBody>
      </p:sp>
      <p:sp>
        <p:nvSpPr>
          <p:cNvPr id="50" name="Text 14"/>
          <p:cNvSpPr/>
          <p:nvPr/>
        </p:nvSpPr>
        <p:spPr>
          <a:xfrm>
            <a:off x="4603320" y="3383280"/>
            <a:ext cx="298440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50" b="0" u="none" strike="noStrike">
                <a:solidFill>
                  <a:srgbClr val="2B2331"/>
                </a:solidFill>
                <a:effectLst/>
                <a:uFillTx/>
                <a:latin typeface="Calibri"/>
                <a:ea typeface="Calibri"/>
              </a:rPr>
              <a:t>release standard files with rich metadata, FAIR</a:t>
            </a:r>
            <a:endParaRPr lang="de-DE" sz="1250" b="0" u="none" strike="noStrike">
              <a:solidFill>
                <a:srgbClr val="000000"/>
              </a:solidFill>
              <a:effectLst/>
              <a:uFillTx/>
              <a:latin typeface="Arial"/>
            </a:endParaRPr>
          </a:p>
        </p:txBody>
      </p:sp>
      <p:sp>
        <p:nvSpPr>
          <p:cNvPr id="51" name="Text 15"/>
          <p:cNvSpPr/>
          <p:nvPr/>
        </p:nvSpPr>
        <p:spPr>
          <a:xfrm>
            <a:off x="4603320" y="4005000"/>
            <a:ext cx="29844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0" i="1" u="none" strike="noStrike">
                <a:solidFill>
                  <a:srgbClr val="726A7A"/>
                </a:solidFill>
                <a:effectLst/>
                <a:uFillTx/>
                <a:latin typeface="Calibri"/>
                <a:ea typeface="Calibri"/>
              </a:rPr>
              <a:t>formats · names · repositories</a:t>
            </a:r>
            <a:endParaRPr lang="de-DE" sz="1100" b="0" u="none" strike="noStrike">
              <a:solidFill>
                <a:srgbClr val="000000"/>
              </a:solidFill>
              <a:effectLst/>
              <a:uFillTx/>
              <a:latin typeface="Arial"/>
            </a:endParaRPr>
          </a:p>
        </p:txBody>
      </p:sp>
      <p:sp>
        <p:nvSpPr>
          <p:cNvPr id="52" name="Shape 16"/>
          <p:cNvSpPr/>
          <p:nvPr/>
        </p:nvSpPr>
        <p:spPr>
          <a:xfrm>
            <a:off x="7853400" y="3008520"/>
            <a:ext cx="273960" cy="292320"/>
          </a:xfrm>
          <a:prstGeom prst="rtTriangle">
            <a:avLst/>
          </a:prstGeom>
          <a:solidFill>
            <a:srgbClr val="DE8E2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53" name="Shape 17"/>
          <p:cNvSpPr/>
          <p:nvPr/>
        </p:nvSpPr>
        <p:spPr>
          <a:xfrm>
            <a:off x="8182800" y="1920240"/>
            <a:ext cx="3441600" cy="2468520"/>
          </a:xfrm>
          <a:prstGeom prst="roundRect">
            <a:avLst>
              <a:gd name="adj" fmla="val 2593"/>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54" name="Shape 18"/>
          <p:cNvSpPr/>
          <p:nvPr/>
        </p:nvSpPr>
        <p:spPr>
          <a:xfrm>
            <a:off x="9583560" y="2194560"/>
            <a:ext cx="639720" cy="639720"/>
          </a:xfrm>
          <a:prstGeom prst="ellipse">
            <a:avLst/>
          </a:prstGeom>
          <a:solidFill>
            <a:srgbClr val="E860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55" name="Text 19"/>
          <p:cNvSpPr/>
          <p:nvPr/>
        </p:nvSpPr>
        <p:spPr>
          <a:xfrm>
            <a:off x="9583560" y="2194560"/>
            <a:ext cx="63972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600" b="1" u="none" strike="noStrike">
                <a:solidFill>
                  <a:srgbClr val="FFFFFF"/>
                </a:solidFill>
                <a:effectLst/>
                <a:uFillTx/>
                <a:latin typeface="Cambria"/>
                <a:ea typeface="Cambria"/>
              </a:rPr>
              <a:t>3</a:t>
            </a:r>
            <a:endParaRPr lang="de-DE" sz="2600" b="0" u="none" strike="noStrike">
              <a:solidFill>
                <a:srgbClr val="000000"/>
              </a:solidFill>
              <a:effectLst/>
              <a:uFillTx/>
              <a:latin typeface="Arial"/>
            </a:endParaRPr>
          </a:p>
        </p:txBody>
      </p:sp>
      <p:sp>
        <p:nvSpPr>
          <p:cNvPr id="56" name="Text 20"/>
          <p:cNvSpPr/>
          <p:nvPr/>
        </p:nvSpPr>
        <p:spPr>
          <a:xfrm>
            <a:off x="8365680" y="2971800"/>
            <a:ext cx="30758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rgbClr val="E8606B"/>
                </a:solidFill>
                <a:effectLst/>
                <a:uFillTx/>
                <a:latin typeface="Cambria"/>
                <a:ea typeface="Cambria"/>
              </a:rPr>
              <a:t>Integrate</a:t>
            </a:r>
            <a:endParaRPr lang="de-DE" sz="2000" b="0" u="none" strike="noStrike">
              <a:solidFill>
                <a:srgbClr val="000000"/>
              </a:solidFill>
              <a:effectLst/>
              <a:uFillTx/>
              <a:latin typeface="Arial"/>
            </a:endParaRPr>
          </a:p>
        </p:txBody>
      </p:sp>
      <p:sp>
        <p:nvSpPr>
          <p:cNvPr id="57" name="Text 21"/>
          <p:cNvSpPr/>
          <p:nvPr/>
        </p:nvSpPr>
        <p:spPr>
          <a:xfrm>
            <a:off x="8411400" y="3383280"/>
            <a:ext cx="298440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50" b="0" u="none" strike="noStrike">
                <a:solidFill>
                  <a:srgbClr val="2B2331"/>
                </a:solidFill>
                <a:effectLst/>
                <a:uFillTx/>
                <a:latin typeface="Calibri"/>
                <a:ea typeface="Calibri"/>
              </a:rPr>
              <a:t>plug it into the wider data ecosystem</a:t>
            </a:r>
            <a:endParaRPr lang="de-DE" sz="1250" b="0" u="none" strike="noStrike">
              <a:solidFill>
                <a:srgbClr val="000000"/>
              </a:solidFill>
              <a:effectLst/>
              <a:uFillTx/>
              <a:latin typeface="Arial"/>
            </a:endParaRPr>
          </a:p>
        </p:txBody>
      </p:sp>
      <p:sp>
        <p:nvSpPr>
          <p:cNvPr id="58" name="Text 22"/>
          <p:cNvSpPr/>
          <p:nvPr/>
        </p:nvSpPr>
        <p:spPr>
          <a:xfrm>
            <a:off x="8411400" y="4005000"/>
            <a:ext cx="29844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0" i="1" u="none" strike="noStrike">
                <a:solidFill>
                  <a:srgbClr val="726A7A"/>
                </a:solidFill>
                <a:effectLst/>
                <a:uFillTx/>
                <a:latin typeface="Calibri"/>
                <a:ea typeface="Calibri"/>
              </a:rPr>
              <a:t>portals · APIs · knowledge graphs</a:t>
            </a:r>
            <a:endParaRPr lang="de-DE" sz="1100" b="0" u="none" strike="noStrike">
              <a:solidFill>
                <a:srgbClr val="000000"/>
              </a:solidFill>
              <a:effectLst/>
              <a:uFillTx/>
              <a:latin typeface="Arial"/>
            </a:endParaRPr>
          </a:p>
        </p:txBody>
      </p:sp>
      <p:sp>
        <p:nvSpPr>
          <p:cNvPr id="59" name="Shape 23"/>
          <p:cNvSpPr/>
          <p:nvPr/>
        </p:nvSpPr>
        <p:spPr>
          <a:xfrm>
            <a:off x="567000" y="4754880"/>
            <a:ext cx="11057400" cy="868320"/>
          </a:xfrm>
          <a:prstGeom prst="roundRect">
            <a:avLst>
              <a:gd name="adj" fmla="val 7368"/>
            </a:avLst>
          </a:prstGeom>
          <a:solidFill>
            <a:srgbClr val="F2ECEF"/>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60" name="Text 24"/>
          <p:cNvSpPr/>
          <p:nvPr/>
        </p:nvSpPr>
        <p:spPr>
          <a:xfrm>
            <a:off x="841320" y="4754880"/>
            <a:ext cx="10508760" cy="86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5E2A75"/>
                </a:solidFill>
                <a:effectLst/>
                <a:uFillTx/>
                <a:latin typeface="Calibri"/>
                <a:ea typeface="Calibri"/>
              </a:rPr>
              <a:t>The aim:  </a:t>
            </a:r>
            <a:r>
              <a:rPr lang="en-US" sz="1400" b="0" u="none" strike="noStrike">
                <a:solidFill>
                  <a:srgbClr val="2B2331"/>
                </a:solidFill>
                <a:effectLst/>
                <a:uFillTx/>
                <a:latin typeface="Calibri"/>
                <a:ea typeface="Calibri"/>
              </a:rPr>
              <a:t>someone who has never met you can find your pangenome, open it in a browser, understand it, and build on it.</a:t>
            </a:r>
            <a:endParaRPr lang="de-DE" sz="1400" b="0" u="none" strike="noStrike">
              <a:solidFill>
                <a:srgbClr val="000000"/>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 name="Shape 0"/>
          <p:cNvSpPr/>
          <p:nvPr/>
        </p:nvSpPr>
        <p:spPr>
          <a:xfrm>
            <a:off x="567000" y="457200"/>
            <a:ext cx="155160" cy="155160"/>
          </a:xfrm>
          <a:prstGeom prst="ellipse">
            <a:avLst/>
          </a:prstGeom>
          <a:solidFill>
            <a:srgbClr val="E860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62" name="Text 1"/>
          <p:cNvSpPr/>
          <p:nvPr/>
        </p:nvSpPr>
        <p:spPr>
          <a:xfrm>
            <a:off x="822960" y="384120"/>
            <a:ext cx="10801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201">
                <a:solidFill>
                  <a:srgbClr val="5E2A75"/>
                </a:solidFill>
                <a:effectLst/>
                <a:uFillTx/>
                <a:latin typeface="Calibri"/>
                <a:ea typeface="Calibri"/>
              </a:rPr>
              <a:t>VISUALIZE</a:t>
            </a:r>
            <a:endParaRPr lang="de-DE" sz="1200" b="0" u="none" strike="noStrike">
              <a:solidFill>
                <a:srgbClr val="000000"/>
              </a:solidFill>
              <a:effectLst/>
              <a:uFillTx/>
              <a:latin typeface="Arial"/>
            </a:endParaRPr>
          </a:p>
        </p:txBody>
      </p:sp>
      <p:sp>
        <p:nvSpPr>
          <p:cNvPr id="63" name="Text 2"/>
          <p:cNvSpPr/>
          <p:nvPr/>
        </p:nvSpPr>
        <p:spPr>
          <a:xfrm>
            <a:off x="567000" y="676800"/>
            <a:ext cx="110574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2B2331"/>
                </a:solidFill>
                <a:effectLst/>
                <a:uFillTx/>
                <a:latin typeface="Cambria"/>
                <a:ea typeface="Cambria"/>
              </a:rPr>
              <a:t>Why visualizing a pangenome is hard</a:t>
            </a:r>
            <a:endParaRPr lang="de-DE" sz="2900" b="0" u="none" strike="noStrike">
              <a:solidFill>
                <a:srgbClr val="000000"/>
              </a:solidFill>
              <a:effectLst/>
              <a:uFillTx/>
              <a:latin typeface="Arial"/>
            </a:endParaRPr>
          </a:p>
        </p:txBody>
      </p:sp>
      <p:sp>
        <p:nvSpPr>
          <p:cNvPr id="64" name="Text 3"/>
          <p:cNvSpPr/>
          <p:nvPr/>
        </p:nvSpPr>
        <p:spPr>
          <a:xfrm>
            <a:off x="567000" y="1737360"/>
            <a:ext cx="5851800" cy="2194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1199"/>
              </a:spcAft>
              <a:buClr>
                <a:srgbClr val="2B2331"/>
              </a:buClr>
              <a:buFont typeface="Symbol" charset="2"/>
              <a:buChar char=""/>
            </a:pPr>
            <a:r>
              <a:rPr lang="en-US" sz="1350" b="0" u="none" strike="noStrike">
                <a:solidFill>
                  <a:srgbClr val="2B2331"/>
                </a:solidFill>
                <a:effectLst/>
                <a:uFillTx/>
                <a:latin typeface="Calibri"/>
                <a:ea typeface="Calibri"/>
              </a:rPr>
              <a:t>A graph is non-linear — there is no single coordinate to plot against</a:t>
            </a:r>
            <a:endParaRPr lang="de-DE" sz="1350" b="0" u="none" strike="noStrike">
              <a:solidFill>
                <a:srgbClr val="000000"/>
              </a:solidFill>
              <a:effectLst/>
              <a:uFillTx/>
              <a:latin typeface="Arial"/>
            </a:endParaRPr>
          </a:p>
          <a:p>
            <a:pPr marL="177840" indent="-177840" defTabSz="914400">
              <a:lnSpc>
                <a:spcPct val="100000"/>
              </a:lnSpc>
              <a:spcAft>
                <a:spcPts val="1199"/>
              </a:spcAft>
              <a:buClr>
                <a:srgbClr val="2B2331"/>
              </a:buClr>
              <a:buFont typeface="Symbol" charset="2"/>
              <a:buChar char=""/>
            </a:pPr>
            <a:r>
              <a:rPr lang="en-US" sz="1350" b="0" u="none" strike="noStrike">
                <a:solidFill>
                  <a:srgbClr val="2B2331"/>
                </a:solidFill>
                <a:effectLst/>
                <a:uFillTx/>
                <a:latin typeface="Calibri"/>
                <a:ea typeface="Calibri"/>
              </a:rPr>
              <a:t>They are huge: millions of nodes, dozens to hundreds of haplotypes</a:t>
            </a:r>
            <a:endParaRPr lang="de-DE" sz="1350" b="0" u="none" strike="noStrike">
              <a:solidFill>
                <a:srgbClr val="000000"/>
              </a:solidFill>
              <a:effectLst/>
              <a:uFillTx/>
              <a:latin typeface="Arial"/>
            </a:endParaRPr>
          </a:p>
          <a:p>
            <a:pPr marL="177840" indent="-177840" defTabSz="914400">
              <a:lnSpc>
                <a:spcPct val="100000"/>
              </a:lnSpc>
              <a:spcAft>
                <a:spcPts val="1199"/>
              </a:spcAft>
              <a:buClr>
                <a:srgbClr val="E8606B"/>
              </a:buClr>
              <a:buFont typeface="Symbol" charset="2"/>
              <a:buChar char=""/>
            </a:pPr>
            <a:r>
              <a:rPr lang="en-US" sz="1350" b="1" u="none" strike="noStrike">
                <a:solidFill>
                  <a:srgbClr val="E8606B"/>
                </a:solidFill>
                <a:effectLst/>
                <a:uFillTx/>
                <a:latin typeface="Calibri"/>
                <a:ea typeface="Calibri"/>
              </a:rPr>
              <a:t>No single standard browser yet — tools specialise by scale and question</a:t>
            </a:r>
            <a:endParaRPr lang="de-DE" sz="1350" b="0" u="none" strike="noStrike">
              <a:solidFill>
                <a:srgbClr val="000000"/>
              </a:solidFill>
              <a:effectLst/>
              <a:uFillTx/>
              <a:latin typeface="Arial"/>
            </a:endParaRPr>
          </a:p>
          <a:p>
            <a:pPr marL="177840" indent="-177840" defTabSz="914400">
              <a:lnSpc>
                <a:spcPct val="100000"/>
              </a:lnSpc>
              <a:spcAft>
                <a:spcPts val="1199"/>
              </a:spcAft>
              <a:buClr>
                <a:srgbClr val="2B2331"/>
              </a:buClr>
              <a:buFont typeface="Symbol" charset="2"/>
              <a:buChar char=""/>
            </a:pPr>
            <a:r>
              <a:rPr lang="en-US" sz="1350" b="1" u="none" strike="noStrike">
                <a:solidFill>
                  <a:srgbClr val="2B2331"/>
                </a:solidFill>
                <a:effectLst/>
                <a:uFillTx/>
                <a:latin typeface="Calibri"/>
                <a:ea typeface="Calibri"/>
              </a:rPr>
              <a:t>Different scales need different views:</a:t>
            </a:r>
            <a:endParaRPr lang="de-DE" sz="1350" b="0" u="none" strike="noStrike">
              <a:solidFill>
                <a:srgbClr val="000000"/>
              </a:solidFill>
              <a:effectLst/>
              <a:uFillTx/>
              <a:latin typeface="Arial"/>
            </a:endParaRPr>
          </a:p>
        </p:txBody>
      </p:sp>
      <p:sp>
        <p:nvSpPr>
          <p:cNvPr id="65" name="Shape 4"/>
          <p:cNvSpPr/>
          <p:nvPr/>
        </p:nvSpPr>
        <p:spPr>
          <a:xfrm>
            <a:off x="567000" y="3657600"/>
            <a:ext cx="1828440" cy="914040"/>
          </a:xfrm>
          <a:prstGeom prst="roundRect">
            <a:avLst>
              <a:gd name="adj" fmla="val 7000"/>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66" name="Text 5"/>
          <p:cNvSpPr/>
          <p:nvPr/>
        </p:nvSpPr>
        <p:spPr>
          <a:xfrm>
            <a:off x="658440" y="3785760"/>
            <a:ext cx="1645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5E2A75"/>
                </a:solidFill>
                <a:effectLst/>
                <a:uFillTx/>
                <a:latin typeface="Calibri"/>
                <a:ea typeface="Calibri"/>
              </a:rPr>
              <a:t>Chromosome</a:t>
            </a:r>
            <a:endParaRPr lang="de-DE" sz="1300" b="0" u="none" strike="noStrike">
              <a:solidFill>
                <a:srgbClr val="000000"/>
              </a:solidFill>
              <a:effectLst/>
              <a:uFillTx/>
              <a:latin typeface="Arial"/>
            </a:endParaRPr>
          </a:p>
        </p:txBody>
      </p:sp>
      <p:sp>
        <p:nvSpPr>
          <p:cNvPr id="67" name="Text 6"/>
          <p:cNvSpPr/>
          <p:nvPr/>
        </p:nvSpPr>
        <p:spPr>
          <a:xfrm>
            <a:off x="658440" y="4078080"/>
            <a:ext cx="164556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0" u="none" strike="noStrike">
                <a:solidFill>
                  <a:srgbClr val="2B2331"/>
                </a:solidFill>
                <a:effectLst/>
                <a:uFillTx/>
                <a:latin typeface="Calibri"/>
                <a:ea typeface="Calibri"/>
              </a:rPr>
              <a:t>whole-graph overview</a:t>
            </a:r>
            <a:endParaRPr lang="de-DE" sz="1000" b="0" u="none" strike="noStrike">
              <a:solidFill>
                <a:srgbClr val="000000"/>
              </a:solidFill>
              <a:effectLst/>
              <a:uFillTx/>
              <a:latin typeface="Arial"/>
            </a:endParaRPr>
          </a:p>
        </p:txBody>
      </p:sp>
      <p:sp>
        <p:nvSpPr>
          <p:cNvPr id="68" name="Shape 7"/>
          <p:cNvSpPr/>
          <p:nvPr/>
        </p:nvSpPr>
        <p:spPr>
          <a:xfrm>
            <a:off x="2414160" y="4023360"/>
            <a:ext cx="164160" cy="182520"/>
          </a:xfrm>
          <a:prstGeom prst="rtTriangle">
            <a:avLst/>
          </a:prstGeom>
          <a:solidFill>
            <a:srgbClr val="DE8E2C"/>
          </a:solidFill>
          <a:ln w="0">
            <a:noFill/>
          </a:ln>
        </p:spPr>
        <p:style>
          <a:lnRef idx="0">
            <a:scrgbClr r="0" g="0" b="0"/>
          </a:lnRef>
          <a:fillRef idx="0">
            <a:scrgbClr r="0" g="0" b="0"/>
          </a:fillRef>
          <a:effectRef idx="0">
            <a:scrgbClr r="0" g="0" b="0"/>
          </a:effectRef>
          <a:fontRef idx="minor"/>
        </p:style>
        <p:txBody>
          <a:bodyPr lIns="90000" tIns="15840" rIns="90000" bIns="15840" anchor="t">
            <a:noAutofit/>
          </a:bodyPr>
          <a:lstStyle/>
          <a:p>
            <a:endParaRPr lang="de-DE" sz="1800" b="0" u="none" strike="noStrike">
              <a:solidFill>
                <a:srgbClr val="000000"/>
              </a:solidFill>
              <a:effectLst/>
              <a:uFillTx/>
              <a:latin typeface="Arial"/>
            </a:endParaRPr>
          </a:p>
        </p:txBody>
      </p:sp>
      <p:sp>
        <p:nvSpPr>
          <p:cNvPr id="69" name="Shape 8"/>
          <p:cNvSpPr/>
          <p:nvPr/>
        </p:nvSpPr>
        <p:spPr>
          <a:xfrm>
            <a:off x="2578680" y="3657600"/>
            <a:ext cx="1828440" cy="914040"/>
          </a:xfrm>
          <a:prstGeom prst="roundRect">
            <a:avLst>
              <a:gd name="adj" fmla="val 7000"/>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70" name="Text 9"/>
          <p:cNvSpPr/>
          <p:nvPr/>
        </p:nvSpPr>
        <p:spPr>
          <a:xfrm>
            <a:off x="2670120" y="3785760"/>
            <a:ext cx="1645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5E2A75"/>
                </a:solidFill>
                <a:effectLst/>
                <a:uFillTx/>
                <a:latin typeface="Calibri"/>
                <a:ea typeface="Calibri"/>
              </a:rPr>
              <a:t>Locus</a:t>
            </a:r>
            <a:endParaRPr lang="de-DE" sz="1300" b="0" u="none" strike="noStrike">
              <a:solidFill>
                <a:srgbClr val="000000"/>
              </a:solidFill>
              <a:effectLst/>
              <a:uFillTx/>
              <a:latin typeface="Arial"/>
            </a:endParaRPr>
          </a:p>
        </p:txBody>
      </p:sp>
      <p:sp>
        <p:nvSpPr>
          <p:cNvPr id="71" name="Text 10"/>
          <p:cNvSpPr/>
          <p:nvPr/>
        </p:nvSpPr>
        <p:spPr>
          <a:xfrm>
            <a:off x="2670120" y="4078080"/>
            <a:ext cx="164556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0" u="none" strike="noStrike">
                <a:solidFill>
                  <a:srgbClr val="2B2331"/>
                </a:solidFill>
                <a:effectLst/>
                <a:uFillTx/>
                <a:latin typeface="Calibri"/>
                <a:ea typeface="Calibri"/>
              </a:rPr>
              <a:t>a gene &amp; its variants</a:t>
            </a:r>
            <a:endParaRPr lang="de-DE" sz="1000" b="0" u="none" strike="noStrike">
              <a:solidFill>
                <a:srgbClr val="000000"/>
              </a:solidFill>
              <a:effectLst/>
              <a:uFillTx/>
              <a:latin typeface="Arial"/>
            </a:endParaRPr>
          </a:p>
        </p:txBody>
      </p:sp>
      <p:sp>
        <p:nvSpPr>
          <p:cNvPr id="72" name="Shape 11"/>
          <p:cNvSpPr/>
          <p:nvPr/>
        </p:nvSpPr>
        <p:spPr>
          <a:xfrm>
            <a:off x="4425840" y="4023360"/>
            <a:ext cx="164160" cy="182520"/>
          </a:xfrm>
          <a:prstGeom prst="rtTriangle">
            <a:avLst/>
          </a:prstGeom>
          <a:solidFill>
            <a:srgbClr val="DE8E2C"/>
          </a:solidFill>
          <a:ln w="0">
            <a:noFill/>
          </a:ln>
        </p:spPr>
        <p:style>
          <a:lnRef idx="0">
            <a:scrgbClr r="0" g="0" b="0"/>
          </a:lnRef>
          <a:fillRef idx="0">
            <a:scrgbClr r="0" g="0" b="0"/>
          </a:fillRef>
          <a:effectRef idx="0">
            <a:scrgbClr r="0" g="0" b="0"/>
          </a:effectRef>
          <a:fontRef idx="minor"/>
        </p:style>
        <p:txBody>
          <a:bodyPr lIns="90000" tIns="15840" rIns="90000" bIns="15840" anchor="t">
            <a:noAutofit/>
          </a:bodyPr>
          <a:lstStyle/>
          <a:p>
            <a:endParaRPr lang="de-DE" sz="1800" b="0" u="none" strike="noStrike">
              <a:solidFill>
                <a:srgbClr val="000000"/>
              </a:solidFill>
              <a:effectLst/>
              <a:uFillTx/>
              <a:latin typeface="Arial"/>
            </a:endParaRPr>
          </a:p>
        </p:txBody>
      </p:sp>
      <p:sp>
        <p:nvSpPr>
          <p:cNvPr id="73" name="Shape 12"/>
          <p:cNvSpPr/>
          <p:nvPr/>
        </p:nvSpPr>
        <p:spPr>
          <a:xfrm>
            <a:off x="4590360" y="3657600"/>
            <a:ext cx="1828440" cy="914040"/>
          </a:xfrm>
          <a:prstGeom prst="roundRect">
            <a:avLst>
              <a:gd name="adj" fmla="val 7000"/>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74" name="Text 13"/>
          <p:cNvSpPr/>
          <p:nvPr/>
        </p:nvSpPr>
        <p:spPr>
          <a:xfrm>
            <a:off x="4681800" y="3785760"/>
            <a:ext cx="1645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5E2A75"/>
                </a:solidFill>
                <a:effectLst/>
                <a:uFillTx/>
                <a:latin typeface="Calibri"/>
                <a:ea typeface="Calibri"/>
              </a:rPr>
              <a:t>Base</a:t>
            </a:r>
            <a:endParaRPr lang="de-DE" sz="1300" b="0" u="none" strike="noStrike">
              <a:solidFill>
                <a:srgbClr val="000000"/>
              </a:solidFill>
              <a:effectLst/>
              <a:uFillTx/>
              <a:latin typeface="Arial"/>
            </a:endParaRPr>
          </a:p>
        </p:txBody>
      </p:sp>
      <p:sp>
        <p:nvSpPr>
          <p:cNvPr id="75" name="Text 14"/>
          <p:cNvSpPr/>
          <p:nvPr/>
        </p:nvSpPr>
        <p:spPr>
          <a:xfrm>
            <a:off x="4681800" y="4078080"/>
            <a:ext cx="164556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0" u="none" strike="noStrike">
                <a:solidFill>
                  <a:srgbClr val="2B2331"/>
                </a:solidFill>
                <a:effectLst/>
                <a:uFillTx/>
                <a:latin typeface="Calibri"/>
                <a:ea typeface="Calibri"/>
              </a:rPr>
              <a:t>exact SNP / indel</a:t>
            </a:r>
            <a:endParaRPr lang="de-DE" sz="1000" b="0" u="none" strike="noStrike">
              <a:solidFill>
                <a:srgbClr val="000000"/>
              </a:solidFill>
              <a:effectLst/>
              <a:uFillTx/>
              <a:latin typeface="Arial"/>
            </a:endParaRPr>
          </a:p>
        </p:txBody>
      </p:sp>
      <p:sp>
        <p:nvSpPr>
          <p:cNvPr id="76" name="Shape 15"/>
          <p:cNvSpPr/>
          <p:nvPr/>
        </p:nvSpPr>
        <p:spPr>
          <a:xfrm>
            <a:off x="6830640" y="1691640"/>
            <a:ext cx="4793760" cy="3794400"/>
          </a:xfrm>
          <a:prstGeom prst="roundRect">
            <a:avLst>
              <a:gd name="adj" fmla="val 1446"/>
            </a:avLst>
          </a:prstGeom>
          <a:solidFill>
            <a:srgbClr val="FFFFFF"/>
          </a:solidFill>
          <a:ln w="12700">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pic>
        <p:nvPicPr>
          <p:cNvPr id="77" name="Image 0" descr="C:\Users\fzj\AppData\Local\Temp\claude\C--Users-fzj-git-primer3-rs\110509b7-eac3-44ec-8fe3-ff640ad7d275\scratchpad\assets5\momig.jpg"/>
          <p:cNvPicPr/>
          <p:nvPr/>
        </p:nvPicPr>
        <p:blipFill>
          <a:blip r:embed="rId3"/>
          <a:stretch/>
        </p:blipFill>
        <p:spPr>
          <a:xfrm>
            <a:off x="7575082" y="1810440"/>
            <a:ext cx="3084897" cy="3556800"/>
          </a:xfrm>
          <a:prstGeom prst="rect">
            <a:avLst/>
          </a:prstGeom>
          <a:noFill/>
          <a:ln w="0">
            <a:noFill/>
          </a:ln>
        </p:spPr>
      </p:pic>
      <p:sp>
        <p:nvSpPr>
          <p:cNvPr id="78" name="Text 16"/>
          <p:cNvSpPr/>
          <p:nvPr/>
        </p:nvSpPr>
        <p:spPr>
          <a:xfrm>
            <a:off x="567000" y="6455520"/>
            <a:ext cx="110574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50" b="0" i="1" u="none" strike="noStrike">
                <a:solidFill>
                  <a:srgbClr val="726A7A"/>
                </a:solidFill>
                <a:effectLst/>
                <a:uFillTx/>
                <a:latin typeface="Calibri"/>
                <a:ea typeface="Calibri"/>
              </a:rPr>
              <a:t>A multi-scale graph browser (MoMI-G): chromosome → gene → nucleotide views. Yokoyama et al. (2019), BMC Bioinformatics 20:548 (CC-BY 4.0).</a:t>
            </a:r>
            <a:endParaRPr lang="de-DE" sz="950" b="0" u="none" strike="noStrike">
              <a:solidFill>
                <a:srgbClr val="000000"/>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9" name="Shape 0"/>
          <p:cNvSpPr/>
          <p:nvPr/>
        </p:nvSpPr>
        <p:spPr>
          <a:xfrm>
            <a:off x="567000" y="457200"/>
            <a:ext cx="155160" cy="155160"/>
          </a:xfrm>
          <a:prstGeom prst="ellipse">
            <a:avLst/>
          </a:prstGeom>
          <a:solidFill>
            <a:srgbClr val="E860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80" name="Text 1"/>
          <p:cNvSpPr/>
          <p:nvPr/>
        </p:nvSpPr>
        <p:spPr>
          <a:xfrm>
            <a:off x="822960" y="384120"/>
            <a:ext cx="10801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201">
                <a:solidFill>
                  <a:srgbClr val="5E2A75"/>
                </a:solidFill>
                <a:effectLst/>
                <a:uFillTx/>
                <a:latin typeface="Calibri"/>
                <a:ea typeface="Calibri"/>
              </a:rPr>
              <a:t>VISUALIZE</a:t>
            </a:r>
            <a:endParaRPr lang="de-DE" sz="1200" b="0" u="none" strike="noStrike">
              <a:solidFill>
                <a:srgbClr val="000000"/>
              </a:solidFill>
              <a:effectLst/>
              <a:uFillTx/>
              <a:latin typeface="Arial"/>
            </a:endParaRPr>
          </a:p>
        </p:txBody>
      </p:sp>
      <p:sp>
        <p:nvSpPr>
          <p:cNvPr id="81" name="Text 2"/>
          <p:cNvSpPr/>
          <p:nvPr/>
        </p:nvSpPr>
        <p:spPr>
          <a:xfrm>
            <a:off x="567000" y="676800"/>
            <a:ext cx="110574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2B2331"/>
                </a:solidFill>
                <a:effectLst/>
                <a:uFillTx/>
                <a:latin typeface="Cambria"/>
                <a:ea typeface="Cambria"/>
              </a:rPr>
              <a:t>Visual idioms: match the view to the question</a:t>
            </a:r>
            <a:endParaRPr lang="de-DE" sz="2900" b="0" u="none" strike="noStrike">
              <a:solidFill>
                <a:srgbClr val="000000"/>
              </a:solidFill>
              <a:effectLst/>
              <a:uFillTx/>
              <a:latin typeface="Arial"/>
            </a:endParaRPr>
          </a:p>
        </p:txBody>
      </p:sp>
      <p:sp>
        <p:nvSpPr>
          <p:cNvPr id="82" name="Shape 3"/>
          <p:cNvSpPr/>
          <p:nvPr/>
        </p:nvSpPr>
        <p:spPr>
          <a:xfrm>
            <a:off x="567000" y="1691640"/>
            <a:ext cx="2558520" cy="3382920"/>
          </a:xfrm>
          <a:prstGeom prst="roundRect">
            <a:avLst>
              <a:gd name="adj" fmla="val 2502"/>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83" name="Text 4"/>
          <p:cNvSpPr/>
          <p:nvPr/>
        </p:nvSpPr>
        <p:spPr>
          <a:xfrm>
            <a:off x="676800" y="1819800"/>
            <a:ext cx="233892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50" b="1" u="none" strike="noStrike">
                <a:solidFill>
                  <a:srgbClr val="5E2A75"/>
                </a:solidFill>
                <a:effectLst/>
                <a:uFillTx/>
                <a:latin typeface="Calibri"/>
                <a:ea typeface="Calibri"/>
              </a:rPr>
              <a:t>PAV heatmap</a:t>
            </a:r>
            <a:endParaRPr lang="de-DE" sz="1350" b="0" u="none" strike="noStrike">
              <a:solidFill>
                <a:srgbClr val="000000"/>
              </a:solidFill>
              <a:effectLst/>
              <a:uFillTx/>
              <a:latin typeface="Arial"/>
            </a:endParaRPr>
          </a:p>
        </p:txBody>
      </p:sp>
      <p:sp>
        <p:nvSpPr>
          <p:cNvPr id="84" name="Shape 5"/>
          <p:cNvSpPr/>
          <p:nvPr/>
        </p:nvSpPr>
        <p:spPr>
          <a:xfrm>
            <a:off x="841320" y="2331720"/>
            <a:ext cx="365040" cy="365040"/>
          </a:xfrm>
          <a:prstGeom prst="rect">
            <a:avLst/>
          </a:prstGeom>
          <a:solidFill>
            <a:srgbClr val="21476B"/>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85" name="Shape 6"/>
          <p:cNvSpPr/>
          <p:nvPr/>
        </p:nvSpPr>
        <p:spPr>
          <a:xfrm>
            <a:off x="1243440" y="2331720"/>
            <a:ext cx="365040" cy="365040"/>
          </a:xfrm>
          <a:prstGeom prst="rect">
            <a:avLst/>
          </a:prstGeom>
          <a:solidFill>
            <a:srgbClr val="21476B"/>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86" name="Shape 7"/>
          <p:cNvSpPr/>
          <p:nvPr/>
        </p:nvSpPr>
        <p:spPr>
          <a:xfrm>
            <a:off x="1645200" y="2331720"/>
            <a:ext cx="365040" cy="365040"/>
          </a:xfrm>
          <a:prstGeom prst="rect">
            <a:avLst/>
          </a:prstGeom>
          <a:solidFill>
            <a:srgbClr val="E9E2EE"/>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87" name="Shape 8"/>
          <p:cNvSpPr/>
          <p:nvPr/>
        </p:nvSpPr>
        <p:spPr>
          <a:xfrm>
            <a:off x="2047320" y="2331720"/>
            <a:ext cx="365040" cy="365040"/>
          </a:xfrm>
          <a:prstGeom prst="rect">
            <a:avLst/>
          </a:prstGeom>
          <a:solidFill>
            <a:srgbClr val="21476B"/>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88" name="Shape 9"/>
          <p:cNvSpPr/>
          <p:nvPr/>
        </p:nvSpPr>
        <p:spPr>
          <a:xfrm>
            <a:off x="2449440" y="2331720"/>
            <a:ext cx="365040" cy="365040"/>
          </a:xfrm>
          <a:prstGeom prst="rect">
            <a:avLst/>
          </a:prstGeom>
          <a:solidFill>
            <a:srgbClr val="21476B"/>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89" name="Shape 10"/>
          <p:cNvSpPr/>
          <p:nvPr/>
        </p:nvSpPr>
        <p:spPr>
          <a:xfrm>
            <a:off x="841320" y="2733840"/>
            <a:ext cx="365040" cy="365040"/>
          </a:xfrm>
          <a:prstGeom prst="rect">
            <a:avLst/>
          </a:prstGeom>
          <a:solidFill>
            <a:srgbClr val="21476B"/>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90" name="Shape 11"/>
          <p:cNvSpPr/>
          <p:nvPr/>
        </p:nvSpPr>
        <p:spPr>
          <a:xfrm>
            <a:off x="1243440" y="2733840"/>
            <a:ext cx="365040" cy="365040"/>
          </a:xfrm>
          <a:prstGeom prst="rect">
            <a:avLst/>
          </a:prstGeom>
          <a:solidFill>
            <a:srgbClr val="E9E2EE"/>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91" name="Shape 12"/>
          <p:cNvSpPr/>
          <p:nvPr/>
        </p:nvSpPr>
        <p:spPr>
          <a:xfrm>
            <a:off x="1645200" y="2733840"/>
            <a:ext cx="365040" cy="365040"/>
          </a:xfrm>
          <a:prstGeom prst="rect">
            <a:avLst/>
          </a:prstGeom>
          <a:solidFill>
            <a:srgbClr val="21476B"/>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92" name="Shape 13"/>
          <p:cNvSpPr/>
          <p:nvPr/>
        </p:nvSpPr>
        <p:spPr>
          <a:xfrm>
            <a:off x="2047320" y="2733840"/>
            <a:ext cx="365040" cy="365040"/>
          </a:xfrm>
          <a:prstGeom prst="rect">
            <a:avLst/>
          </a:prstGeom>
          <a:solidFill>
            <a:srgbClr val="21476B"/>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93" name="Shape 14"/>
          <p:cNvSpPr/>
          <p:nvPr/>
        </p:nvSpPr>
        <p:spPr>
          <a:xfrm>
            <a:off x="2449440" y="2733840"/>
            <a:ext cx="365040" cy="365040"/>
          </a:xfrm>
          <a:prstGeom prst="rect">
            <a:avLst/>
          </a:prstGeom>
          <a:solidFill>
            <a:srgbClr val="E9E2EE"/>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94" name="Shape 15"/>
          <p:cNvSpPr/>
          <p:nvPr/>
        </p:nvSpPr>
        <p:spPr>
          <a:xfrm>
            <a:off x="841320" y="3135600"/>
            <a:ext cx="365040" cy="365040"/>
          </a:xfrm>
          <a:prstGeom prst="rect">
            <a:avLst/>
          </a:prstGeom>
          <a:solidFill>
            <a:srgbClr val="21476B"/>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95" name="Shape 16"/>
          <p:cNvSpPr/>
          <p:nvPr/>
        </p:nvSpPr>
        <p:spPr>
          <a:xfrm>
            <a:off x="1243440" y="3135600"/>
            <a:ext cx="365040" cy="365040"/>
          </a:xfrm>
          <a:prstGeom prst="rect">
            <a:avLst/>
          </a:prstGeom>
          <a:solidFill>
            <a:srgbClr val="21476B"/>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96" name="Shape 17"/>
          <p:cNvSpPr/>
          <p:nvPr/>
        </p:nvSpPr>
        <p:spPr>
          <a:xfrm>
            <a:off x="1645200" y="3135600"/>
            <a:ext cx="365040" cy="365040"/>
          </a:xfrm>
          <a:prstGeom prst="rect">
            <a:avLst/>
          </a:prstGeom>
          <a:solidFill>
            <a:srgbClr val="21476B"/>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97" name="Shape 18"/>
          <p:cNvSpPr/>
          <p:nvPr/>
        </p:nvSpPr>
        <p:spPr>
          <a:xfrm>
            <a:off x="2047320" y="3135600"/>
            <a:ext cx="365040" cy="365040"/>
          </a:xfrm>
          <a:prstGeom prst="rect">
            <a:avLst/>
          </a:prstGeom>
          <a:solidFill>
            <a:srgbClr val="E9E2EE"/>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98" name="Shape 19"/>
          <p:cNvSpPr/>
          <p:nvPr/>
        </p:nvSpPr>
        <p:spPr>
          <a:xfrm>
            <a:off x="2449440" y="3135600"/>
            <a:ext cx="365040" cy="365040"/>
          </a:xfrm>
          <a:prstGeom prst="rect">
            <a:avLst/>
          </a:prstGeom>
          <a:solidFill>
            <a:srgbClr val="21476B"/>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99" name="Shape 20"/>
          <p:cNvSpPr/>
          <p:nvPr/>
        </p:nvSpPr>
        <p:spPr>
          <a:xfrm>
            <a:off x="841320" y="3537720"/>
            <a:ext cx="365040" cy="365040"/>
          </a:xfrm>
          <a:prstGeom prst="rect">
            <a:avLst/>
          </a:prstGeom>
          <a:solidFill>
            <a:srgbClr val="21476B"/>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00" name="Shape 21"/>
          <p:cNvSpPr/>
          <p:nvPr/>
        </p:nvSpPr>
        <p:spPr>
          <a:xfrm>
            <a:off x="1243440" y="3537720"/>
            <a:ext cx="365040" cy="365040"/>
          </a:xfrm>
          <a:prstGeom prst="rect">
            <a:avLst/>
          </a:prstGeom>
          <a:solidFill>
            <a:srgbClr val="E9E2EE"/>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101" name="Shape 22"/>
          <p:cNvSpPr/>
          <p:nvPr/>
        </p:nvSpPr>
        <p:spPr>
          <a:xfrm>
            <a:off x="1645200" y="3537720"/>
            <a:ext cx="365040" cy="365040"/>
          </a:xfrm>
          <a:prstGeom prst="rect">
            <a:avLst/>
          </a:prstGeom>
          <a:solidFill>
            <a:srgbClr val="E9E2EE"/>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102" name="Shape 23"/>
          <p:cNvSpPr/>
          <p:nvPr/>
        </p:nvSpPr>
        <p:spPr>
          <a:xfrm>
            <a:off x="2047320" y="3537720"/>
            <a:ext cx="365040" cy="365040"/>
          </a:xfrm>
          <a:prstGeom prst="rect">
            <a:avLst/>
          </a:prstGeom>
          <a:solidFill>
            <a:srgbClr val="21476B"/>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03" name="Shape 24"/>
          <p:cNvSpPr/>
          <p:nvPr/>
        </p:nvSpPr>
        <p:spPr>
          <a:xfrm>
            <a:off x="2449440" y="3537720"/>
            <a:ext cx="365040" cy="365040"/>
          </a:xfrm>
          <a:prstGeom prst="rect">
            <a:avLst/>
          </a:prstGeom>
          <a:solidFill>
            <a:srgbClr val="21476B"/>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04" name="Shape 25"/>
          <p:cNvSpPr/>
          <p:nvPr/>
        </p:nvSpPr>
        <p:spPr>
          <a:xfrm>
            <a:off x="841320" y="3939840"/>
            <a:ext cx="365040" cy="365040"/>
          </a:xfrm>
          <a:prstGeom prst="rect">
            <a:avLst/>
          </a:prstGeom>
          <a:solidFill>
            <a:srgbClr val="21476B"/>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05" name="Shape 26"/>
          <p:cNvSpPr/>
          <p:nvPr/>
        </p:nvSpPr>
        <p:spPr>
          <a:xfrm>
            <a:off x="1243440" y="3939840"/>
            <a:ext cx="365040" cy="365040"/>
          </a:xfrm>
          <a:prstGeom prst="rect">
            <a:avLst/>
          </a:prstGeom>
          <a:solidFill>
            <a:srgbClr val="21476B"/>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06" name="Shape 27"/>
          <p:cNvSpPr/>
          <p:nvPr/>
        </p:nvSpPr>
        <p:spPr>
          <a:xfrm>
            <a:off x="1645200" y="3939840"/>
            <a:ext cx="365040" cy="365040"/>
          </a:xfrm>
          <a:prstGeom prst="rect">
            <a:avLst/>
          </a:prstGeom>
          <a:solidFill>
            <a:srgbClr val="21476B"/>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07" name="Shape 28"/>
          <p:cNvSpPr/>
          <p:nvPr/>
        </p:nvSpPr>
        <p:spPr>
          <a:xfrm>
            <a:off x="2047320" y="3939840"/>
            <a:ext cx="365040" cy="365040"/>
          </a:xfrm>
          <a:prstGeom prst="rect">
            <a:avLst/>
          </a:prstGeom>
          <a:solidFill>
            <a:srgbClr val="E9E2EE"/>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108" name="Shape 29"/>
          <p:cNvSpPr/>
          <p:nvPr/>
        </p:nvSpPr>
        <p:spPr>
          <a:xfrm>
            <a:off x="2449440" y="3939840"/>
            <a:ext cx="365040" cy="365040"/>
          </a:xfrm>
          <a:prstGeom prst="rect">
            <a:avLst/>
          </a:prstGeom>
          <a:solidFill>
            <a:srgbClr val="E9E2EE"/>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109" name="Text 30"/>
          <p:cNvSpPr/>
          <p:nvPr/>
        </p:nvSpPr>
        <p:spPr>
          <a:xfrm>
            <a:off x="676800" y="4572000"/>
            <a:ext cx="2338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100" b="0" i="1" u="none" strike="noStrike">
                <a:solidFill>
                  <a:srgbClr val="2B2331"/>
                </a:solidFill>
                <a:effectLst/>
                <a:uFillTx/>
                <a:latin typeface="Calibri"/>
                <a:ea typeface="Calibri"/>
              </a:rPr>
              <a:t>who has which gene?</a:t>
            </a:r>
            <a:endParaRPr lang="de-DE" sz="1100" b="0" u="none" strike="noStrike">
              <a:solidFill>
                <a:srgbClr val="000000"/>
              </a:solidFill>
              <a:effectLst/>
              <a:uFillTx/>
              <a:latin typeface="Arial"/>
            </a:endParaRPr>
          </a:p>
        </p:txBody>
      </p:sp>
      <p:sp>
        <p:nvSpPr>
          <p:cNvPr id="110" name="Shape 31"/>
          <p:cNvSpPr/>
          <p:nvPr/>
        </p:nvSpPr>
        <p:spPr>
          <a:xfrm>
            <a:off x="3399840" y="1691640"/>
            <a:ext cx="2558520" cy="3382920"/>
          </a:xfrm>
          <a:prstGeom prst="roundRect">
            <a:avLst>
              <a:gd name="adj" fmla="val 2502"/>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111" name="Text 32"/>
          <p:cNvSpPr/>
          <p:nvPr/>
        </p:nvSpPr>
        <p:spPr>
          <a:xfrm>
            <a:off x="3509640" y="1819800"/>
            <a:ext cx="233892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50" b="1" u="none" strike="noStrike">
                <a:solidFill>
                  <a:srgbClr val="5E2A75"/>
                </a:solidFill>
                <a:effectLst/>
                <a:uFillTx/>
                <a:latin typeface="Calibri"/>
                <a:ea typeface="Calibri"/>
              </a:rPr>
              <a:t>Core / shell / cloud</a:t>
            </a:r>
            <a:endParaRPr lang="de-DE" sz="1350" b="0" u="none" strike="noStrike">
              <a:solidFill>
                <a:srgbClr val="000000"/>
              </a:solidFill>
              <a:effectLst/>
              <a:uFillTx/>
              <a:latin typeface="Arial"/>
            </a:endParaRPr>
          </a:p>
        </p:txBody>
      </p:sp>
      <p:sp>
        <p:nvSpPr>
          <p:cNvPr id="112" name="Shape 33"/>
          <p:cNvSpPr/>
          <p:nvPr/>
        </p:nvSpPr>
        <p:spPr>
          <a:xfrm>
            <a:off x="4267800" y="2423160"/>
            <a:ext cx="822600" cy="914040"/>
          </a:xfrm>
          <a:prstGeom prst="rect">
            <a:avLst/>
          </a:prstGeom>
          <a:solidFill>
            <a:srgbClr val="2147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13" name="Text 34"/>
          <p:cNvSpPr/>
          <p:nvPr/>
        </p:nvSpPr>
        <p:spPr>
          <a:xfrm>
            <a:off x="5163840" y="2761560"/>
            <a:ext cx="109692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u="none" strike="noStrike">
                <a:solidFill>
                  <a:srgbClr val="21476B"/>
                </a:solidFill>
                <a:effectLst/>
                <a:uFillTx/>
                <a:latin typeface="Calibri"/>
                <a:ea typeface="Calibri"/>
              </a:rPr>
              <a:t>core</a:t>
            </a:r>
            <a:endParaRPr lang="de-DE" sz="1000" b="0" u="none" strike="noStrike">
              <a:solidFill>
                <a:srgbClr val="000000"/>
              </a:solidFill>
              <a:effectLst/>
              <a:uFillTx/>
              <a:latin typeface="Arial"/>
            </a:endParaRPr>
          </a:p>
        </p:txBody>
      </p:sp>
      <p:sp>
        <p:nvSpPr>
          <p:cNvPr id="114" name="Shape 35"/>
          <p:cNvSpPr/>
          <p:nvPr/>
        </p:nvSpPr>
        <p:spPr>
          <a:xfrm>
            <a:off x="4267800" y="3337560"/>
            <a:ext cx="822600" cy="585000"/>
          </a:xfrm>
          <a:prstGeom prst="rect">
            <a:avLst/>
          </a:prstGeom>
          <a:solidFill>
            <a:srgbClr val="8246A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15" name="Text 36"/>
          <p:cNvSpPr/>
          <p:nvPr/>
        </p:nvSpPr>
        <p:spPr>
          <a:xfrm>
            <a:off x="5163840" y="3511440"/>
            <a:ext cx="109692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u="none" strike="noStrike">
                <a:solidFill>
                  <a:srgbClr val="8246A0"/>
                </a:solidFill>
                <a:effectLst/>
                <a:uFillTx/>
                <a:latin typeface="Calibri"/>
                <a:ea typeface="Calibri"/>
              </a:rPr>
              <a:t>shell</a:t>
            </a:r>
            <a:endParaRPr lang="de-DE" sz="1000" b="0" u="none" strike="noStrike">
              <a:solidFill>
                <a:srgbClr val="000000"/>
              </a:solidFill>
              <a:effectLst/>
              <a:uFillTx/>
              <a:latin typeface="Arial"/>
            </a:endParaRPr>
          </a:p>
        </p:txBody>
      </p:sp>
      <p:sp>
        <p:nvSpPr>
          <p:cNvPr id="116" name="Shape 37"/>
          <p:cNvSpPr/>
          <p:nvPr/>
        </p:nvSpPr>
        <p:spPr>
          <a:xfrm>
            <a:off x="4267800" y="3922920"/>
            <a:ext cx="822600" cy="328680"/>
          </a:xfrm>
          <a:prstGeom prst="rect">
            <a:avLst/>
          </a:prstGeom>
          <a:solidFill>
            <a:srgbClr val="DE8E2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117" name="Text 38"/>
          <p:cNvSpPr/>
          <p:nvPr/>
        </p:nvSpPr>
        <p:spPr>
          <a:xfrm>
            <a:off x="5163840" y="3968640"/>
            <a:ext cx="109692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u="none" strike="noStrike">
                <a:solidFill>
                  <a:srgbClr val="DE8E2C"/>
                </a:solidFill>
                <a:effectLst/>
                <a:uFillTx/>
                <a:latin typeface="Calibri"/>
                <a:ea typeface="Calibri"/>
              </a:rPr>
              <a:t>cloud</a:t>
            </a:r>
            <a:endParaRPr lang="de-DE" sz="1000" b="0" u="none" strike="noStrike">
              <a:solidFill>
                <a:srgbClr val="000000"/>
              </a:solidFill>
              <a:effectLst/>
              <a:uFillTx/>
              <a:latin typeface="Arial"/>
            </a:endParaRPr>
          </a:p>
        </p:txBody>
      </p:sp>
      <p:sp>
        <p:nvSpPr>
          <p:cNvPr id="118" name="Text 39"/>
          <p:cNvSpPr/>
          <p:nvPr/>
        </p:nvSpPr>
        <p:spPr>
          <a:xfrm>
            <a:off x="3509640" y="4572000"/>
            <a:ext cx="2338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100" b="0" i="1" u="none" strike="noStrike">
                <a:solidFill>
                  <a:srgbClr val="2B2331"/>
                </a:solidFill>
                <a:effectLst/>
                <a:uFillTx/>
                <a:latin typeface="Calibri"/>
                <a:ea typeface="Calibri"/>
              </a:rPr>
              <a:t>how is diversity partitioned?</a:t>
            </a:r>
            <a:endParaRPr lang="de-DE" sz="1100" b="0" u="none" strike="noStrike">
              <a:solidFill>
                <a:srgbClr val="000000"/>
              </a:solidFill>
              <a:effectLst/>
              <a:uFillTx/>
              <a:latin typeface="Arial"/>
            </a:endParaRPr>
          </a:p>
        </p:txBody>
      </p:sp>
      <p:sp>
        <p:nvSpPr>
          <p:cNvPr id="119" name="Shape 40"/>
          <p:cNvSpPr/>
          <p:nvPr/>
        </p:nvSpPr>
        <p:spPr>
          <a:xfrm>
            <a:off x="6233040" y="1691640"/>
            <a:ext cx="2558520" cy="3382920"/>
          </a:xfrm>
          <a:prstGeom prst="roundRect">
            <a:avLst>
              <a:gd name="adj" fmla="val 2502"/>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120" name="Text 41"/>
          <p:cNvSpPr/>
          <p:nvPr/>
        </p:nvSpPr>
        <p:spPr>
          <a:xfrm>
            <a:off x="6342840" y="1819800"/>
            <a:ext cx="233892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50" b="1" u="none" strike="noStrike">
                <a:solidFill>
                  <a:srgbClr val="5E2A75"/>
                </a:solidFill>
                <a:effectLst/>
                <a:uFillTx/>
                <a:latin typeface="Calibri"/>
                <a:ea typeface="Calibri"/>
              </a:rPr>
              <a:t>Growth curve</a:t>
            </a:r>
            <a:endParaRPr lang="de-DE" sz="1350" b="0" u="none" strike="noStrike">
              <a:solidFill>
                <a:srgbClr val="000000"/>
              </a:solidFill>
              <a:effectLst/>
              <a:uFillTx/>
              <a:latin typeface="Arial"/>
            </a:endParaRPr>
          </a:p>
        </p:txBody>
      </p:sp>
      <p:sp>
        <p:nvSpPr>
          <p:cNvPr id="121" name="Shape 42"/>
          <p:cNvSpPr/>
          <p:nvPr/>
        </p:nvSpPr>
        <p:spPr>
          <a:xfrm>
            <a:off x="6644160" y="2423160"/>
            <a:ext cx="360" cy="1645920"/>
          </a:xfrm>
          <a:prstGeom prst="line">
            <a:avLst/>
          </a:prstGeom>
          <a:ln w="12700">
            <a:solidFill>
              <a:srgbClr val="726A7A"/>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de-DE" sz="1800" b="0" u="none" strike="noStrike">
              <a:solidFill>
                <a:srgbClr val="000000"/>
              </a:solidFill>
              <a:effectLst/>
              <a:uFillTx/>
              <a:latin typeface="Arial"/>
            </a:endParaRPr>
          </a:p>
        </p:txBody>
      </p:sp>
      <p:sp>
        <p:nvSpPr>
          <p:cNvPr id="122" name="Shape 43"/>
          <p:cNvSpPr/>
          <p:nvPr/>
        </p:nvSpPr>
        <p:spPr>
          <a:xfrm>
            <a:off x="6644160" y="4206240"/>
            <a:ext cx="1644480" cy="360"/>
          </a:xfrm>
          <a:prstGeom prst="line">
            <a:avLst/>
          </a:prstGeom>
          <a:ln w="12700">
            <a:solidFill>
              <a:srgbClr val="726A7A"/>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de-DE" sz="1800" b="0" u="none" strike="noStrike">
              <a:solidFill>
                <a:srgbClr val="000000"/>
              </a:solidFill>
              <a:effectLst/>
              <a:uFillTx/>
              <a:latin typeface="Arial"/>
            </a:endParaRPr>
          </a:p>
        </p:txBody>
      </p:sp>
      <p:sp>
        <p:nvSpPr>
          <p:cNvPr id="123" name="Shape 44"/>
          <p:cNvSpPr/>
          <p:nvPr/>
        </p:nvSpPr>
        <p:spPr>
          <a:xfrm flipV="1">
            <a:off x="6644160" y="2922120"/>
            <a:ext cx="493560" cy="378720"/>
          </a:xfrm>
          <a:prstGeom prst="line">
            <a:avLst/>
          </a:prstGeom>
          <a:ln w="28575">
            <a:solidFill>
              <a:srgbClr val="E8606B"/>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de-DE" sz="1800" b="0" u="none" strike="noStrike">
              <a:solidFill>
                <a:srgbClr val="000000"/>
              </a:solidFill>
              <a:effectLst/>
              <a:uFillTx/>
              <a:latin typeface="Arial"/>
            </a:endParaRPr>
          </a:p>
        </p:txBody>
      </p:sp>
      <p:sp>
        <p:nvSpPr>
          <p:cNvPr id="124" name="Shape 45"/>
          <p:cNvSpPr/>
          <p:nvPr/>
        </p:nvSpPr>
        <p:spPr>
          <a:xfrm flipV="1">
            <a:off x="7137720" y="2724840"/>
            <a:ext cx="493200" cy="197280"/>
          </a:xfrm>
          <a:prstGeom prst="line">
            <a:avLst/>
          </a:prstGeom>
          <a:ln w="28575">
            <a:solidFill>
              <a:srgbClr val="E8606B"/>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de-DE" sz="1800" b="0" u="none" strike="noStrike">
              <a:solidFill>
                <a:srgbClr val="000000"/>
              </a:solidFill>
              <a:effectLst/>
              <a:uFillTx/>
              <a:latin typeface="Arial"/>
            </a:endParaRPr>
          </a:p>
        </p:txBody>
      </p:sp>
      <p:sp>
        <p:nvSpPr>
          <p:cNvPr id="125" name="Shape 46"/>
          <p:cNvSpPr/>
          <p:nvPr/>
        </p:nvSpPr>
        <p:spPr>
          <a:xfrm flipV="1">
            <a:off x="7630920" y="2560320"/>
            <a:ext cx="657720" cy="164520"/>
          </a:xfrm>
          <a:prstGeom prst="line">
            <a:avLst/>
          </a:prstGeom>
          <a:ln w="28575">
            <a:solidFill>
              <a:srgbClr val="E8606B"/>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de-DE" sz="1800" b="0" u="none" strike="noStrike">
              <a:solidFill>
                <a:srgbClr val="000000"/>
              </a:solidFill>
              <a:effectLst/>
              <a:uFillTx/>
              <a:latin typeface="Arial"/>
            </a:endParaRPr>
          </a:p>
        </p:txBody>
      </p:sp>
      <p:sp>
        <p:nvSpPr>
          <p:cNvPr id="126" name="Shape 47"/>
          <p:cNvSpPr/>
          <p:nvPr/>
        </p:nvSpPr>
        <p:spPr>
          <a:xfrm>
            <a:off x="6644160" y="3300840"/>
            <a:ext cx="493560" cy="378360"/>
          </a:xfrm>
          <a:prstGeom prst="line">
            <a:avLst/>
          </a:prstGeom>
          <a:ln w="28575">
            <a:solidFill>
              <a:srgbClr val="21476B"/>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de-DE" sz="1800" b="0" u="none" strike="noStrike">
              <a:solidFill>
                <a:srgbClr val="000000"/>
              </a:solidFill>
              <a:effectLst/>
              <a:uFillTx/>
              <a:latin typeface="Arial"/>
            </a:endParaRPr>
          </a:p>
        </p:txBody>
      </p:sp>
      <p:sp>
        <p:nvSpPr>
          <p:cNvPr id="127" name="Shape 48"/>
          <p:cNvSpPr/>
          <p:nvPr/>
        </p:nvSpPr>
        <p:spPr>
          <a:xfrm>
            <a:off x="7137720" y="3679200"/>
            <a:ext cx="493200" cy="131760"/>
          </a:xfrm>
          <a:prstGeom prst="line">
            <a:avLst/>
          </a:prstGeom>
          <a:ln w="28575">
            <a:solidFill>
              <a:srgbClr val="21476B"/>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de-DE" sz="1800" b="0" u="none" strike="noStrike">
              <a:solidFill>
                <a:srgbClr val="000000"/>
              </a:solidFill>
              <a:effectLst/>
              <a:uFillTx/>
              <a:latin typeface="Arial"/>
            </a:endParaRPr>
          </a:p>
        </p:txBody>
      </p:sp>
      <p:sp>
        <p:nvSpPr>
          <p:cNvPr id="128" name="Shape 49"/>
          <p:cNvSpPr/>
          <p:nvPr/>
        </p:nvSpPr>
        <p:spPr>
          <a:xfrm>
            <a:off x="7630920" y="3810960"/>
            <a:ext cx="657720" cy="65880"/>
          </a:xfrm>
          <a:prstGeom prst="line">
            <a:avLst/>
          </a:prstGeom>
          <a:ln w="28575">
            <a:solidFill>
              <a:srgbClr val="21476B"/>
            </a:solidFill>
            <a:round/>
          </a:ln>
        </p:spPr>
        <p:style>
          <a:lnRef idx="0">
            <a:scrgbClr r="0" g="0" b="0"/>
          </a:lnRef>
          <a:fillRef idx="0">
            <a:scrgbClr r="0" g="0" b="0"/>
          </a:fillRef>
          <a:effectRef idx="0">
            <a:scrgbClr r="0" g="0" b="0"/>
          </a:effectRef>
          <a:fontRef idx="minor"/>
        </p:style>
        <p:txBody>
          <a:bodyPr lIns="90000" tIns="20880" rIns="90000" bIns="20880" anchor="t" anchorCtr="1">
            <a:noAutofit/>
          </a:bodyPr>
          <a:lstStyle/>
          <a:p>
            <a:endParaRPr lang="de-DE" sz="1800" b="0" u="none" strike="noStrike">
              <a:solidFill>
                <a:srgbClr val="000000"/>
              </a:solidFill>
              <a:effectLst/>
              <a:uFillTx/>
              <a:latin typeface="Arial"/>
            </a:endParaRPr>
          </a:p>
        </p:txBody>
      </p:sp>
      <p:sp>
        <p:nvSpPr>
          <p:cNvPr id="129" name="Text 50"/>
          <p:cNvSpPr/>
          <p:nvPr/>
        </p:nvSpPr>
        <p:spPr>
          <a:xfrm>
            <a:off x="7557120" y="2377440"/>
            <a:ext cx="7311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a:solidFill>
                  <a:srgbClr val="E8606B"/>
                </a:solidFill>
                <a:effectLst/>
                <a:uFillTx/>
                <a:latin typeface="Calibri"/>
                <a:ea typeface="Calibri"/>
              </a:rPr>
              <a:t>pan</a:t>
            </a:r>
            <a:endParaRPr lang="de-DE" sz="900" b="0" u="none" strike="noStrike">
              <a:solidFill>
                <a:srgbClr val="000000"/>
              </a:solidFill>
              <a:effectLst/>
              <a:uFillTx/>
              <a:latin typeface="Arial"/>
            </a:endParaRPr>
          </a:p>
        </p:txBody>
      </p:sp>
      <p:sp>
        <p:nvSpPr>
          <p:cNvPr id="130" name="Text 51"/>
          <p:cNvSpPr/>
          <p:nvPr/>
        </p:nvSpPr>
        <p:spPr>
          <a:xfrm>
            <a:off x="7557120" y="3931920"/>
            <a:ext cx="7311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a:solidFill>
                  <a:srgbClr val="21476B"/>
                </a:solidFill>
                <a:effectLst/>
                <a:uFillTx/>
                <a:latin typeface="Calibri"/>
                <a:ea typeface="Calibri"/>
              </a:rPr>
              <a:t>core</a:t>
            </a:r>
            <a:endParaRPr lang="de-DE" sz="900" b="0" u="none" strike="noStrike">
              <a:solidFill>
                <a:srgbClr val="000000"/>
              </a:solidFill>
              <a:effectLst/>
              <a:uFillTx/>
              <a:latin typeface="Arial"/>
            </a:endParaRPr>
          </a:p>
        </p:txBody>
      </p:sp>
      <p:sp>
        <p:nvSpPr>
          <p:cNvPr id="131" name="Text 52"/>
          <p:cNvSpPr/>
          <p:nvPr/>
        </p:nvSpPr>
        <p:spPr>
          <a:xfrm>
            <a:off x="6342840" y="4572000"/>
            <a:ext cx="2338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100" b="0" i="1" u="none" strike="noStrike">
                <a:solidFill>
                  <a:srgbClr val="2B2331"/>
                </a:solidFill>
                <a:effectLst/>
                <a:uFillTx/>
                <a:latin typeface="Calibri"/>
                <a:ea typeface="Calibri"/>
              </a:rPr>
              <a:t>open or closed pangenome?</a:t>
            </a:r>
            <a:endParaRPr lang="de-DE" sz="1100" b="0" u="none" strike="noStrike">
              <a:solidFill>
                <a:srgbClr val="000000"/>
              </a:solidFill>
              <a:effectLst/>
              <a:uFillTx/>
              <a:latin typeface="Arial"/>
            </a:endParaRPr>
          </a:p>
        </p:txBody>
      </p:sp>
      <p:sp>
        <p:nvSpPr>
          <p:cNvPr id="132" name="Shape 53"/>
          <p:cNvSpPr/>
          <p:nvPr/>
        </p:nvSpPr>
        <p:spPr>
          <a:xfrm>
            <a:off x="9065880" y="1691640"/>
            <a:ext cx="2558520" cy="3382920"/>
          </a:xfrm>
          <a:prstGeom prst="roundRect">
            <a:avLst>
              <a:gd name="adj" fmla="val 2502"/>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133" name="Text 54"/>
          <p:cNvSpPr/>
          <p:nvPr/>
        </p:nvSpPr>
        <p:spPr>
          <a:xfrm>
            <a:off x="9175680" y="1819800"/>
            <a:ext cx="233892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50" b="1" u="none" strike="noStrike">
                <a:solidFill>
                  <a:srgbClr val="5E2A75"/>
                </a:solidFill>
                <a:effectLst/>
                <a:uFillTx/>
                <a:latin typeface="Calibri"/>
                <a:ea typeface="Calibri"/>
              </a:rPr>
              <a:t>UpSet plot</a:t>
            </a:r>
            <a:endParaRPr lang="de-DE" sz="1350" b="0" u="none" strike="noStrike">
              <a:solidFill>
                <a:srgbClr val="000000"/>
              </a:solidFill>
              <a:effectLst/>
              <a:uFillTx/>
              <a:latin typeface="Arial"/>
            </a:endParaRPr>
          </a:p>
        </p:txBody>
      </p:sp>
      <p:sp>
        <p:nvSpPr>
          <p:cNvPr id="134" name="Shape 55"/>
          <p:cNvSpPr/>
          <p:nvPr/>
        </p:nvSpPr>
        <p:spPr>
          <a:xfrm>
            <a:off x="9568800" y="2372760"/>
            <a:ext cx="292320" cy="781560"/>
          </a:xfrm>
          <a:prstGeom prst="rect">
            <a:avLst/>
          </a:prstGeom>
          <a:solidFill>
            <a:srgbClr val="2147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35" name="Shape 56"/>
          <p:cNvSpPr/>
          <p:nvPr/>
        </p:nvSpPr>
        <p:spPr>
          <a:xfrm>
            <a:off x="10008000" y="2578680"/>
            <a:ext cx="292320" cy="575640"/>
          </a:xfrm>
          <a:prstGeom prst="rect">
            <a:avLst/>
          </a:prstGeom>
          <a:solidFill>
            <a:srgbClr val="2147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36" name="Shape 57"/>
          <p:cNvSpPr/>
          <p:nvPr/>
        </p:nvSpPr>
        <p:spPr>
          <a:xfrm>
            <a:off x="10446840" y="2743200"/>
            <a:ext cx="292320" cy="411120"/>
          </a:xfrm>
          <a:prstGeom prst="rect">
            <a:avLst/>
          </a:prstGeom>
          <a:solidFill>
            <a:srgbClr val="2147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37" name="Shape 58"/>
          <p:cNvSpPr/>
          <p:nvPr/>
        </p:nvSpPr>
        <p:spPr>
          <a:xfrm>
            <a:off x="10885680" y="2907720"/>
            <a:ext cx="292320" cy="246600"/>
          </a:xfrm>
          <a:prstGeom prst="rect">
            <a:avLst/>
          </a:prstGeom>
          <a:solidFill>
            <a:srgbClr val="2147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38" name="Shape 59"/>
          <p:cNvSpPr/>
          <p:nvPr/>
        </p:nvSpPr>
        <p:spPr>
          <a:xfrm>
            <a:off x="9642240" y="3319200"/>
            <a:ext cx="145800" cy="145800"/>
          </a:xfrm>
          <a:prstGeom prst="ellipse">
            <a:avLst/>
          </a:prstGeom>
          <a:solidFill>
            <a:srgbClr val="8246A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39" name="Shape 60"/>
          <p:cNvSpPr/>
          <p:nvPr/>
        </p:nvSpPr>
        <p:spPr>
          <a:xfrm>
            <a:off x="10081080" y="3319200"/>
            <a:ext cx="145800" cy="145800"/>
          </a:xfrm>
          <a:prstGeom prst="ellipse">
            <a:avLst/>
          </a:prstGeom>
          <a:solidFill>
            <a:srgbClr val="8246A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40" name="Shape 61"/>
          <p:cNvSpPr/>
          <p:nvPr/>
        </p:nvSpPr>
        <p:spPr>
          <a:xfrm>
            <a:off x="10519920" y="3319200"/>
            <a:ext cx="145800" cy="145800"/>
          </a:xfrm>
          <a:prstGeom prst="ellipse">
            <a:avLst/>
          </a:prstGeom>
          <a:solidFill>
            <a:srgbClr val="8246A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41" name="Shape 62"/>
          <p:cNvSpPr/>
          <p:nvPr/>
        </p:nvSpPr>
        <p:spPr>
          <a:xfrm>
            <a:off x="10958760" y="3319200"/>
            <a:ext cx="145800" cy="145800"/>
          </a:xfrm>
          <a:prstGeom prst="ellipse">
            <a:avLst/>
          </a:prstGeom>
          <a:solidFill>
            <a:srgbClr val="DFD3E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142" name="Shape 63"/>
          <p:cNvSpPr/>
          <p:nvPr/>
        </p:nvSpPr>
        <p:spPr>
          <a:xfrm>
            <a:off x="9642240" y="3529440"/>
            <a:ext cx="145800" cy="145800"/>
          </a:xfrm>
          <a:prstGeom prst="ellipse">
            <a:avLst/>
          </a:prstGeom>
          <a:solidFill>
            <a:srgbClr val="8246A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43" name="Shape 64"/>
          <p:cNvSpPr/>
          <p:nvPr/>
        </p:nvSpPr>
        <p:spPr>
          <a:xfrm>
            <a:off x="10081080" y="3529440"/>
            <a:ext cx="145800" cy="145800"/>
          </a:xfrm>
          <a:prstGeom prst="ellipse">
            <a:avLst/>
          </a:prstGeom>
          <a:solidFill>
            <a:srgbClr val="8246A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44" name="Shape 65"/>
          <p:cNvSpPr/>
          <p:nvPr/>
        </p:nvSpPr>
        <p:spPr>
          <a:xfrm>
            <a:off x="10519920" y="3529440"/>
            <a:ext cx="145800" cy="145800"/>
          </a:xfrm>
          <a:prstGeom prst="ellipse">
            <a:avLst/>
          </a:prstGeom>
          <a:solidFill>
            <a:srgbClr val="DFD3E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145" name="Shape 66"/>
          <p:cNvSpPr/>
          <p:nvPr/>
        </p:nvSpPr>
        <p:spPr>
          <a:xfrm>
            <a:off x="10958760" y="3529440"/>
            <a:ext cx="145800" cy="145800"/>
          </a:xfrm>
          <a:prstGeom prst="ellipse">
            <a:avLst/>
          </a:prstGeom>
          <a:solidFill>
            <a:srgbClr val="8246A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46" name="Shape 67"/>
          <p:cNvSpPr/>
          <p:nvPr/>
        </p:nvSpPr>
        <p:spPr>
          <a:xfrm>
            <a:off x="9642240" y="3740040"/>
            <a:ext cx="145800" cy="145800"/>
          </a:xfrm>
          <a:prstGeom prst="ellipse">
            <a:avLst/>
          </a:prstGeom>
          <a:solidFill>
            <a:srgbClr val="8246A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47" name="Shape 68"/>
          <p:cNvSpPr/>
          <p:nvPr/>
        </p:nvSpPr>
        <p:spPr>
          <a:xfrm>
            <a:off x="10081080" y="3740040"/>
            <a:ext cx="145800" cy="145800"/>
          </a:xfrm>
          <a:prstGeom prst="ellipse">
            <a:avLst/>
          </a:prstGeom>
          <a:solidFill>
            <a:srgbClr val="DFD3E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148" name="Shape 69"/>
          <p:cNvSpPr/>
          <p:nvPr/>
        </p:nvSpPr>
        <p:spPr>
          <a:xfrm>
            <a:off x="10519920" y="3740040"/>
            <a:ext cx="145800" cy="145800"/>
          </a:xfrm>
          <a:prstGeom prst="ellipse">
            <a:avLst/>
          </a:prstGeom>
          <a:solidFill>
            <a:srgbClr val="8246A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49" name="Shape 70"/>
          <p:cNvSpPr/>
          <p:nvPr/>
        </p:nvSpPr>
        <p:spPr>
          <a:xfrm>
            <a:off x="10958760" y="3740040"/>
            <a:ext cx="145800" cy="145800"/>
          </a:xfrm>
          <a:prstGeom prst="ellipse">
            <a:avLst/>
          </a:prstGeom>
          <a:solidFill>
            <a:srgbClr val="8246A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50" name="Text 71"/>
          <p:cNvSpPr/>
          <p:nvPr/>
        </p:nvSpPr>
        <p:spPr>
          <a:xfrm>
            <a:off x="9175680" y="4572000"/>
            <a:ext cx="2338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100" b="0" i="1" u="none" strike="noStrike">
                <a:solidFill>
                  <a:srgbClr val="2B2331"/>
                </a:solidFill>
                <a:effectLst/>
                <a:uFillTx/>
                <a:latin typeface="Calibri"/>
                <a:ea typeface="Calibri"/>
              </a:rPr>
              <a:t>which sets share features?</a:t>
            </a:r>
            <a:endParaRPr lang="de-DE" sz="1100" b="0" u="none" strike="noStrike">
              <a:solidFill>
                <a:srgbClr val="000000"/>
              </a:solidFill>
              <a:effectLst/>
              <a:uFillTx/>
              <a:latin typeface="Arial"/>
            </a:endParaRPr>
          </a:p>
        </p:txBody>
      </p:sp>
      <p:sp>
        <p:nvSpPr>
          <p:cNvPr id="151" name="Text 72"/>
          <p:cNvSpPr/>
          <p:nvPr/>
        </p:nvSpPr>
        <p:spPr>
          <a:xfrm>
            <a:off x="567000" y="6455520"/>
            <a:ext cx="110574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50" b="0" i="1" u="none" strike="noStrike">
                <a:solidFill>
                  <a:srgbClr val="726A7A"/>
                </a:solidFill>
                <a:effectLst/>
                <a:uFillTx/>
                <a:latin typeface="Calibri"/>
                <a:ea typeface="Calibri"/>
              </a:rPr>
              <a:t>Schematic idioms. Choose the plot for the question you are answering — and label core/shell/cloud thresholds and sample size every time.</a:t>
            </a:r>
            <a:endParaRPr lang="de-DE" sz="950" b="0" u="none" strike="noStrike">
              <a:solidFill>
                <a:srgbClr val="000000"/>
              </a:solidFill>
              <a:effectLst/>
              <a:uFillTx/>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2" name="Shape 0"/>
          <p:cNvSpPr/>
          <p:nvPr/>
        </p:nvSpPr>
        <p:spPr>
          <a:xfrm>
            <a:off x="567000" y="457200"/>
            <a:ext cx="155160" cy="155160"/>
          </a:xfrm>
          <a:prstGeom prst="ellipse">
            <a:avLst/>
          </a:prstGeom>
          <a:solidFill>
            <a:srgbClr val="E860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53" name="Text 1"/>
          <p:cNvSpPr/>
          <p:nvPr/>
        </p:nvSpPr>
        <p:spPr>
          <a:xfrm>
            <a:off x="822960" y="384120"/>
            <a:ext cx="10801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201">
                <a:solidFill>
                  <a:srgbClr val="5E2A75"/>
                </a:solidFill>
                <a:effectLst/>
                <a:uFillTx/>
                <a:latin typeface="Calibri"/>
                <a:ea typeface="Calibri"/>
              </a:rPr>
              <a:t>VISUALIZE</a:t>
            </a:r>
            <a:endParaRPr lang="de-DE" sz="1200" b="0" u="none" strike="noStrike">
              <a:solidFill>
                <a:srgbClr val="000000"/>
              </a:solidFill>
              <a:effectLst/>
              <a:uFillTx/>
              <a:latin typeface="Arial"/>
            </a:endParaRPr>
          </a:p>
        </p:txBody>
      </p:sp>
      <p:sp>
        <p:nvSpPr>
          <p:cNvPr id="154" name="Text 2"/>
          <p:cNvSpPr/>
          <p:nvPr/>
        </p:nvSpPr>
        <p:spPr>
          <a:xfrm>
            <a:off x="567000" y="676800"/>
            <a:ext cx="110574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2B2331"/>
                </a:solidFill>
                <a:effectLst/>
                <a:uFillTx/>
                <a:latin typeface="Cambria"/>
                <a:ea typeface="Cambria"/>
              </a:rPr>
              <a:t>Tools to explore the graph</a:t>
            </a:r>
            <a:endParaRPr lang="de-DE" sz="2900" b="0" u="none" strike="noStrike">
              <a:solidFill>
                <a:srgbClr val="000000"/>
              </a:solidFill>
              <a:effectLst/>
              <a:uFillTx/>
              <a:latin typeface="Arial"/>
            </a:endParaRPr>
          </a:p>
        </p:txBody>
      </p:sp>
      <p:sp>
        <p:nvSpPr>
          <p:cNvPr id="155" name="Shape 3"/>
          <p:cNvSpPr/>
          <p:nvPr/>
        </p:nvSpPr>
        <p:spPr>
          <a:xfrm>
            <a:off x="567000" y="1645920"/>
            <a:ext cx="5322960" cy="3931560"/>
          </a:xfrm>
          <a:prstGeom prst="roundRect">
            <a:avLst>
              <a:gd name="adj" fmla="val 1628"/>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156" name="Text 4"/>
          <p:cNvSpPr/>
          <p:nvPr/>
        </p:nvSpPr>
        <p:spPr>
          <a:xfrm>
            <a:off x="749880" y="1764720"/>
            <a:ext cx="49572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u="none" strike="noStrike">
                <a:solidFill>
                  <a:srgbClr val="5E2A75"/>
                </a:solidFill>
                <a:effectLst/>
                <a:uFillTx/>
                <a:latin typeface="Calibri"/>
                <a:ea typeface="Calibri"/>
              </a:rPr>
              <a:t>Make it intuitive — the sequence tube map</a:t>
            </a:r>
            <a:endParaRPr lang="de-DE" sz="1350" b="0" u="none" strike="noStrike">
              <a:solidFill>
                <a:srgbClr val="000000"/>
              </a:solidFill>
              <a:effectLst/>
              <a:uFillTx/>
              <a:latin typeface="Arial"/>
            </a:endParaRPr>
          </a:p>
        </p:txBody>
      </p:sp>
      <p:sp>
        <p:nvSpPr>
          <p:cNvPr id="157" name="Shape 5"/>
          <p:cNvSpPr/>
          <p:nvPr/>
        </p:nvSpPr>
        <p:spPr>
          <a:xfrm>
            <a:off x="795600" y="2194560"/>
            <a:ext cx="4865760" cy="1462680"/>
          </a:xfrm>
          <a:prstGeom prst="roundRect">
            <a:avLst>
              <a:gd name="adj" fmla="val 3750"/>
            </a:avLst>
          </a:prstGeom>
          <a:solidFill>
            <a:srgbClr val="FFFFFF"/>
          </a:solidFill>
          <a:ln w="12700">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pic>
        <p:nvPicPr>
          <p:cNvPr id="158" name="Image 0" descr="C:\Users\fzj\AppData\Local\Temp\claude\C--Users-fzj-git-primer3-rs\110509b7-eac3-44ec-8fe3-ff640ad7d275\scratchpad\assets5\tubemap.jpg"/>
          <p:cNvPicPr/>
          <p:nvPr/>
        </p:nvPicPr>
        <p:blipFill>
          <a:blip r:embed="rId3"/>
          <a:stretch/>
        </p:blipFill>
        <p:spPr>
          <a:xfrm>
            <a:off x="914400" y="2313360"/>
            <a:ext cx="4627800" cy="1225080"/>
          </a:xfrm>
          <a:prstGeom prst="rect">
            <a:avLst/>
          </a:prstGeom>
          <a:noFill/>
          <a:ln w="0">
            <a:noFill/>
          </a:ln>
        </p:spPr>
      </p:pic>
      <p:sp>
        <p:nvSpPr>
          <p:cNvPr id="159" name="Text 6"/>
          <p:cNvSpPr/>
          <p:nvPr/>
        </p:nvSpPr>
        <p:spPr>
          <a:xfrm>
            <a:off x="795600" y="3794760"/>
            <a:ext cx="4865760" cy="1645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901"/>
              </a:spcAft>
              <a:buClr>
                <a:srgbClr val="2B2331"/>
              </a:buClr>
              <a:buFont typeface="Symbol" charset="2"/>
              <a:buChar char=""/>
            </a:pPr>
            <a:r>
              <a:rPr lang="en-US" sz="1200" b="0" u="none" strike="noStrike">
                <a:solidFill>
                  <a:srgbClr val="2B2331"/>
                </a:solidFill>
                <a:effectLst/>
                <a:uFillTx/>
                <a:latin typeface="Calibri"/>
                <a:ea typeface="Calibri"/>
              </a:rPr>
              <a:t>Each haplotype = a coloured line threading shared &amp; variant segments</a:t>
            </a:r>
            <a:endParaRPr lang="de-DE" sz="1200" b="0" u="none" strike="noStrike">
              <a:solidFill>
                <a:srgbClr val="000000"/>
              </a:solidFill>
              <a:effectLst/>
              <a:uFillTx/>
              <a:latin typeface="Arial"/>
            </a:endParaRPr>
          </a:p>
          <a:p>
            <a:pPr marL="177840" indent="-177840" defTabSz="914400">
              <a:lnSpc>
                <a:spcPct val="100000"/>
              </a:lnSpc>
              <a:spcAft>
                <a:spcPts val="901"/>
              </a:spcAft>
              <a:buClr>
                <a:srgbClr val="2B2331"/>
              </a:buClr>
              <a:buFont typeface="Symbol" charset="2"/>
              <a:buChar char=""/>
            </a:pPr>
            <a:r>
              <a:rPr lang="en-US" sz="1200" b="0" u="none" strike="noStrike">
                <a:solidFill>
                  <a:srgbClr val="2B2331"/>
                </a:solidFill>
                <a:effectLst/>
                <a:uFillTx/>
                <a:latin typeface="Calibri"/>
                <a:ea typeface="Calibri"/>
              </a:rPr>
              <a:t>SNPs, indels, inversions &amp; duplications become intuitive at a glance</a:t>
            </a:r>
            <a:endParaRPr lang="de-DE" sz="1200" b="0" u="none" strike="noStrike">
              <a:solidFill>
                <a:srgbClr val="000000"/>
              </a:solidFill>
              <a:effectLst/>
              <a:uFillTx/>
              <a:latin typeface="Arial"/>
            </a:endParaRPr>
          </a:p>
          <a:p>
            <a:pPr marL="177840" indent="-177840" defTabSz="914400">
              <a:lnSpc>
                <a:spcPct val="100000"/>
              </a:lnSpc>
              <a:spcAft>
                <a:spcPts val="901"/>
              </a:spcAft>
              <a:buClr>
                <a:srgbClr val="2B2331"/>
              </a:buClr>
              <a:buFont typeface="Symbol" charset="2"/>
              <a:buChar char=""/>
            </a:pPr>
            <a:r>
              <a:rPr lang="en-US" sz="1200" b="0" u="none" strike="noStrike">
                <a:solidFill>
                  <a:srgbClr val="2B2331"/>
                </a:solidFill>
                <a:effectLst/>
                <a:uFillTx/>
                <a:latin typeface="Calibri"/>
                <a:ea typeface="Calibri"/>
              </a:rPr>
              <a:t>Linear browsers (JBrowse2, IGV) show assemblies &amp; variants side-by-side</a:t>
            </a:r>
            <a:endParaRPr lang="de-DE" sz="1200" b="0" u="none" strike="noStrike">
              <a:solidFill>
                <a:srgbClr val="000000"/>
              </a:solidFill>
              <a:effectLst/>
              <a:uFillTx/>
              <a:latin typeface="Arial"/>
            </a:endParaRPr>
          </a:p>
        </p:txBody>
      </p:sp>
      <p:sp>
        <p:nvSpPr>
          <p:cNvPr id="160" name="Shape 7"/>
          <p:cNvSpPr/>
          <p:nvPr/>
        </p:nvSpPr>
        <p:spPr>
          <a:xfrm>
            <a:off x="6301440" y="1645920"/>
            <a:ext cx="5322960" cy="3931560"/>
          </a:xfrm>
          <a:prstGeom prst="roundRect">
            <a:avLst>
              <a:gd name="adj" fmla="val 1628"/>
            </a:avLst>
          </a:prstGeom>
          <a:solidFill>
            <a:srgbClr val="F2ECEF"/>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161" name="Text 8"/>
          <p:cNvSpPr/>
          <p:nvPr/>
        </p:nvSpPr>
        <p:spPr>
          <a:xfrm>
            <a:off x="6484320" y="1764720"/>
            <a:ext cx="49572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u="none" strike="noStrike">
                <a:solidFill>
                  <a:srgbClr val="5E2A75"/>
                </a:solidFill>
                <a:effectLst/>
                <a:uFillTx/>
                <a:latin typeface="Calibri"/>
                <a:ea typeface="Calibri"/>
              </a:rPr>
              <a:t>Interactive graph viewers</a:t>
            </a:r>
            <a:endParaRPr lang="de-DE" sz="1350" b="0" u="none" strike="noStrike">
              <a:solidFill>
                <a:srgbClr val="000000"/>
              </a:solidFill>
              <a:effectLst/>
              <a:uFillTx/>
              <a:latin typeface="Arial"/>
            </a:endParaRPr>
          </a:p>
        </p:txBody>
      </p:sp>
      <p:sp>
        <p:nvSpPr>
          <p:cNvPr id="162" name="Shape 9"/>
          <p:cNvSpPr/>
          <p:nvPr/>
        </p:nvSpPr>
        <p:spPr>
          <a:xfrm>
            <a:off x="6530040" y="2194560"/>
            <a:ext cx="4865760" cy="1599840"/>
          </a:xfrm>
          <a:prstGeom prst="roundRect">
            <a:avLst>
              <a:gd name="adj" fmla="val 3429"/>
            </a:avLst>
          </a:prstGeom>
          <a:solidFill>
            <a:srgbClr val="FFFFFF"/>
          </a:solidFill>
          <a:ln w="12700">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pic>
        <p:nvPicPr>
          <p:cNvPr id="163" name="Image 1" descr="C:\Users\fzj\AppData\Local\Temp\claude\C--Users-fzj-git-primer3-rs\110509b7-eac3-44ec-8fe3-ff640ad7d275\scratchpad\assets5\bandage.jpg"/>
          <p:cNvPicPr/>
          <p:nvPr/>
        </p:nvPicPr>
        <p:blipFill>
          <a:blip r:embed="rId4"/>
          <a:stretch/>
        </p:blipFill>
        <p:spPr>
          <a:xfrm>
            <a:off x="6649200" y="2313360"/>
            <a:ext cx="4627800" cy="1362240"/>
          </a:xfrm>
          <a:prstGeom prst="rect">
            <a:avLst/>
          </a:prstGeom>
          <a:noFill/>
          <a:ln w="0">
            <a:noFill/>
          </a:ln>
        </p:spPr>
      </p:pic>
      <p:sp>
        <p:nvSpPr>
          <p:cNvPr id="164" name="Text 10"/>
          <p:cNvSpPr/>
          <p:nvPr/>
        </p:nvSpPr>
        <p:spPr>
          <a:xfrm>
            <a:off x="6530040" y="3931920"/>
            <a:ext cx="4865760" cy="155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901"/>
              </a:spcAft>
              <a:buClr>
                <a:srgbClr val="2B2331"/>
              </a:buClr>
              <a:buFont typeface="Symbol" charset="2"/>
              <a:buChar char=""/>
            </a:pPr>
            <a:r>
              <a:rPr lang="en-US" sz="1200" b="0" u="none" strike="noStrike">
                <a:solidFill>
                  <a:srgbClr val="2B2331"/>
                </a:solidFill>
                <a:effectLst/>
                <a:uFillTx/>
                <a:latin typeface="Calibri"/>
                <a:ea typeface="Calibri"/>
              </a:rPr>
              <a:t>Bandage / odgi — explore graph topology, search a gene, trace which genomes carry a node</a:t>
            </a:r>
            <a:endParaRPr lang="de-DE" sz="1200" b="0" u="none" strike="noStrike">
              <a:solidFill>
                <a:srgbClr val="000000"/>
              </a:solidFill>
              <a:effectLst/>
              <a:uFillTx/>
              <a:latin typeface="Arial"/>
            </a:endParaRPr>
          </a:p>
          <a:p>
            <a:pPr marL="177840" indent="-177840" defTabSz="914400">
              <a:lnSpc>
                <a:spcPct val="100000"/>
              </a:lnSpc>
              <a:spcAft>
                <a:spcPts val="901"/>
              </a:spcAft>
              <a:buClr>
                <a:srgbClr val="2B2331"/>
              </a:buClr>
              <a:buFont typeface="Symbol" charset="2"/>
              <a:buChar char=""/>
            </a:pPr>
            <a:r>
              <a:rPr lang="en-US" sz="1200" b="0" u="none" strike="noStrike">
                <a:solidFill>
                  <a:srgbClr val="2B2331"/>
                </a:solidFill>
                <a:effectLst/>
                <a:uFillTx/>
                <a:latin typeface="Calibri"/>
                <a:ea typeface="Calibri"/>
              </a:rPr>
              <a:t>Cytoscape, MoMI-G — network &amp; multi-scale views</a:t>
            </a:r>
            <a:endParaRPr lang="de-DE" sz="1200" b="0" u="none" strike="noStrike">
              <a:solidFill>
                <a:srgbClr val="000000"/>
              </a:solidFill>
              <a:effectLst/>
              <a:uFillTx/>
              <a:latin typeface="Arial"/>
            </a:endParaRPr>
          </a:p>
          <a:p>
            <a:pPr marL="177840" indent="-177840" defTabSz="914400">
              <a:lnSpc>
                <a:spcPct val="100000"/>
              </a:lnSpc>
              <a:spcAft>
                <a:spcPts val="901"/>
              </a:spcAft>
              <a:buClr>
                <a:srgbClr val="2B2331"/>
              </a:buClr>
              <a:buFont typeface="Symbol" charset="2"/>
              <a:buChar char=""/>
            </a:pPr>
            <a:r>
              <a:rPr lang="en-US" sz="1200" b="0" u="none" strike="noStrike">
                <a:solidFill>
                  <a:srgbClr val="2B2331"/>
                </a:solidFill>
                <a:effectLst/>
                <a:uFillTx/>
                <a:latin typeface="Calibri"/>
                <a:ea typeface="Calibri"/>
              </a:rPr>
              <a:t>Built on toolkits: VG toolkit, PGGB, PanTools, wfmash</a:t>
            </a:r>
            <a:endParaRPr lang="de-DE" sz="1200" b="0" u="none" strike="noStrike">
              <a:solidFill>
                <a:srgbClr val="000000"/>
              </a:solidFill>
              <a:effectLst/>
              <a:uFillTx/>
              <a:latin typeface="Arial"/>
            </a:endParaRPr>
          </a:p>
        </p:txBody>
      </p:sp>
      <p:sp>
        <p:nvSpPr>
          <p:cNvPr id="165" name="Text 11"/>
          <p:cNvSpPr/>
          <p:nvPr/>
        </p:nvSpPr>
        <p:spPr>
          <a:xfrm>
            <a:off x="567000" y="6455520"/>
            <a:ext cx="110574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50" b="0" i="1" u="none" strike="noStrike">
                <a:solidFill>
                  <a:srgbClr val="726A7A"/>
                </a:solidFill>
                <a:effectLst/>
                <a:uFillTx/>
                <a:latin typeface="Calibri"/>
                <a:ea typeface="Calibri"/>
              </a:rPr>
              <a:t>Tube map: Beyer et al. (2019), Bioinformatics 35:5318 (CC-BY 4.0). Bandage: Wick et al. (2015), Bioinformatics 31:3350 (CC-BY). Graph-tool list per the E-PAN white paper.</a:t>
            </a:r>
            <a:endParaRPr lang="de-DE" sz="950" b="0" u="none" strike="noStrike">
              <a:solidFill>
                <a:srgbClr val="000000"/>
              </a:solidFill>
              <a:effectLst/>
              <a:uFillTx/>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6" name="Shape 0"/>
          <p:cNvSpPr/>
          <p:nvPr/>
        </p:nvSpPr>
        <p:spPr>
          <a:xfrm>
            <a:off x="567000" y="457200"/>
            <a:ext cx="155160" cy="155160"/>
          </a:xfrm>
          <a:prstGeom prst="ellipse">
            <a:avLst/>
          </a:prstGeom>
          <a:solidFill>
            <a:srgbClr val="E860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67" name="Text 1"/>
          <p:cNvSpPr/>
          <p:nvPr/>
        </p:nvSpPr>
        <p:spPr>
          <a:xfrm>
            <a:off x="822960" y="384120"/>
            <a:ext cx="10801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201">
                <a:solidFill>
                  <a:srgbClr val="5E2A75"/>
                </a:solidFill>
                <a:effectLst/>
                <a:uFillTx/>
                <a:latin typeface="Calibri"/>
                <a:ea typeface="Calibri"/>
              </a:rPr>
              <a:t>SHARE</a:t>
            </a:r>
            <a:endParaRPr lang="de-DE" sz="1200" b="0" u="none" strike="noStrike">
              <a:solidFill>
                <a:srgbClr val="000000"/>
              </a:solidFill>
              <a:effectLst/>
              <a:uFillTx/>
              <a:latin typeface="Arial"/>
            </a:endParaRPr>
          </a:p>
        </p:txBody>
      </p:sp>
      <p:sp>
        <p:nvSpPr>
          <p:cNvPr id="168" name="Text 2"/>
          <p:cNvSpPr/>
          <p:nvPr/>
        </p:nvSpPr>
        <p:spPr>
          <a:xfrm>
            <a:off x="567000" y="676800"/>
            <a:ext cx="110574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2B2331"/>
                </a:solidFill>
                <a:effectLst/>
                <a:uFillTx/>
                <a:latin typeface="Cambria"/>
                <a:ea typeface="Cambria"/>
              </a:rPr>
              <a:t>What to release — and in which format</a:t>
            </a:r>
            <a:endParaRPr lang="de-DE" sz="2900" b="0" u="none" strike="noStrike">
              <a:solidFill>
                <a:srgbClr val="000000"/>
              </a:solidFill>
              <a:effectLst/>
              <a:uFillTx/>
              <a:latin typeface="Arial"/>
            </a:endParaRPr>
          </a:p>
        </p:txBody>
      </p:sp>
      <p:graphicFrame>
        <p:nvGraphicFramePr>
          <p:cNvPr id="169" name="Table 0"/>
          <p:cNvGraphicFramePr/>
          <p:nvPr/>
        </p:nvGraphicFramePr>
        <p:xfrm>
          <a:off x="567000" y="1645920"/>
          <a:ext cx="11057760" cy="3126960"/>
        </p:xfrm>
        <a:graphic>
          <a:graphicData uri="http://schemas.openxmlformats.org/drawingml/2006/table">
            <a:tbl>
              <a:tblPr/>
              <a:tblGrid>
                <a:gridCol w="23774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6302880">
                  <a:extLst>
                    <a:ext uri="{9D8B030D-6E8A-4147-A177-3AD203B41FA5}">
                      <a16:colId xmlns:a16="http://schemas.microsoft.com/office/drawing/2014/main" val="20002"/>
                    </a:ext>
                  </a:extLst>
                </a:gridCol>
              </a:tblGrid>
              <a:tr h="383760">
                <a:tc>
                  <a:txBody>
                    <a:bodyPr/>
                    <a:lstStyle/>
                    <a:p>
                      <a:pPr defTabSz="914400">
                        <a:lnSpc>
                          <a:spcPct val="100000"/>
                        </a:lnSpc>
                        <a:tabLst>
                          <a:tab pos="0" algn="l"/>
                        </a:tabLst>
                      </a:pPr>
                      <a:r>
                        <a:rPr lang="en-US" sz="1250" b="1" u="none" strike="noStrike">
                          <a:solidFill>
                            <a:srgbClr val="FFFFFF"/>
                          </a:solidFill>
                          <a:effectLst/>
                          <a:uFillTx/>
                          <a:latin typeface="Calibri"/>
                          <a:ea typeface="Calibri"/>
                        </a:rPr>
                        <a:t>Layer</a:t>
                      </a:r>
                      <a:endParaRPr lang="de-DE" sz="1250" b="0" u="none" strike="noStrike">
                        <a:solidFill>
                          <a:srgbClr val="FFFFFF"/>
                        </a:solidFill>
                        <a:effectLst/>
                        <a:uFillTx/>
                        <a:latin typeface="Arial"/>
                      </a:endParaRPr>
                    </a:p>
                  </a:txBody>
                  <a:tcPr anchor="ctr">
                    <a:lnL w="6480">
                      <a:solidFill>
                        <a:srgbClr val="E2D6EC"/>
                      </a:solidFill>
                      <a:prstDash val="solid"/>
                    </a:lnL>
                    <a:lnR w="6480">
                      <a:solidFill>
                        <a:srgbClr val="E2D6EC"/>
                      </a:solidFill>
                      <a:prstDash val="solid"/>
                    </a:lnR>
                    <a:lnT w="6480">
                      <a:solidFill>
                        <a:srgbClr val="E2D6EC"/>
                      </a:solidFill>
                      <a:prstDash val="solid"/>
                    </a:lnT>
                    <a:lnB w="6480">
                      <a:solidFill>
                        <a:srgbClr val="E2D6EC"/>
                      </a:solidFill>
                      <a:prstDash val="solid"/>
                    </a:lnB>
                    <a:solidFill>
                      <a:srgbClr val="5E2A75"/>
                    </a:solidFill>
                  </a:tcPr>
                </a:tc>
                <a:tc>
                  <a:txBody>
                    <a:bodyPr/>
                    <a:lstStyle/>
                    <a:p>
                      <a:pPr defTabSz="914400">
                        <a:lnSpc>
                          <a:spcPct val="100000"/>
                        </a:lnSpc>
                        <a:tabLst>
                          <a:tab pos="0" algn="l"/>
                        </a:tabLst>
                      </a:pPr>
                      <a:r>
                        <a:rPr lang="en-US" sz="1250" b="1" u="none" strike="noStrike">
                          <a:solidFill>
                            <a:srgbClr val="FFFFFF"/>
                          </a:solidFill>
                          <a:effectLst/>
                          <a:uFillTx/>
                          <a:latin typeface="Calibri"/>
                          <a:ea typeface="Calibri"/>
                        </a:rPr>
                        <a:t>Format</a:t>
                      </a:r>
                      <a:endParaRPr lang="de-DE" sz="1250" b="0" u="none" strike="noStrike">
                        <a:solidFill>
                          <a:srgbClr val="FFFFFF"/>
                        </a:solidFill>
                        <a:effectLst/>
                        <a:uFillTx/>
                        <a:latin typeface="Arial"/>
                      </a:endParaRPr>
                    </a:p>
                  </a:txBody>
                  <a:tcPr anchor="ctr">
                    <a:lnL w="6480">
                      <a:solidFill>
                        <a:srgbClr val="E2D6EC"/>
                      </a:solidFill>
                      <a:prstDash val="solid"/>
                    </a:lnL>
                    <a:lnR w="6480">
                      <a:solidFill>
                        <a:srgbClr val="E2D6EC"/>
                      </a:solidFill>
                      <a:prstDash val="solid"/>
                    </a:lnR>
                    <a:lnT w="6480">
                      <a:solidFill>
                        <a:srgbClr val="E2D6EC"/>
                      </a:solidFill>
                      <a:prstDash val="solid"/>
                    </a:lnT>
                    <a:lnB w="6480">
                      <a:solidFill>
                        <a:srgbClr val="E2D6EC"/>
                      </a:solidFill>
                      <a:prstDash val="solid"/>
                    </a:lnB>
                    <a:solidFill>
                      <a:srgbClr val="5E2A75"/>
                    </a:solidFill>
                  </a:tcPr>
                </a:tc>
                <a:tc>
                  <a:txBody>
                    <a:bodyPr/>
                    <a:lstStyle/>
                    <a:p>
                      <a:pPr defTabSz="914400">
                        <a:lnSpc>
                          <a:spcPct val="100000"/>
                        </a:lnSpc>
                        <a:tabLst>
                          <a:tab pos="0" algn="l"/>
                        </a:tabLst>
                      </a:pPr>
                      <a:r>
                        <a:rPr lang="en-US" sz="1250" b="1" u="none" strike="noStrike">
                          <a:solidFill>
                            <a:srgbClr val="FFFFFF"/>
                          </a:solidFill>
                          <a:effectLst/>
                          <a:uFillTx/>
                          <a:latin typeface="Calibri"/>
                          <a:ea typeface="Calibri"/>
                        </a:rPr>
                        <a:t>Holds</a:t>
                      </a:r>
                      <a:endParaRPr lang="de-DE" sz="1250" b="0" u="none" strike="noStrike">
                        <a:solidFill>
                          <a:srgbClr val="FFFFFF"/>
                        </a:solidFill>
                        <a:effectLst/>
                        <a:uFillTx/>
                        <a:latin typeface="Arial"/>
                      </a:endParaRPr>
                    </a:p>
                  </a:txBody>
                  <a:tcPr anchor="ctr">
                    <a:lnL w="6480">
                      <a:solidFill>
                        <a:srgbClr val="E2D6EC"/>
                      </a:solidFill>
                      <a:prstDash val="solid"/>
                    </a:lnL>
                    <a:lnR w="6480">
                      <a:solidFill>
                        <a:srgbClr val="E2D6EC"/>
                      </a:solidFill>
                      <a:prstDash val="solid"/>
                    </a:lnR>
                    <a:lnT w="6480">
                      <a:solidFill>
                        <a:srgbClr val="E2D6EC"/>
                      </a:solidFill>
                      <a:prstDash val="solid"/>
                    </a:lnT>
                    <a:lnB w="6480">
                      <a:solidFill>
                        <a:srgbClr val="E2D6EC"/>
                      </a:solidFill>
                      <a:prstDash val="solid"/>
                    </a:lnB>
                    <a:solidFill>
                      <a:srgbClr val="5E2A75"/>
                    </a:solidFill>
                  </a:tcPr>
                </a:tc>
                <a:extLst>
                  <a:ext uri="{0D108BD9-81ED-4DB2-BD59-A6C34878D82A}">
                    <a16:rowId xmlns:a16="http://schemas.microsoft.com/office/drawing/2014/main" val="10000"/>
                  </a:ext>
                </a:extLst>
              </a:tr>
              <a:tr h="457200">
                <a:tc>
                  <a:txBody>
                    <a:bodyPr/>
                    <a:lstStyle/>
                    <a:p>
                      <a:pPr defTabSz="914400">
                        <a:lnSpc>
                          <a:spcPct val="100000"/>
                        </a:lnSpc>
                        <a:tabLst>
                          <a:tab pos="0" algn="l"/>
                        </a:tabLst>
                      </a:pPr>
                      <a:r>
                        <a:rPr lang="en-US" sz="1250" b="0" u="none" strike="noStrike">
                          <a:solidFill>
                            <a:srgbClr val="2B2331"/>
                          </a:solidFill>
                          <a:effectLst/>
                          <a:uFillTx/>
                          <a:latin typeface="Calibri"/>
                          <a:ea typeface="Calibri"/>
                        </a:rPr>
                        <a:t>Assemblies</a:t>
                      </a:r>
                      <a:endParaRPr lang="de-DE" sz="1250" b="0" u="none" strike="noStrike">
                        <a:solidFill>
                          <a:srgbClr val="000000"/>
                        </a:solidFill>
                        <a:effectLst/>
                        <a:uFillTx/>
                        <a:latin typeface="Arial"/>
                      </a:endParaRPr>
                    </a:p>
                  </a:txBody>
                  <a:tcPr anchor="ctr">
                    <a:lnL w="6480">
                      <a:solidFill>
                        <a:srgbClr val="E2D6EC"/>
                      </a:solidFill>
                      <a:prstDash val="solid"/>
                    </a:lnL>
                    <a:lnR w="6480">
                      <a:solidFill>
                        <a:srgbClr val="E2D6EC"/>
                      </a:solidFill>
                      <a:prstDash val="solid"/>
                    </a:lnR>
                    <a:lnT w="6480">
                      <a:solidFill>
                        <a:srgbClr val="E2D6EC"/>
                      </a:solidFill>
                      <a:prstDash val="solid"/>
                    </a:lnT>
                    <a:lnB w="6480">
                      <a:solidFill>
                        <a:srgbClr val="E2D6EC"/>
                      </a:solidFill>
                      <a:prstDash val="solid"/>
                    </a:lnB>
                    <a:solidFill>
                      <a:srgbClr val="FFFFFF"/>
                    </a:solidFill>
                  </a:tcPr>
                </a:tc>
                <a:tc>
                  <a:txBody>
                    <a:bodyPr/>
                    <a:lstStyle/>
                    <a:p>
                      <a:pPr defTabSz="914400">
                        <a:lnSpc>
                          <a:spcPct val="100000"/>
                        </a:lnSpc>
                        <a:tabLst>
                          <a:tab pos="0" algn="l"/>
                        </a:tabLst>
                      </a:pPr>
                      <a:r>
                        <a:rPr lang="en-US" sz="1250" b="0" u="none" strike="noStrike">
                          <a:solidFill>
                            <a:srgbClr val="2B2331"/>
                          </a:solidFill>
                          <a:effectLst/>
                          <a:uFillTx/>
                          <a:latin typeface="Calibri"/>
                          <a:ea typeface="Calibri"/>
                        </a:rPr>
                        <a:t>FASTA</a:t>
                      </a:r>
                      <a:endParaRPr lang="de-DE" sz="1250" b="0" u="none" strike="noStrike">
                        <a:solidFill>
                          <a:srgbClr val="000000"/>
                        </a:solidFill>
                        <a:effectLst/>
                        <a:uFillTx/>
                        <a:latin typeface="Arial"/>
                      </a:endParaRPr>
                    </a:p>
                  </a:txBody>
                  <a:tcPr anchor="ctr">
                    <a:lnL w="6480">
                      <a:solidFill>
                        <a:srgbClr val="E2D6EC"/>
                      </a:solidFill>
                      <a:prstDash val="solid"/>
                    </a:lnL>
                    <a:lnR w="6480">
                      <a:solidFill>
                        <a:srgbClr val="E2D6EC"/>
                      </a:solidFill>
                      <a:prstDash val="solid"/>
                    </a:lnR>
                    <a:lnT w="6480">
                      <a:solidFill>
                        <a:srgbClr val="E2D6EC"/>
                      </a:solidFill>
                      <a:prstDash val="solid"/>
                    </a:lnT>
                    <a:lnB w="6480">
                      <a:solidFill>
                        <a:srgbClr val="E2D6EC"/>
                      </a:solidFill>
                      <a:prstDash val="solid"/>
                    </a:lnB>
                    <a:solidFill>
                      <a:srgbClr val="FFFFFF"/>
                    </a:solidFill>
                  </a:tcPr>
                </a:tc>
                <a:tc>
                  <a:txBody>
                    <a:bodyPr/>
                    <a:lstStyle/>
                    <a:p>
                      <a:pPr defTabSz="914400">
                        <a:lnSpc>
                          <a:spcPct val="100000"/>
                        </a:lnSpc>
                        <a:tabLst>
                          <a:tab pos="0" algn="l"/>
                        </a:tabLst>
                      </a:pPr>
                      <a:r>
                        <a:rPr lang="en-US" sz="1250" b="0" u="none" strike="noStrike">
                          <a:solidFill>
                            <a:srgbClr val="2B2331"/>
                          </a:solidFill>
                          <a:effectLst/>
                          <a:uFillTx/>
                          <a:latin typeface="Calibri"/>
                          <a:ea typeface="Calibri"/>
                        </a:rPr>
                        <a:t>sequences; headers = unique IDs (e.g. &gt;chr01)</a:t>
                      </a:r>
                      <a:endParaRPr lang="de-DE" sz="1250" b="0" u="none" strike="noStrike">
                        <a:solidFill>
                          <a:srgbClr val="000000"/>
                        </a:solidFill>
                        <a:effectLst/>
                        <a:uFillTx/>
                        <a:latin typeface="Arial"/>
                      </a:endParaRPr>
                    </a:p>
                  </a:txBody>
                  <a:tcPr anchor="ctr">
                    <a:lnL w="6480">
                      <a:solidFill>
                        <a:srgbClr val="E2D6EC"/>
                      </a:solidFill>
                      <a:prstDash val="solid"/>
                    </a:lnL>
                    <a:lnR w="6480">
                      <a:solidFill>
                        <a:srgbClr val="E2D6EC"/>
                      </a:solidFill>
                      <a:prstDash val="solid"/>
                    </a:lnR>
                    <a:lnT w="6480">
                      <a:solidFill>
                        <a:srgbClr val="E2D6EC"/>
                      </a:solidFill>
                      <a:prstDash val="solid"/>
                    </a:lnT>
                    <a:lnB w="6480">
                      <a:solidFill>
                        <a:srgbClr val="E2D6EC"/>
                      </a:solidFill>
                      <a:prstDash val="solid"/>
                    </a:lnB>
                    <a:solidFill>
                      <a:srgbClr val="FFFFFF"/>
                    </a:solidFill>
                  </a:tcPr>
                </a:tc>
                <a:extLst>
                  <a:ext uri="{0D108BD9-81ED-4DB2-BD59-A6C34878D82A}">
                    <a16:rowId xmlns:a16="http://schemas.microsoft.com/office/drawing/2014/main" val="10001"/>
                  </a:ext>
                </a:extLst>
              </a:tr>
              <a:tr h="457200">
                <a:tc>
                  <a:txBody>
                    <a:bodyPr/>
                    <a:lstStyle/>
                    <a:p>
                      <a:pPr defTabSz="914400">
                        <a:lnSpc>
                          <a:spcPct val="100000"/>
                        </a:lnSpc>
                        <a:tabLst>
                          <a:tab pos="0" algn="l"/>
                        </a:tabLst>
                      </a:pPr>
                      <a:r>
                        <a:rPr lang="en-US" sz="1250" b="0" u="none" strike="noStrike">
                          <a:solidFill>
                            <a:srgbClr val="2B2331"/>
                          </a:solidFill>
                          <a:effectLst/>
                          <a:uFillTx/>
                          <a:latin typeface="Calibri"/>
                          <a:ea typeface="Calibri"/>
                        </a:rPr>
                        <a:t>Annotation</a:t>
                      </a:r>
                      <a:endParaRPr lang="de-DE" sz="1250" b="0" u="none" strike="noStrike">
                        <a:solidFill>
                          <a:srgbClr val="000000"/>
                        </a:solidFill>
                        <a:effectLst/>
                        <a:uFillTx/>
                        <a:latin typeface="Arial"/>
                      </a:endParaRPr>
                    </a:p>
                  </a:txBody>
                  <a:tcPr anchor="ctr">
                    <a:lnL w="6480">
                      <a:solidFill>
                        <a:srgbClr val="E2D6EC"/>
                      </a:solidFill>
                      <a:prstDash val="solid"/>
                    </a:lnL>
                    <a:lnR w="6480">
                      <a:solidFill>
                        <a:srgbClr val="E2D6EC"/>
                      </a:solidFill>
                      <a:prstDash val="solid"/>
                    </a:lnR>
                    <a:lnT w="6480">
                      <a:solidFill>
                        <a:srgbClr val="E2D6EC"/>
                      </a:solidFill>
                      <a:prstDash val="solid"/>
                    </a:lnT>
                    <a:lnB w="6480">
                      <a:solidFill>
                        <a:srgbClr val="E2D6EC"/>
                      </a:solidFill>
                      <a:prstDash val="solid"/>
                    </a:lnB>
                    <a:solidFill>
                      <a:srgbClr val="FFFFFF"/>
                    </a:solidFill>
                  </a:tcPr>
                </a:tc>
                <a:tc>
                  <a:txBody>
                    <a:bodyPr/>
                    <a:lstStyle/>
                    <a:p>
                      <a:pPr defTabSz="914400">
                        <a:lnSpc>
                          <a:spcPct val="100000"/>
                        </a:lnSpc>
                        <a:tabLst>
                          <a:tab pos="0" algn="l"/>
                        </a:tabLst>
                      </a:pPr>
                      <a:r>
                        <a:rPr lang="en-US" sz="1250" b="0" u="none" strike="noStrike">
                          <a:solidFill>
                            <a:srgbClr val="2B2331"/>
                          </a:solidFill>
                          <a:effectLst/>
                          <a:uFillTx/>
                          <a:latin typeface="Calibri"/>
                          <a:ea typeface="Calibri"/>
                        </a:rPr>
                        <a:t>GFF3 / GTF</a:t>
                      </a:r>
                      <a:endParaRPr lang="de-DE" sz="1250" b="0" u="none" strike="noStrike">
                        <a:solidFill>
                          <a:srgbClr val="000000"/>
                        </a:solidFill>
                        <a:effectLst/>
                        <a:uFillTx/>
                        <a:latin typeface="Arial"/>
                      </a:endParaRPr>
                    </a:p>
                  </a:txBody>
                  <a:tcPr anchor="ctr">
                    <a:lnL w="6480">
                      <a:solidFill>
                        <a:srgbClr val="E2D6EC"/>
                      </a:solidFill>
                      <a:prstDash val="solid"/>
                    </a:lnL>
                    <a:lnR w="6480">
                      <a:solidFill>
                        <a:srgbClr val="E2D6EC"/>
                      </a:solidFill>
                      <a:prstDash val="solid"/>
                    </a:lnR>
                    <a:lnT w="6480">
                      <a:solidFill>
                        <a:srgbClr val="E2D6EC"/>
                      </a:solidFill>
                      <a:prstDash val="solid"/>
                    </a:lnT>
                    <a:lnB w="6480">
                      <a:solidFill>
                        <a:srgbClr val="E2D6EC"/>
                      </a:solidFill>
                      <a:prstDash val="solid"/>
                    </a:lnB>
                    <a:solidFill>
                      <a:srgbClr val="FFFFFF"/>
                    </a:solidFill>
                  </a:tcPr>
                </a:tc>
                <a:tc>
                  <a:txBody>
                    <a:bodyPr/>
                    <a:lstStyle/>
                    <a:p>
                      <a:pPr defTabSz="914400">
                        <a:lnSpc>
                          <a:spcPct val="100000"/>
                        </a:lnSpc>
                        <a:tabLst>
                          <a:tab pos="0" algn="l"/>
                        </a:tabLst>
                      </a:pPr>
                      <a:r>
                        <a:rPr lang="en-US" sz="1250" b="0" u="none" strike="noStrike">
                          <a:solidFill>
                            <a:srgbClr val="2B2331"/>
                          </a:solidFill>
                          <a:effectLst/>
                          <a:uFillTx/>
                          <a:latin typeface="Calibri"/>
                          <a:ea typeface="Calibri"/>
                        </a:rPr>
                        <a:t>gene/feature coordinates — Sequence-Ontology compliant</a:t>
                      </a:r>
                      <a:endParaRPr lang="de-DE" sz="1250" b="0" u="none" strike="noStrike">
                        <a:solidFill>
                          <a:srgbClr val="000000"/>
                        </a:solidFill>
                        <a:effectLst/>
                        <a:uFillTx/>
                        <a:latin typeface="Arial"/>
                      </a:endParaRPr>
                    </a:p>
                  </a:txBody>
                  <a:tcPr anchor="ctr">
                    <a:lnL w="6480">
                      <a:solidFill>
                        <a:srgbClr val="E2D6EC"/>
                      </a:solidFill>
                      <a:prstDash val="solid"/>
                    </a:lnL>
                    <a:lnR w="6480">
                      <a:solidFill>
                        <a:srgbClr val="E2D6EC"/>
                      </a:solidFill>
                      <a:prstDash val="solid"/>
                    </a:lnR>
                    <a:lnT w="6480">
                      <a:solidFill>
                        <a:srgbClr val="E2D6EC"/>
                      </a:solidFill>
                      <a:prstDash val="solid"/>
                    </a:lnT>
                    <a:lnB w="6480">
                      <a:solidFill>
                        <a:srgbClr val="E2D6EC"/>
                      </a:solidFill>
                      <a:prstDash val="solid"/>
                    </a:lnB>
                    <a:solidFill>
                      <a:srgbClr val="FFFFFF"/>
                    </a:solidFill>
                  </a:tcPr>
                </a:tc>
                <a:extLst>
                  <a:ext uri="{0D108BD9-81ED-4DB2-BD59-A6C34878D82A}">
                    <a16:rowId xmlns:a16="http://schemas.microsoft.com/office/drawing/2014/main" val="10002"/>
                  </a:ext>
                </a:extLst>
              </a:tr>
              <a:tr h="457200">
                <a:tc>
                  <a:txBody>
                    <a:bodyPr/>
                    <a:lstStyle/>
                    <a:p>
                      <a:pPr defTabSz="914400">
                        <a:lnSpc>
                          <a:spcPct val="100000"/>
                        </a:lnSpc>
                        <a:tabLst>
                          <a:tab pos="0" algn="l"/>
                        </a:tabLst>
                      </a:pPr>
                      <a:r>
                        <a:rPr lang="en-US" sz="1250" b="0" u="none" strike="noStrike">
                          <a:solidFill>
                            <a:srgbClr val="2B2331"/>
                          </a:solidFill>
                          <a:effectLst/>
                          <a:uFillTx/>
                          <a:latin typeface="Calibri"/>
                          <a:ea typeface="Calibri"/>
                        </a:rPr>
                        <a:t>Variants</a:t>
                      </a:r>
                      <a:endParaRPr lang="de-DE" sz="1250" b="0" u="none" strike="noStrike">
                        <a:solidFill>
                          <a:srgbClr val="000000"/>
                        </a:solidFill>
                        <a:effectLst/>
                        <a:uFillTx/>
                        <a:latin typeface="Arial"/>
                      </a:endParaRPr>
                    </a:p>
                  </a:txBody>
                  <a:tcPr anchor="ctr">
                    <a:lnL w="6480">
                      <a:solidFill>
                        <a:srgbClr val="E2D6EC"/>
                      </a:solidFill>
                      <a:prstDash val="solid"/>
                    </a:lnL>
                    <a:lnR w="6480">
                      <a:solidFill>
                        <a:srgbClr val="E2D6EC"/>
                      </a:solidFill>
                      <a:prstDash val="solid"/>
                    </a:lnR>
                    <a:lnT w="6480">
                      <a:solidFill>
                        <a:srgbClr val="E2D6EC"/>
                      </a:solidFill>
                      <a:prstDash val="solid"/>
                    </a:lnT>
                    <a:lnB w="6480">
                      <a:solidFill>
                        <a:srgbClr val="E2D6EC"/>
                      </a:solidFill>
                      <a:prstDash val="solid"/>
                    </a:lnB>
                    <a:solidFill>
                      <a:srgbClr val="FFFFFF"/>
                    </a:solidFill>
                  </a:tcPr>
                </a:tc>
                <a:tc>
                  <a:txBody>
                    <a:bodyPr/>
                    <a:lstStyle/>
                    <a:p>
                      <a:pPr defTabSz="914400">
                        <a:lnSpc>
                          <a:spcPct val="100000"/>
                        </a:lnSpc>
                        <a:tabLst>
                          <a:tab pos="0" algn="l"/>
                        </a:tabLst>
                      </a:pPr>
                      <a:r>
                        <a:rPr lang="en-US" sz="1250" b="0" u="none" strike="noStrike">
                          <a:solidFill>
                            <a:srgbClr val="2B2331"/>
                          </a:solidFill>
                          <a:effectLst/>
                          <a:uFillTx/>
                          <a:latin typeface="Calibri"/>
                          <a:ea typeface="Calibri"/>
                        </a:rPr>
                        <a:t>VCF / BCF</a:t>
                      </a:r>
                      <a:endParaRPr lang="de-DE" sz="1250" b="0" u="none" strike="noStrike">
                        <a:solidFill>
                          <a:srgbClr val="000000"/>
                        </a:solidFill>
                        <a:effectLst/>
                        <a:uFillTx/>
                        <a:latin typeface="Arial"/>
                      </a:endParaRPr>
                    </a:p>
                  </a:txBody>
                  <a:tcPr anchor="ctr">
                    <a:lnL w="6480">
                      <a:solidFill>
                        <a:srgbClr val="E2D6EC"/>
                      </a:solidFill>
                      <a:prstDash val="solid"/>
                    </a:lnL>
                    <a:lnR w="6480">
                      <a:solidFill>
                        <a:srgbClr val="E2D6EC"/>
                      </a:solidFill>
                      <a:prstDash val="solid"/>
                    </a:lnR>
                    <a:lnT w="6480">
                      <a:solidFill>
                        <a:srgbClr val="E2D6EC"/>
                      </a:solidFill>
                      <a:prstDash val="solid"/>
                    </a:lnT>
                    <a:lnB w="6480">
                      <a:solidFill>
                        <a:srgbClr val="E2D6EC"/>
                      </a:solidFill>
                      <a:prstDash val="solid"/>
                    </a:lnB>
                    <a:solidFill>
                      <a:srgbClr val="FFFFFF"/>
                    </a:solidFill>
                  </a:tcPr>
                </a:tc>
                <a:tc>
                  <a:txBody>
                    <a:bodyPr/>
                    <a:lstStyle/>
                    <a:p>
                      <a:pPr defTabSz="914400">
                        <a:lnSpc>
                          <a:spcPct val="100000"/>
                        </a:lnSpc>
                        <a:tabLst>
                          <a:tab pos="0" algn="l"/>
                        </a:tabLst>
                      </a:pPr>
                      <a:r>
                        <a:rPr lang="en-US" sz="1250" b="0" u="none" strike="noStrike">
                          <a:solidFill>
                            <a:srgbClr val="2B2331"/>
                          </a:solidFill>
                          <a:effectLst/>
                          <a:uFillTx/>
                          <a:latin typeface="Calibri"/>
                          <a:ea typeface="Calibri"/>
                        </a:rPr>
                        <a:t>SNPs, indels &amp; structural variants</a:t>
                      </a:r>
                      <a:endParaRPr lang="de-DE" sz="1250" b="0" u="none" strike="noStrike">
                        <a:solidFill>
                          <a:srgbClr val="000000"/>
                        </a:solidFill>
                        <a:effectLst/>
                        <a:uFillTx/>
                        <a:latin typeface="Arial"/>
                      </a:endParaRPr>
                    </a:p>
                  </a:txBody>
                  <a:tcPr anchor="ctr">
                    <a:lnL w="6480">
                      <a:solidFill>
                        <a:srgbClr val="E2D6EC"/>
                      </a:solidFill>
                      <a:prstDash val="solid"/>
                    </a:lnL>
                    <a:lnR w="6480">
                      <a:solidFill>
                        <a:srgbClr val="E2D6EC"/>
                      </a:solidFill>
                      <a:prstDash val="solid"/>
                    </a:lnR>
                    <a:lnT w="6480">
                      <a:solidFill>
                        <a:srgbClr val="E2D6EC"/>
                      </a:solidFill>
                      <a:prstDash val="solid"/>
                    </a:lnT>
                    <a:lnB w="6480">
                      <a:solidFill>
                        <a:srgbClr val="E2D6EC"/>
                      </a:solidFill>
                      <a:prstDash val="solid"/>
                    </a:lnB>
                    <a:solidFill>
                      <a:srgbClr val="FFFFFF"/>
                    </a:solidFill>
                  </a:tcPr>
                </a:tc>
                <a:extLst>
                  <a:ext uri="{0D108BD9-81ED-4DB2-BD59-A6C34878D82A}">
                    <a16:rowId xmlns:a16="http://schemas.microsoft.com/office/drawing/2014/main" val="10003"/>
                  </a:ext>
                </a:extLst>
              </a:tr>
              <a:tr h="457200">
                <a:tc>
                  <a:txBody>
                    <a:bodyPr/>
                    <a:lstStyle/>
                    <a:p>
                      <a:pPr defTabSz="914400">
                        <a:lnSpc>
                          <a:spcPct val="100000"/>
                        </a:lnSpc>
                        <a:tabLst>
                          <a:tab pos="0" algn="l"/>
                        </a:tabLst>
                      </a:pPr>
                      <a:r>
                        <a:rPr lang="en-US" sz="1250" b="0" u="none" strike="noStrike">
                          <a:solidFill>
                            <a:srgbClr val="2B2331"/>
                          </a:solidFill>
                          <a:effectLst/>
                          <a:uFillTx/>
                          <a:latin typeface="Calibri"/>
                          <a:ea typeface="Calibri"/>
                        </a:rPr>
                        <a:t>Orthogroups</a:t>
                      </a:r>
                      <a:endParaRPr lang="de-DE" sz="1250" b="0" u="none" strike="noStrike">
                        <a:solidFill>
                          <a:srgbClr val="000000"/>
                        </a:solidFill>
                        <a:effectLst/>
                        <a:uFillTx/>
                        <a:latin typeface="Arial"/>
                      </a:endParaRPr>
                    </a:p>
                  </a:txBody>
                  <a:tcPr anchor="ctr">
                    <a:lnL w="6480">
                      <a:solidFill>
                        <a:srgbClr val="E2D6EC"/>
                      </a:solidFill>
                      <a:prstDash val="solid"/>
                    </a:lnL>
                    <a:lnR w="6480">
                      <a:solidFill>
                        <a:srgbClr val="E2D6EC"/>
                      </a:solidFill>
                      <a:prstDash val="solid"/>
                    </a:lnR>
                    <a:lnT w="6480">
                      <a:solidFill>
                        <a:srgbClr val="E2D6EC"/>
                      </a:solidFill>
                      <a:prstDash val="solid"/>
                    </a:lnT>
                    <a:lnB w="6480">
                      <a:solidFill>
                        <a:srgbClr val="E2D6EC"/>
                      </a:solidFill>
                      <a:prstDash val="solid"/>
                    </a:lnB>
                    <a:solidFill>
                      <a:srgbClr val="FFFFFF"/>
                    </a:solidFill>
                  </a:tcPr>
                </a:tc>
                <a:tc>
                  <a:txBody>
                    <a:bodyPr/>
                    <a:lstStyle/>
                    <a:p>
                      <a:pPr defTabSz="914400">
                        <a:lnSpc>
                          <a:spcPct val="100000"/>
                        </a:lnSpc>
                        <a:tabLst>
                          <a:tab pos="0" algn="l"/>
                        </a:tabLst>
                      </a:pPr>
                      <a:r>
                        <a:rPr lang="en-US" sz="1250" b="0" u="none" strike="noStrike">
                          <a:solidFill>
                            <a:srgbClr val="2B2331"/>
                          </a:solidFill>
                          <a:effectLst/>
                          <a:uFillTx/>
                          <a:latin typeface="Calibri"/>
                          <a:ea typeface="Calibri"/>
                        </a:rPr>
                        <a:t>TSV</a:t>
                      </a:r>
                      <a:endParaRPr lang="de-DE" sz="1250" b="0" u="none" strike="noStrike">
                        <a:solidFill>
                          <a:srgbClr val="000000"/>
                        </a:solidFill>
                        <a:effectLst/>
                        <a:uFillTx/>
                        <a:latin typeface="Arial"/>
                      </a:endParaRPr>
                    </a:p>
                  </a:txBody>
                  <a:tcPr anchor="ctr">
                    <a:lnL w="6480">
                      <a:solidFill>
                        <a:srgbClr val="E2D6EC"/>
                      </a:solidFill>
                      <a:prstDash val="solid"/>
                    </a:lnL>
                    <a:lnR w="6480">
                      <a:solidFill>
                        <a:srgbClr val="E2D6EC"/>
                      </a:solidFill>
                      <a:prstDash val="solid"/>
                    </a:lnR>
                    <a:lnT w="6480">
                      <a:solidFill>
                        <a:srgbClr val="E2D6EC"/>
                      </a:solidFill>
                      <a:prstDash val="solid"/>
                    </a:lnT>
                    <a:lnB w="6480">
                      <a:solidFill>
                        <a:srgbClr val="E2D6EC"/>
                      </a:solidFill>
                      <a:prstDash val="solid"/>
                    </a:lnB>
                    <a:solidFill>
                      <a:srgbClr val="FFFFFF"/>
                    </a:solidFill>
                  </a:tcPr>
                </a:tc>
                <a:tc>
                  <a:txBody>
                    <a:bodyPr/>
                    <a:lstStyle/>
                    <a:p>
                      <a:pPr defTabSz="914400">
                        <a:lnSpc>
                          <a:spcPct val="100000"/>
                        </a:lnSpc>
                        <a:tabLst>
                          <a:tab pos="0" algn="l"/>
                        </a:tabLst>
                      </a:pPr>
                      <a:r>
                        <a:rPr lang="en-US" sz="1250" b="0" u="none" strike="noStrike">
                          <a:solidFill>
                            <a:srgbClr val="2B2331"/>
                          </a:solidFill>
                          <a:effectLst/>
                          <a:uFillTx/>
                          <a:latin typeface="Calibri"/>
                          <a:ea typeface="Calibri"/>
                        </a:rPr>
                        <a:t>cluster ID + member genes</a:t>
                      </a:r>
                      <a:endParaRPr lang="de-DE" sz="1250" b="0" u="none" strike="noStrike">
                        <a:solidFill>
                          <a:srgbClr val="000000"/>
                        </a:solidFill>
                        <a:effectLst/>
                        <a:uFillTx/>
                        <a:latin typeface="Arial"/>
                      </a:endParaRPr>
                    </a:p>
                  </a:txBody>
                  <a:tcPr anchor="ctr">
                    <a:lnL w="6480">
                      <a:solidFill>
                        <a:srgbClr val="E2D6EC"/>
                      </a:solidFill>
                      <a:prstDash val="solid"/>
                    </a:lnL>
                    <a:lnR w="6480">
                      <a:solidFill>
                        <a:srgbClr val="E2D6EC"/>
                      </a:solidFill>
                      <a:prstDash val="solid"/>
                    </a:lnR>
                    <a:lnT w="6480">
                      <a:solidFill>
                        <a:srgbClr val="E2D6EC"/>
                      </a:solidFill>
                      <a:prstDash val="solid"/>
                    </a:lnT>
                    <a:lnB w="6480">
                      <a:solidFill>
                        <a:srgbClr val="E2D6EC"/>
                      </a:solidFill>
                      <a:prstDash val="solid"/>
                    </a:lnB>
                    <a:solidFill>
                      <a:srgbClr val="FFFFFF"/>
                    </a:solidFill>
                  </a:tcPr>
                </a:tc>
                <a:extLst>
                  <a:ext uri="{0D108BD9-81ED-4DB2-BD59-A6C34878D82A}">
                    <a16:rowId xmlns:a16="http://schemas.microsoft.com/office/drawing/2014/main" val="10004"/>
                  </a:ext>
                </a:extLst>
              </a:tr>
              <a:tr h="457200">
                <a:tc>
                  <a:txBody>
                    <a:bodyPr/>
                    <a:lstStyle/>
                    <a:p>
                      <a:pPr defTabSz="914400">
                        <a:lnSpc>
                          <a:spcPct val="100000"/>
                        </a:lnSpc>
                        <a:tabLst>
                          <a:tab pos="0" algn="l"/>
                        </a:tabLst>
                      </a:pPr>
                      <a:r>
                        <a:rPr lang="en-US" sz="1250" b="1" u="none" strike="noStrike">
                          <a:solidFill>
                            <a:srgbClr val="5E2A75"/>
                          </a:solidFill>
                          <a:effectLst/>
                          <a:uFillTx/>
                          <a:latin typeface="Calibri"/>
                          <a:ea typeface="Calibri"/>
                        </a:rPr>
                        <a:t>The graph</a:t>
                      </a:r>
                      <a:endParaRPr lang="de-DE" sz="1250" b="0" u="none" strike="noStrike">
                        <a:solidFill>
                          <a:srgbClr val="000000"/>
                        </a:solidFill>
                        <a:effectLst/>
                        <a:uFillTx/>
                        <a:latin typeface="Arial"/>
                      </a:endParaRPr>
                    </a:p>
                  </a:txBody>
                  <a:tcPr anchor="ctr">
                    <a:lnL w="6480">
                      <a:solidFill>
                        <a:srgbClr val="E2D6EC"/>
                      </a:solidFill>
                      <a:prstDash val="solid"/>
                    </a:lnL>
                    <a:lnR w="6480">
                      <a:solidFill>
                        <a:srgbClr val="E2D6EC"/>
                      </a:solidFill>
                      <a:prstDash val="solid"/>
                    </a:lnR>
                    <a:lnT w="6480">
                      <a:solidFill>
                        <a:srgbClr val="E2D6EC"/>
                      </a:solidFill>
                      <a:prstDash val="solid"/>
                    </a:lnT>
                    <a:lnB w="6480">
                      <a:solidFill>
                        <a:srgbClr val="E2D6EC"/>
                      </a:solidFill>
                      <a:prstDash val="solid"/>
                    </a:lnB>
                    <a:solidFill>
                      <a:srgbClr val="FFFFFF"/>
                    </a:solidFill>
                  </a:tcPr>
                </a:tc>
                <a:tc>
                  <a:txBody>
                    <a:bodyPr/>
                    <a:lstStyle/>
                    <a:p>
                      <a:pPr defTabSz="914400">
                        <a:lnSpc>
                          <a:spcPct val="100000"/>
                        </a:lnSpc>
                        <a:tabLst>
                          <a:tab pos="0" algn="l"/>
                        </a:tabLst>
                      </a:pPr>
                      <a:r>
                        <a:rPr lang="en-US" sz="1250" b="1" u="none" strike="noStrike">
                          <a:solidFill>
                            <a:srgbClr val="2B2331"/>
                          </a:solidFill>
                          <a:effectLst/>
                          <a:uFillTx/>
                          <a:latin typeface="Calibri"/>
                          <a:ea typeface="Calibri"/>
                        </a:rPr>
                        <a:t>GFA</a:t>
                      </a:r>
                      <a:endParaRPr lang="de-DE" sz="1250" b="0" u="none" strike="noStrike">
                        <a:solidFill>
                          <a:srgbClr val="000000"/>
                        </a:solidFill>
                        <a:effectLst/>
                        <a:uFillTx/>
                        <a:latin typeface="Arial"/>
                      </a:endParaRPr>
                    </a:p>
                  </a:txBody>
                  <a:tcPr anchor="ctr">
                    <a:lnL w="6480">
                      <a:solidFill>
                        <a:srgbClr val="E2D6EC"/>
                      </a:solidFill>
                      <a:prstDash val="solid"/>
                    </a:lnL>
                    <a:lnR w="6480">
                      <a:solidFill>
                        <a:srgbClr val="E2D6EC"/>
                      </a:solidFill>
                      <a:prstDash val="solid"/>
                    </a:lnR>
                    <a:lnT w="6480">
                      <a:solidFill>
                        <a:srgbClr val="E2D6EC"/>
                      </a:solidFill>
                      <a:prstDash val="solid"/>
                    </a:lnT>
                    <a:lnB w="6480">
                      <a:solidFill>
                        <a:srgbClr val="E2D6EC"/>
                      </a:solidFill>
                      <a:prstDash val="solid"/>
                    </a:lnB>
                    <a:solidFill>
                      <a:srgbClr val="FFFFFF"/>
                    </a:solidFill>
                  </a:tcPr>
                </a:tc>
                <a:tc>
                  <a:txBody>
                    <a:bodyPr/>
                    <a:lstStyle/>
                    <a:p>
                      <a:pPr defTabSz="914400">
                        <a:lnSpc>
                          <a:spcPct val="100000"/>
                        </a:lnSpc>
                        <a:tabLst>
                          <a:tab pos="0" algn="l"/>
                        </a:tabLst>
                      </a:pPr>
                      <a:r>
                        <a:rPr lang="en-US" sz="1250" b="1" u="none" strike="noStrike">
                          <a:solidFill>
                            <a:srgbClr val="2B2331"/>
                          </a:solidFill>
                          <a:effectLst/>
                          <a:uFillTx/>
                          <a:latin typeface="Calibri"/>
                          <a:ea typeface="Calibri"/>
                        </a:rPr>
                        <a:t>the pan-genome graph itself</a:t>
                      </a:r>
                      <a:endParaRPr lang="de-DE" sz="1250" b="0" u="none" strike="noStrike">
                        <a:solidFill>
                          <a:srgbClr val="000000"/>
                        </a:solidFill>
                        <a:effectLst/>
                        <a:uFillTx/>
                        <a:latin typeface="Arial"/>
                      </a:endParaRPr>
                    </a:p>
                  </a:txBody>
                  <a:tcPr anchor="ctr">
                    <a:lnL w="6480">
                      <a:solidFill>
                        <a:srgbClr val="E2D6EC"/>
                      </a:solidFill>
                      <a:prstDash val="solid"/>
                    </a:lnL>
                    <a:lnR w="6480">
                      <a:solidFill>
                        <a:srgbClr val="E2D6EC"/>
                      </a:solidFill>
                      <a:prstDash val="solid"/>
                    </a:lnR>
                    <a:lnT w="6480">
                      <a:solidFill>
                        <a:srgbClr val="E2D6EC"/>
                      </a:solidFill>
                      <a:prstDash val="solid"/>
                    </a:lnT>
                    <a:lnB w="6480">
                      <a:solidFill>
                        <a:srgbClr val="E2D6EC"/>
                      </a:solidFill>
                      <a:prstDash val="solid"/>
                    </a:lnB>
                    <a:solidFill>
                      <a:srgbClr val="FFFFFF"/>
                    </a:solidFill>
                  </a:tcPr>
                </a:tc>
                <a:extLst>
                  <a:ext uri="{0D108BD9-81ED-4DB2-BD59-A6C34878D82A}">
                    <a16:rowId xmlns:a16="http://schemas.microsoft.com/office/drawing/2014/main" val="10005"/>
                  </a:ext>
                </a:extLst>
              </a:tr>
              <a:tr h="457200">
                <a:tc>
                  <a:txBody>
                    <a:bodyPr/>
                    <a:lstStyle/>
                    <a:p>
                      <a:pPr defTabSz="914400">
                        <a:lnSpc>
                          <a:spcPct val="100000"/>
                        </a:lnSpc>
                        <a:tabLst>
                          <a:tab pos="0" algn="l"/>
                        </a:tabLst>
                      </a:pPr>
                      <a:r>
                        <a:rPr lang="en-US" sz="1250" b="0" u="none" strike="noStrike">
                          <a:solidFill>
                            <a:srgbClr val="2B2331"/>
                          </a:solidFill>
                          <a:effectLst/>
                          <a:uFillTx/>
                          <a:latin typeface="Calibri"/>
                          <a:ea typeface="Calibri"/>
                        </a:rPr>
                        <a:t>Metadata</a:t>
                      </a:r>
                      <a:endParaRPr lang="de-DE" sz="1250" b="0" u="none" strike="noStrike">
                        <a:solidFill>
                          <a:srgbClr val="000000"/>
                        </a:solidFill>
                        <a:effectLst/>
                        <a:uFillTx/>
                        <a:latin typeface="Arial"/>
                      </a:endParaRPr>
                    </a:p>
                  </a:txBody>
                  <a:tcPr anchor="ctr">
                    <a:lnL w="6480">
                      <a:solidFill>
                        <a:srgbClr val="E2D6EC"/>
                      </a:solidFill>
                      <a:prstDash val="solid"/>
                    </a:lnL>
                    <a:lnR w="6480">
                      <a:solidFill>
                        <a:srgbClr val="E2D6EC"/>
                      </a:solidFill>
                      <a:prstDash val="solid"/>
                    </a:lnR>
                    <a:lnT w="6480">
                      <a:solidFill>
                        <a:srgbClr val="E2D6EC"/>
                      </a:solidFill>
                      <a:prstDash val="solid"/>
                    </a:lnT>
                    <a:lnB w="6480">
                      <a:solidFill>
                        <a:srgbClr val="E2D6EC"/>
                      </a:solidFill>
                      <a:prstDash val="solid"/>
                    </a:lnB>
                    <a:solidFill>
                      <a:srgbClr val="FFFFFF"/>
                    </a:solidFill>
                  </a:tcPr>
                </a:tc>
                <a:tc>
                  <a:txBody>
                    <a:bodyPr/>
                    <a:lstStyle/>
                    <a:p>
                      <a:pPr defTabSz="914400">
                        <a:lnSpc>
                          <a:spcPct val="100000"/>
                        </a:lnSpc>
                        <a:tabLst>
                          <a:tab pos="0" algn="l"/>
                        </a:tabLst>
                      </a:pPr>
                      <a:r>
                        <a:rPr lang="en-US" sz="1250" b="0" u="none" strike="noStrike">
                          <a:solidFill>
                            <a:srgbClr val="2B2331"/>
                          </a:solidFill>
                          <a:effectLst/>
                          <a:uFillTx/>
                          <a:latin typeface="Calibri"/>
                          <a:ea typeface="Calibri"/>
                        </a:rPr>
                        <a:t>JSON-LD / RO-Crate</a:t>
                      </a:r>
                      <a:endParaRPr lang="de-DE" sz="1250" b="0" u="none" strike="noStrike">
                        <a:solidFill>
                          <a:srgbClr val="000000"/>
                        </a:solidFill>
                        <a:effectLst/>
                        <a:uFillTx/>
                        <a:latin typeface="Arial"/>
                      </a:endParaRPr>
                    </a:p>
                  </a:txBody>
                  <a:tcPr anchor="ctr">
                    <a:lnL w="6480">
                      <a:solidFill>
                        <a:srgbClr val="E2D6EC"/>
                      </a:solidFill>
                      <a:prstDash val="solid"/>
                    </a:lnL>
                    <a:lnR w="6480">
                      <a:solidFill>
                        <a:srgbClr val="E2D6EC"/>
                      </a:solidFill>
                      <a:prstDash val="solid"/>
                    </a:lnR>
                    <a:lnT w="6480">
                      <a:solidFill>
                        <a:srgbClr val="E2D6EC"/>
                      </a:solidFill>
                      <a:prstDash val="solid"/>
                    </a:lnT>
                    <a:lnB w="6480">
                      <a:solidFill>
                        <a:srgbClr val="E2D6EC"/>
                      </a:solidFill>
                      <a:prstDash val="solid"/>
                    </a:lnB>
                    <a:solidFill>
                      <a:srgbClr val="FFFFFF"/>
                    </a:solidFill>
                  </a:tcPr>
                </a:tc>
                <a:tc>
                  <a:txBody>
                    <a:bodyPr/>
                    <a:lstStyle/>
                    <a:p>
                      <a:pPr defTabSz="914400">
                        <a:lnSpc>
                          <a:spcPct val="100000"/>
                        </a:lnSpc>
                        <a:tabLst>
                          <a:tab pos="0" algn="l"/>
                        </a:tabLst>
                      </a:pPr>
                      <a:r>
                        <a:rPr lang="en-US" sz="1250" b="0" u="none" strike="noStrike">
                          <a:solidFill>
                            <a:srgbClr val="2B2331"/>
                          </a:solidFill>
                          <a:effectLst/>
                          <a:uFillTx/>
                          <a:latin typeface="Calibri"/>
                          <a:ea typeface="Calibri"/>
                        </a:rPr>
                        <a:t>structured, machine-readable provenance</a:t>
                      </a:r>
                      <a:endParaRPr lang="de-DE" sz="1250" b="0" u="none" strike="noStrike">
                        <a:solidFill>
                          <a:srgbClr val="000000"/>
                        </a:solidFill>
                        <a:effectLst/>
                        <a:uFillTx/>
                        <a:latin typeface="Arial"/>
                      </a:endParaRPr>
                    </a:p>
                  </a:txBody>
                  <a:tcPr anchor="ctr">
                    <a:lnL w="6480">
                      <a:solidFill>
                        <a:srgbClr val="E2D6EC"/>
                      </a:solidFill>
                      <a:prstDash val="solid"/>
                    </a:lnL>
                    <a:lnR w="6480">
                      <a:solidFill>
                        <a:srgbClr val="E2D6EC"/>
                      </a:solidFill>
                      <a:prstDash val="solid"/>
                    </a:lnR>
                    <a:lnT w="6480">
                      <a:solidFill>
                        <a:srgbClr val="E2D6EC"/>
                      </a:solidFill>
                      <a:prstDash val="solid"/>
                    </a:lnT>
                    <a:lnB w="6480">
                      <a:solidFill>
                        <a:srgbClr val="E2D6EC"/>
                      </a:solidFill>
                      <a:prstDash val="solid"/>
                    </a:lnB>
                    <a:solidFill>
                      <a:srgbClr val="FFFFFF"/>
                    </a:solidFill>
                  </a:tcPr>
                </a:tc>
                <a:extLst>
                  <a:ext uri="{0D108BD9-81ED-4DB2-BD59-A6C34878D82A}">
                    <a16:rowId xmlns:a16="http://schemas.microsoft.com/office/drawing/2014/main" val="10006"/>
                  </a:ext>
                </a:extLst>
              </a:tr>
            </a:tbl>
          </a:graphicData>
        </a:graphic>
      </p:graphicFrame>
      <p:sp>
        <p:nvSpPr>
          <p:cNvPr id="170" name="Shape 3"/>
          <p:cNvSpPr/>
          <p:nvPr/>
        </p:nvSpPr>
        <p:spPr>
          <a:xfrm>
            <a:off x="567000" y="5074920"/>
            <a:ext cx="11057400" cy="914040"/>
          </a:xfrm>
          <a:prstGeom prst="roundRect">
            <a:avLst>
              <a:gd name="adj" fmla="val 7000"/>
            </a:avLst>
          </a:prstGeom>
          <a:solidFill>
            <a:srgbClr val="F2ECEF"/>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171" name="Text 4"/>
          <p:cNvSpPr/>
          <p:nvPr/>
        </p:nvSpPr>
        <p:spPr>
          <a:xfrm>
            <a:off x="841320" y="5074920"/>
            <a:ext cx="1050876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E8606B"/>
                </a:solidFill>
                <a:effectLst/>
                <a:uFillTx/>
                <a:latin typeface="Calibri"/>
                <a:ea typeface="Calibri"/>
              </a:rPr>
              <a:t>Golden rule:  </a:t>
            </a:r>
            <a:r>
              <a:rPr lang="en-US" sz="1400" b="0" u="none" strike="noStrike">
                <a:solidFill>
                  <a:srgbClr val="2B2331"/>
                </a:solidFill>
                <a:effectLst/>
                <a:uFillTx/>
                <a:latin typeface="Calibri"/>
                <a:ea typeface="Calibri"/>
              </a:rPr>
              <a:t>sequence IDs in the GFF3 first column must exactly match the FASTA headers — mismatched names are the No. 1 reason a shared pangenome is unusable.</a:t>
            </a:r>
            <a:endParaRPr lang="de-DE" sz="1400" b="0" u="none" strike="noStrike">
              <a:solidFill>
                <a:srgbClr val="000000"/>
              </a:solidFill>
              <a:effectLst/>
              <a:uFillTx/>
              <a:latin typeface="Arial"/>
            </a:endParaRPr>
          </a:p>
        </p:txBody>
      </p:sp>
      <p:sp>
        <p:nvSpPr>
          <p:cNvPr id="172" name="Text 5"/>
          <p:cNvSpPr/>
          <p:nvPr/>
        </p:nvSpPr>
        <p:spPr>
          <a:xfrm>
            <a:off x="567000" y="6455520"/>
            <a:ext cx="110574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50" b="0" i="1" u="none" strike="noStrike">
                <a:solidFill>
                  <a:srgbClr val="726A7A"/>
                </a:solidFill>
                <a:effectLst/>
                <a:uFillTx/>
                <a:latin typeface="Calibri"/>
                <a:ea typeface="Calibri"/>
              </a:rPr>
              <a:t>E-PAN white paper §4.1. FASTA/GFF3/GTF/VCF/BCF/TSV/GFA are existing community formats; metadata in JSON-LD or RO-Crate. (BCF = binary VCF; GFA = Graphical Fragment Assembly.)</a:t>
            </a:r>
            <a:endParaRPr lang="de-DE" sz="950" b="0" u="none" strike="noStrike">
              <a:solidFill>
                <a:srgbClr val="000000"/>
              </a:solidFill>
              <a:effectLst/>
              <a:uFillTx/>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3" name="Shape 0"/>
          <p:cNvSpPr/>
          <p:nvPr/>
        </p:nvSpPr>
        <p:spPr>
          <a:xfrm>
            <a:off x="567000" y="457200"/>
            <a:ext cx="155160" cy="155160"/>
          </a:xfrm>
          <a:prstGeom prst="ellipse">
            <a:avLst/>
          </a:prstGeom>
          <a:solidFill>
            <a:srgbClr val="E860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74" name="Text 1"/>
          <p:cNvSpPr/>
          <p:nvPr/>
        </p:nvSpPr>
        <p:spPr>
          <a:xfrm>
            <a:off x="822960" y="384120"/>
            <a:ext cx="10801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201">
                <a:solidFill>
                  <a:srgbClr val="5E2A75"/>
                </a:solidFill>
                <a:effectLst/>
                <a:uFillTx/>
                <a:latin typeface="Calibri"/>
                <a:ea typeface="Calibri"/>
              </a:rPr>
              <a:t>SHARE</a:t>
            </a:r>
            <a:endParaRPr lang="de-DE" sz="1200" b="0" u="none" strike="noStrike">
              <a:solidFill>
                <a:srgbClr val="000000"/>
              </a:solidFill>
              <a:effectLst/>
              <a:uFillTx/>
              <a:latin typeface="Arial"/>
            </a:endParaRPr>
          </a:p>
        </p:txBody>
      </p:sp>
      <p:sp>
        <p:nvSpPr>
          <p:cNvPr id="175" name="Text 2"/>
          <p:cNvSpPr/>
          <p:nvPr/>
        </p:nvSpPr>
        <p:spPr>
          <a:xfrm>
            <a:off x="567000" y="676800"/>
            <a:ext cx="110574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2B2331"/>
                </a:solidFill>
                <a:effectLst/>
                <a:uFillTx/>
                <a:latin typeface="Cambria"/>
                <a:ea typeface="Cambria"/>
              </a:rPr>
              <a:t>Name things consistently; describe them richly</a:t>
            </a:r>
            <a:endParaRPr lang="de-DE" sz="2900" b="0" u="none" strike="noStrike">
              <a:solidFill>
                <a:srgbClr val="000000"/>
              </a:solidFill>
              <a:effectLst/>
              <a:uFillTx/>
              <a:latin typeface="Arial"/>
            </a:endParaRPr>
          </a:p>
        </p:txBody>
      </p:sp>
      <p:sp>
        <p:nvSpPr>
          <p:cNvPr id="176" name="Shape 3"/>
          <p:cNvSpPr/>
          <p:nvPr/>
        </p:nvSpPr>
        <p:spPr>
          <a:xfrm>
            <a:off x="567000" y="1645920"/>
            <a:ext cx="5345640" cy="3977280"/>
          </a:xfrm>
          <a:prstGeom prst="roundRect">
            <a:avLst>
              <a:gd name="adj" fmla="val 1609"/>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177" name="Text 4"/>
          <p:cNvSpPr/>
          <p:nvPr/>
        </p:nvSpPr>
        <p:spPr>
          <a:xfrm>
            <a:off x="749880" y="1764720"/>
            <a:ext cx="49798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u="none" strike="noStrike">
                <a:solidFill>
                  <a:srgbClr val="5E2A75"/>
                </a:solidFill>
                <a:effectLst/>
                <a:uFillTx/>
                <a:latin typeface="Calibri"/>
                <a:ea typeface="Calibri"/>
              </a:rPr>
              <a:t>Naming conventions</a:t>
            </a:r>
            <a:endParaRPr lang="de-DE" sz="1350" b="0" u="none" strike="noStrike">
              <a:solidFill>
                <a:srgbClr val="000000"/>
              </a:solidFill>
              <a:effectLst/>
              <a:uFillTx/>
              <a:latin typeface="Arial"/>
            </a:endParaRPr>
          </a:p>
        </p:txBody>
      </p:sp>
      <p:sp>
        <p:nvSpPr>
          <p:cNvPr id="178" name="Text 5"/>
          <p:cNvSpPr/>
          <p:nvPr/>
        </p:nvSpPr>
        <p:spPr>
          <a:xfrm>
            <a:off x="795600" y="2194560"/>
            <a:ext cx="48884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21476B"/>
                </a:solidFill>
                <a:effectLst/>
                <a:uFillTx/>
                <a:latin typeface="Consolas"/>
                <a:ea typeface="Consolas"/>
              </a:rPr>
              <a:t>drOrySati.Nipponbare.RicePan.1.0</a:t>
            </a:r>
            <a:endParaRPr lang="de-DE" sz="1400" b="0" u="none" strike="noStrike">
              <a:solidFill>
                <a:srgbClr val="000000"/>
              </a:solidFill>
              <a:effectLst/>
              <a:uFillTx/>
              <a:latin typeface="Arial"/>
            </a:endParaRPr>
          </a:p>
        </p:txBody>
      </p:sp>
      <p:sp>
        <p:nvSpPr>
          <p:cNvPr id="179" name="Text 6"/>
          <p:cNvSpPr/>
          <p:nvPr/>
        </p:nvSpPr>
        <p:spPr>
          <a:xfrm>
            <a:off x="795600" y="2514600"/>
            <a:ext cx="4888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0" i="1" u="none" strike="noStrike">
                <a:solidFill>
                  <a:srgbClr val="726A7A"/>
                </a:solidFill>
                <a:effectLst/>
                <a:uFillTx/>
                <a:latin typeface="Calibri"/>
                <a:ea typeface="Calibri"/>
              </a:rPr>
              <a:t>species · variety/line · project · version</a:t>
            </a:r>
            <a:endParaRPr lang="de-DE" sz="1050" b="0" u="none" strike="noStrike">
              <a:solidFill>
                <a:srgbClr val="000000"/>
              </a:solidFill>
              <a:effectLst/>
              <a:uFillTx/>
              <a:latin typeface="Arial"/>
            </a:endParaRPr>
          </a:p>
        </p:txBody>
      </p:sp>
      <p:sp>
        <p:nvSpPr>
          <p:cNvPr id="180" name="Text 7"/>
          <p:cNvSpPr/>
          <p:nvPr/>
        </p:nvSpPr>
        <p:spPr>
          <a:xfrm>
            <a:off x="795600" y="2880360"/>
            <a:ext cx="4888440" cy="2559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1001"/>
              </a:spcAft>
              <a:buClr>
                <a:srgbClr val="2B2331"/>
              </a:buClr>
              <a:buFont typeface="Symbol" charset="2"/>
              <a:buChar char=""/>
            </a:pPr>
            <a:r>
              <a:rPr lang="en-US" sz="1250" b="0" u="none" strike="noStrike">
                <a:solidFill>
                  <a:srgbClr val="2B2331"/>
                </a:solidFill>
                <a:effectLst/>
                <a:uFillTx/>
                <a:latin typeface="Calibri"/>
                <a:ea typeface="Calibri"/>
              </a:rPr>
              <a:t>Assembly IDs: ≥ 4 dot-separated fields (species.variety.project.version)</a:t>
            </a:r>
            <a:endParaRPr lang="de-DE" sz="1250" b="0" u="none" strike="noStrike">
              <a:solidFill>
                <a:srgbClr val="000000"/>
              </a:solidFill>
              <a:effectLst/>
              <a:uFillTx/>
              <a:latin typeface="Arial"/>
            </a:endParaRPr>
          </a:p>
          <a:p>
            <a:pPr marL="177840" indent="-177840" defTabSz="914400">
              <a:lnSpc>
                <a:spcPct val="100000"/>
              </a:lnSpc>
              <a:spcAft>
                <a:spcPts val="1001"/>
              </a:spcAft>
              <a:buClr>
                <a:srgbClr val="2B2331"/>
              </a:buClr>
              <a:buFont typeface="Symbol" charset="2"/>
              <a:buChar char=""/>
            </a:pPr>
            <a:r>
              <a:rPr lang="en-US" sz="1250" b="0" u="none" strike="noStrike">
                <a:solidFill>
                  <a:srgbClr val="2B2331"/>
                </a:solidFill>
                <a:effectLst/>
                <a:uFillTx/>
                <a:latin typeface="Calibri"/>
                <a:ea typeface="Calibri"/>
              </a:rPr>
              <a:t>Pan-genes get stable IDs, e.g. drOrySati.RicePan.pan00001</a:t>
            </a:r>
            <a:endParaRPr lang="de-DE" sz="1250" b="0" u="none" strike="noStrike">
              <a:solidFill>
                <a:srgbClr val="000000"/>
              </a:solidFill>
              <a:effectLst/>
              <a:uFillTx/>
              <a:latin typeface="Arial"/>
            </a:endParaRPr>
          </a:p>
          <a:p>
            <a:pPr marL="177840" indent="-177840" defTabSz="914400">
              <a:lnSpc>
                <a:spcPct val="100000"/>
              </a:lnSpc>
              <a:spcAft>
                <a:spcPts val="1001"/>
              </a:spcAft>
              <a:buClr>
                <a:srgbClr val="2B2331"/>
              </a:buClr>
              <a:buFont typeface="Symbol" charset="2"/>
              <a:buChar char=""/>
            </a:pPr>
            <a:r>
              <a:rPr lang="en-US" sz="1250" b="0" u="none" strike="noStrike">
                <a:solidFill>
                  <a:srgbClr val="2B2331"/>
                </a:solidFill>
                <a:effectLst/>
                <a:uFillTx/>
                <a:latin typeface="Calibri"/>
                <a:ea typeface="Calibri"/>
              </a:rPr>
              <a:t>Adopt ToLID species prefixes; PanSN for sequence names in the graph</a:t>
            </a:r>
            <a:endParaRPr lang="de-DE" sz="1250" b="0" u="none" strike="noStrike">
              <a:solidFill>
                <a:srgbClr val="000000"/>
              </a:solidFill>
              <a:effectLst/>
              <a:uFillTx/>
              <a:latin typeface="Arial"/>
            </a:endParaRPr>
          </a:p>
        </p:txBody>
      </p:sp>
      <p:sp>
        <p:nvSpPr>
          <p:cNvPr id="181" name="Shape 8"/>
          <p:cNvSpPr/>
          <p:nvPr/>
        </p:nvSpPr>
        <p:spPr>
          <a:xfrm>
            <a:off x="6278760" y="1645920"/>
            <a:ext cx="5345640" cy="3977280"/>
          </a:xfrm>
          <a:prstGeom prst="roundRect">
            <a:avLst>
              <a:gd name="adj" fmla="val 1609"/>
            </a:avLst>
          </a:prstGeom>
          <a:solidFill>
            <a:srgbClr val="F2ECEF"/>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182" name="Text 9"/>
          <p:cNvSpPr/>
          <p:nvPr/>
        </p:nvSpPr>
        <p:spPr>
          <a:xfrm>
            <a:off x="6461640" y="1764720"/>
            <a:ext cx="49798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u="none" strike="noStrike">
                <a:solidFill>
                  <a:srgbClr val="5E2A75"/>
                </a:solidFill>
                <a:effectLst/>
                <a:uFillTx/>
                <a:latin typeface="Calibri"/>
                <a:ea typeface="Calibri"/>
              </a:rPr>
              <a:t>Metadata standards</a:t>
            </a:r>
            <a:endParaRPr lang="de-DE" sz="1350" b="0" u="none" strike="noStrike">
              <a:solidFill>
                <a:srgbClr val="000000"/>
              </a:solidFill>
              <a:effectLst/>
              <a:uFillTx/>
              <a:latin typeface="Arial"/>
            </a:endParaRPr>
          </a:p>
        </p:txBody>
      </p:sp>
      <p:sp>
        <p:nvSpPr>
          <p:cNvPr id="183" name="Text 10"/>
          <p:cNvSpPr/>
          <p:nvPr/>
        </p:nvSpPr>
        <p:spPr>
          <a:xfrm>
            <a:off x="6507360" y="2212920"/>
            <a:ext cx="4888440" cy="3291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1100"/>
              </a:spcAft>
              <a:buClr>
                <a:srgbClr val="2B2331"/>
              </a:buClr>
              <a:buFont typeface="Symbol" charset="2"/>
              <a:buChar char=""/>
            </a:pPr>
            <a:r>
              <a:rPr lang="en-US" sz="1250" b="1" u="none" strike="noStrike">
                <a:solidFill>
                  <a:srgbClr val="2B2331"/>
                </a:solidFill>
                <a:effectLst/>
                <a:uFillTx/>
                <a:latin typeface="Calibri"/>
                <a:ea typeface="Calibri"/>
              </a:rPr>
              <a:t>MIAPPE for phenotyping context; Sequence Ontology for feature types</a:t>
            </a:r>
            <a:endParaRPr lang="de-DE" sz="1250" b="0" u="none" strike="noStrike">
              <a:solidFill>
                <a:srgbClr val="000000"/>
              </a:solidFill>
              <a:effectLst/>
              <a:uFillTx/>
              <a:latin typeface="Arial"/>
            </a:endParaRPr>
          </a:p>
          <a:p>
            <a:pPr marL="177840" indent="-177840" defTabSz="914400">
              <a:lnSpc>
                <a:spcPct val="100000"/>
              </a:lnSpc>
              <a:spcAft>
                <a:spcPts val="1100"/>
              </a:spcAft>
              <a:buClr>
                <a:srgbClr val="2B2331"/>
              </a:buClr>
              <a:buFont typeface="Symbol" charset="2"/>
              <a:buChar char=""/>
            </a:pPr>
            <a:r>
              <a:rPr lang="en-US" sz="1250" b="0" u="none" strike="noStrike">
                <a:solidFill>
                  <a:srgbClr val="2B2331"/>
                </a:solidFill>
                <a:effectLst/>
                <a:uFillTx/>
                <a:latin typeface="Calibri"/>
                <a:ea typeface="Calibri"/>
              </a:rPr>
              <a:t>Record: sequencing technology &amp; coverage, assembly method, software versions</a:t>
            </a:r>
            <a:endParaRPr lang="de-DE" sz="1250" b="0" u="none" strike="noStrike">
              <a:solidFill>
                <a:srgbClr val="000000"/>
              </a:solidFill>
              <a:effectLst/>
              <a:uFillTx/>
              <a:latin typeface="Arial"/>
            </a:endParaRPr>
          </a:p>
          <a:p>
            <a:pPr marL="177840" indent="-177840" defTabSz="914400">
              <a:lnSpc>
                <a:spcPct val="100000"/>
              </a:lnSpc>
              <a:spcAft>
                <a:spcPts val="1100"/>
              </a:spcAft>
              <a:buClr>
                <a:srgbClr val="2B2331"/>
              </a:buClr>
              <a:buFont typeface="Symbol" charset="2"/>
              <a:buChar char=""/>
            </a:pPr>
            <a:r>
              <a:rPr lang="en-US" sz="1250" b="0" u="none" strike="noStrike">
                <a:solidFill>
                  <a:srgbClr val="2B2331"/>
                </a:solidFill>
                <a:effectLst/>
                <a:uFillTx/>
                <a:latin typeface="Calibri"/>
                <a:ea typeface="Calibri"/>
              </a:rPr>
              <a:t>Provenance via BioSample IDs and NCBI Taxonomy ID</a:t>
            </a:r>
            <a:endParaRPr lang="de-DE" sz="1250" b="0" u="none" strike="noStrike">
              <a:solidFill>
                <a:srgbClr val="000000"/>
              </a:solidFill>
              <a:effectLst/>
              <a:uFillTx/>
              <a:latin typeface="Arial"/>
            </a:endParaRPr>
          </a:p>
          <a:p>
            <a:pPr marL="177840" indent="-177840" defTabSz="914400">
              <a:lnSpc>
                <a:spcPct val="100000"/>
              </a:lnSpc>
              <a:spcAft>
                <a:spcPts val="1100"/>
              </a:spcAft>
              <a:buClr>
                <a:srgbClr val="2B2331"/>
              </a:buClr>
              <a:buFont typeface="Symbol" charset="2"/>
              <a:buChar char=""/>
            </a:pPr>
            <a:r>
              <a:rPr lang="en-US" sz="1250" b="0" u="none" strike="noStrike">
                <a:solidFill>
                  <a:srgbClr val="2B2331"/>
                </a:solidFill>
                <a:effectLst/>
                <a:uFillTx/>
                <a:latin typeface="Calibri"/>
                <a:ea typeface="Calibri"/>
              </a:rPr>
              <a:t>For the pangenome: version + build date + the full list of constituent genomes</a:t>
            </a:r>
            <a:endParaRPr lang="de-DE" sz="1250" b="0" u="none" strike="noStrike">
              <a:solidFill>
                <a:srgbClr val="000000"/>
              </a:solidFill>
              <a:effectLst/>
              <a:uFillTx/>
              <a:latin typeface="Arial"/>
            </a:endParaRPr>
          </a:p>
        </p:txBody>
      </p:sp>
      <p:sp>
        <p:nvSpPr>
          <p:cNvPr id="184" name="Text 11"/>
          <p:cNvSpPr/>
          <p:nvPr/>
        </p:nvSpPr>
        <p:spPr>
          <a:xfrm>
            <a:off x="567000" y="6455520"/>
            <a:ext cx="110574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50" b="0" i="1" u="none" strike="noStrike">
                <a:solidFill>
                  <a:srgbClr val="726A7A"/>
                </a:solidFill>
                <a:effectLst/>
                <a:uFillTx/>
                <a:latin typeface="Calibri"/>
                <a:ea typeface="Calibri"/>
              </a:rPr>
              <a:t>E-PAN white paper §2 &amp; §4.3. MIAPPE = Minimum Information About a Plant Phenotyping Experiment; ToLID = Tree of Life identifier; PanSN = Pangenome Sequence Naming.</a:t>
            </a:r>
            <a:endParaRPr lang="de-DE" sz="950" b="0" u="none" strike="noStrike">
              <a:solidFill>
                <a:srgbClr val="000000"/>
              </a:solidFill>
              <a:effectLst/>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5" name="Shape 0"/>
          <p:cNvSpPr/>
          <p:nvPr/>
        </p:nvSpPr>
        <p:spPr>
          <a:xfrm>
            <a:off x="567000" y="457200"/>
            <a:ext cx="155160" cy="155160"/>
          </a:xfrm>
          <a:prstGeom prst="ellipse">
            <a:avLst/>
          </a:prstGeom>
          <a:solidFill>
            <a:srgbClr val="E860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86" name="Text 1"/>
          <p:cNvSpPr/>
          <p:nvPr/>
        </p:nvSpPr>
        <p:spPr>
          <a:xfrm>
            <a:off x="822960" y="384120"/>
            <a:ext cx="10801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201">
                <a:solidFill>
                  <a:srgbClr val="5E2A75"/>
                </a:solidFill>
                <a:effectLst/>
                <a:uFillTx/>
                <a:latin typeface="Calibri"/>
                <a:ea typeface="Calibri"/>
              </a:rPr>
              <a:t>SHARE</a:t>
            </a:r>
            <a:endParaRPr lang="de-DE" sz="1200" b="0" u="none" strike="noStrike">
              <a:solidFill>
                <a:srgbClr val="000000"/>
              </a:solidFill>
              <a:effectLst/>
              <a:uFillTx/>
              <a:latin typeface="Arial"/>
            </a:endParaRPr>
          </a:p>
        </p:txBody>
      </p:sp>
      <p:sp>
        <p:nvSpPr>
          <p:cNvPr id="187" name="Text 2"/>
          <p:cNvSpPr/>
          <p:nvPr/>
        </p:nvSpPr>
        <p:spPr>
          <a:xfrm>
            <a:off x="567000" y="676800"/>
            <a:ext cx="110574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2B2331"/>
                </a:solidFill>
                <a:effectLst/>
                <a:uFillTx/>
                <a:latin typeface="Cambria"/>
                <a:ea typeface="Cambria"/>
              </a:rPr>
              <a:t>Where it goes: repositories &amp; persistent IDs</a:t>
            </a:r>
            <a:endParaRPr lang="de-DE" sz="2900" b="0" u="none" strike="noStrike">
              <a:solidFill>
                <a:srgbClr val="000000"/>
              </a:solidFill>
              <a:effectLst/>
              <a:uFillTx/>
              <a:latin typeface="Arial"/>
            </a:endParaRPr>
          </a:p>
        </p:txBody>
      </p:sp>
      <p:sp>
        <p:nvSpPr>
          <p:cNvPr id="188" name="Shape 3"/>
          <p:cNvSpPr/>
          <p:nvPr/>
        </p:nvSpPr>
        <p:spPr>
          <a:xfrm>
            <a:off x="567000" y="1691640"/>
            <a:ext cx="5851800" cy="840960"/>
          </a:xfrm>
          <a:prstGeom prst="roundRect">
            <a:avLst>
              <a:gd name="adj" fmla="val 7609"/>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189" name="Shape 4"/>
          <p:cNvSpPr/>
          <p:nvPr/>
        </p:nvSpPr>
        <p:spPr>
          <a:xfrm>
            <a:off x="749880" y="1883520"/>
            <a:ext cx="456840" cy="456840"/>
          </a:xfrm>
          <a:prstGeom prst="ellipse">
            <a:avLst/>
          </a:prstGeom>
          <a:solidFill>
            <a:srgbClr val="2147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90" name="Text 5"/>
          <p:cNvSpPr/>
          <p:nvPr/>
        </p:nvSpPr>
        <p:spPr>
          <a:xfrm>
            <a:off x="749880" y="188352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endParaRPr lang="en-US" sz="1800" b="0" u="none" strike="noStrike">
              <a:solidFill>
                <a:schemeClr val="dk1"/>
              </a:solidFill>
              <a:effectLst/>
              <a:uFillTx/>
              <a:latin typeface="Calibri"/>
            </a:endParaRPr>
          </a:p>
        </p:txBody>
      </p:sp>
      <p:sp>
        <p:nvSpPr>
          <p:cNvPr id="191" name="Text 6"/>
          <p:cNvSpPr/>
          <p:nvPr/>
        </p:nvSpPr>
        <p:spPr>
          <a:xfrm>
            <a:off x="1344240" y="1837800"/>
            <a:ext cx="49374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21476B"/>
                </a:solidFill>
                <a:effectLst/>
                <a:uFillTx/>
                <a:latin typeface="Calibri"/>
                <a:ea typeface="Calibri"/>
              </a:rPr>
              <a:t>INSDC</a:t>
            </a:r>
            <a:endParaRPr lang="de-DE" sz="1400" b="0" u="none" strike="noStrike">
              <a:solidFill>
                <a:srgbClr val="000000"/>
              </a:solidFill>
              <a:effectLst/>
              <a:uFillTx/>
              <a:latin typeface="Arial"/>
            </a:endParaRPr>
          </a:p>
        </p:txBody>
      </p:sp>
      <p:sp>
        <p:nvSpPr>
          <p:cNvPr id="192" name="Text 7"/>
          <p:cNvSpPr/>
          <p:nvPr/>
        </p:nvSpPr>
        <p:spPr>
          <a:xfrm>
            <a:off x="1344240" y="2130480"/>
            <a:ext cx="493740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u="none" strike="noStrike">
                <a:solidFill>
                  <a:srgbClr val="2B2331"/>
                </a:solidFill>
                <a:effectLst/>
                <a:uFillTx/>
                <a:latin typeface="Calibri"/>
                <a:ea typeface="Calibri"/>
              </a:rPr>
              <a:t>raw reads &amp; assemblies (ENA / NCBI / DDBJ)</a:t>
            </a:r>
            <a:endParaRPr lang="de-DE" sz="1100" b="0" u="none" strike="noStrike">
              <a:solidFill>
                <a:srgbClr val="000000"/>
              </a:solidFill>
              <a:effectLst/>
              <a:uFillTx/>
              <a:latin typeface="Arial"/>
            </a:endParaRPr>
          </a:p>
        </p:txBody>
      </p:sp>
      <p:sp>
        <p:nvSpPr>
          <p:cNvPr id="193" name="Shape 8"/>
          <p:cNvSpPr/>
          <p:nvPr/>
        </p:nvSpPr>
        <p:spPr>
          <a:xfrm>
            <a:off x="567000" y="2660760"/>
            <a:ext cx="5851800" cy="840960"/>
          </a:xfrm>
          <a:prstGeom prst="roundRect">
            <a:avLst>
              <a:gd name="adj" fmla="val 7609"/>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194" name="Shape 9"/>
          <p:cNvSpPr/>
          <p:nvPr/>
        </p:nvSpPr>
        <p:spPr>
          <a:xfrm>
            <a:off x="749880" y="2853000"/>
            <a:ext cx="456840" cy="456840"/>
          </a:xfrm>
          <a:prstGeom prst="ellipse">
            <a:avLst/>
          </a:prstGeom>
          <a:solidFill>
            <a:srgbClr val="5E2A75"/>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95" name="Text 10"/>
          <p:cNvSpPr/>
          <p:nvPr/>
        </p:nvSpPr>
        <p:spPr>
          <a:xfrm>
            <a:off x="749880" y="285300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endParaRPr lang="en-US" sz="1800" b="0" u="none" strike="noStrike">
              <a:solidFill>
                <a:schemeClr val="dk1"/>
              </a:solidFill>
              <a:effectLst/>
              <a:uFillTx/>
              <a:latin typeface="Calibri"/>
            </a:endParaRPr>
          </a:p>
        </p:txBody>
      </p:sp>
      <p:sp>
        <p:nvSpPr>
          <p:cNvPr id="196" name="Text 11"/>
          <p:cNvSpPr/>
          <p:nvPr/>
        </p:nvSpPr>
        <p:spPr>
          <a:xfrm>
            <a:off x="1344240" y="2807280"/>
            <a:ext cx="49374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5E2A75"/>
                </a:solidFill>
                <a:effectLst/>
                <a:uFillTx/>
                <a:latin typeface="Calibri"/>
                <a:ea typeface="Calibri"/>
              </a:rPr>
              <a:t>Ensembl</a:t>
            </a:r>
            <a:endParaRPr lang="de-DE" sz="1400" b="0" u="none" strike="noStrike">
              <a:solidFill>
                <a:srgbClr val="000000"/>
              </a:solidFill>
              <a:effectLst/>
              <a:uFillTx/>
              <a:latin typeface="Arial"/>
            </a:endParaRPr>
          </a:p>
        </p:txBody>
      </p:sp>
      <p:sp>
        <p:nvSpPr>
          <p:cNvPr id="197" name="Text 12"/>
          <p:cNvSpPr/>
          <p:nvPr/>
        </p:nvSpPr>
        <p:spPr>
          <a:xfrm>
            <a:off x="1344240" y="3099960"/>
            <a:ext cx="493740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u="none" strike="noStrike">
                <a:solidFill>
                  <a:srgbClr val="2B2331"/>
                </a:solidFill>
                <a:effectLst/>
                <a:uFillTx/>
                <a:latin typeface="Calibri"/>
                <a:ea typeface="Calibri"/>
              </a:rPr>
              <a:t>gene annotations &amp; browsers</a:t>
            </a:r>
            <a:endParaRPr lang="de-DE" sz="1100" b="0" u="none" strike="noStrike">
              <a:solidFill>
                <a:srgbClr val="000000"/>
              </a:solidFill>
              <a:effectLst/>
              <a:uFillTx/>
              <a:latin typeface="Arial"/>
            </a:endParaRPr>
          </a:p>
        </p:txBody>
      </p:sp>
      <p:sp>
        <p:nvSpPr>
          <p:cNvPr id="198" name="Shape 13"/>
          <p:cNvSpPr/>
          <p:nvPr/>
        </p:nvSpPr>
        <p:spPr>
          <a:xfrm>
            <a:off x="567000" y="3630240"/>
            <a:ext cx="5851800" cy="840960"/>
          </a:xfrm>
          <a:prstGeom prst="roundRect">
            <a:avLst>
              <a:gd name="adj" fmla="val 7609"/>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199" name="Shape 14"/>
          <p:cNvSpPr/>
          <p:nvPr/>
        </p:nvSpPr>
        <p:spPr>
          <a:xfrm>
            <a:off x="749880" y="3822120"/>
            <a:ext cx="456840" cy="456840"/>
          </a:xfrm>
          <a:prstGeom prst="ellipse">
            <a:avLst/>
          </a:prstGeom>
          <a:solidFill>
            <a:srgbClr val="8246A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200" name="Text 15"/>
          <p:cNvSpPr/>
          <p:nvPr/>
        </p:nvSpPr>
        <p:spPr>
          <a:xfrm>
            <a:off x="749880" y="382212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endParaRPr lang="en-US" sz="1800" b="0" u="none" strike="noStrike">
              <a:solidFill>
                <a:schemeClr val="dk1"/>
              </a:solidFill>
              <a:effectLst/>
              <a:uFillTx/>
              <a:latin typeface="Calibri"/>
            </a:endParaRPr>
          </a:p>
        </p:txBody>
      </p:sp>
      <p:sp>
        <p:nvSpPr>
          <p:cNvPr id="201" name="Text 16"/>
          <p:cNvSpPr/>
          <p:nvPr/>
        </p:nvSpPr>
        <p:spPr>
          <a:xfrm>
            <a:off x="1344240" y="3776400"/>
            <a:ext cx="49374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8246A0"/>
                </a:solidFill>
                <a:effectLst/>
                <a:uFillTx/>
                <a:latin typeface="Calibri"/>
                <a:ea typeface="Calibri"/>
              </a:rPr>
              <a:t>CNCB-NGDC</a:t>
            </a:r>
            <a:endParaRPr lang="de-DE" sz="1400" b="0" u="none" strike="noStrike">
              <a:solidFill>
                <a:srgbClr val="000000"/>
              </a:solidFill>
              <a:effectLst/>
              <a:uFillTx/>
              <a:latin typeface="Arial"/>
            </a:endParaRPr>
          </a:p>
        </p:txBody>
      </p:sp>
      <p:sp>
        <p:nvSpPr>
          <p:cNvPr id="202" name="Text 17"/>
          <p:cNvSpPr/>
          <p:nvPr/>
        </p:nvSpPr>
        <p:spPr>
          <a:xfrm>
            <a:off x="1344240" y="4069080"/>
            <a:ext cx="493740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u="none" strike="noStrike">
                <a:solidFill>
                  <a:srgbClr val="2B2331"/>
                </a:solidFill>
                <a:effectLst/>
                <a:uFillTx/>
                <a:latin typeface="Calibri"/>
                <a:ea typeface="Calibri"/>
              </a:rPr>
              <a:t>mirror &amp; archive (China Nat. Center for Bioinformation)</a:t>
            </a:r>
            <a:endParaRPr lang="de-DE" sz="1100" b="0" u="none" strike="noStrike">
              <a:solidFill>
                <a:srgbClr val="000000"/>
              </a:solidFill>
              <a:effectLst/>
              <a:uFillTx/>
              <a:latin typeface="Arial"/>
            </a:endParaRPr>
          </a:p>
        </p:txBody>
      </p:sp>
      <p:sp>
        <p:nvSpPr>
          <p:cNvPr id="203" name="Shape 18"/>
          <p:cNvSpPr/>
          <p:nvPr/>
        </p:nvSpPr>
        <p:spPr>
          <a:xfrm>
            <a:off x="567000" y="4599360"/>
            <a:ext cx="5851800" cy="840960"/>
          </a:xfrm>
          <a:prstGeom prst="roundRect">
            <a:avLst>
              <a:gd name="adj" fmla="val 7609"/>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204" name="Shape 19"/>
          <p:cNvSpPr/>
          <p:nvPr/>
        </p:nvSpPr>
        <p:spPr>
          <a:xfrm>
            <a:off x="749880" y="4791600"/>
            <a:ext cx="456840" cy="456840"/>
          </a:xfrm>
          <a:prstGeom prst="ellipse">
            <a:avLst/>
          </a:prstGeom>
          <a:solidFill>
            <a:srgbClr val="E860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205" name="Text 20"/>
          <p:cNvSpPr/>
          <p:nvPr/>
        </p:nvSpPr>
        <p:spPr>
          <a:xfrm>
            <a:off x="749880" y="479160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0" u="none" strike="noStrike">
                <a:solidFill>
                  <a:srgbClr val="000000"/>
                </a:solidFill>
                <a:effectLst/>
                <a:uFillTx/>
                <a:latin typeface="Calibri"/>
              </a:rPr>
              <a:t>#</a:t>
            </a:r>
            <a:endParaRPr lang="de-DE" sz="1800" b="0" u="none" strike="noStrike">
              <a:solidFill>
                <a:srgbClr val="000000"/>
              </a:solidFill>
              <a:effectLst/>
              <a:uFillTx/>
              <a:latin typeface="Arial"/>
            </a:endParaRPr>
          </a:p>
        </p:txBody>
      </p:sp>
      <p:sp>
        <p:nvSpPr>
          <p:cNvPr id="206" name="Text 21"/>
          <p:cNvSpPr/>
          <p:nvPr/>
        </p:nvSpPr>
        <p:spPr>
          <a:xfrm>
            <a:off x="1344240" y="4745880"/>
            <a:ext cx="49374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E8606B"/>
                </a:solidFill>
                <a:effectLst/>
                <a:uFillTx/>
                <a:latin typeface="Calibri"/>
                <a:ea typeface="Calibri"/>
              </a:rPr>
              <a:t>DOI (DataCite)</a:t>
            </a:r>
            <a:endParaRPr lang="de-DE" sz="1400" b="0" u="none" strike="noStrike">
              <a:solidFill>
                <a:srgbClr val="000000"/>
              </a:solidFill>
              <a:effectLst/>
              <a:uFillTx/>
              <a:latin typeface="Arial"/>
            </a:endParaRPr>
          </a:p>
        </p:txBody>
      </p:sp>
      <p:sp>
        <p:nvSpPr>
          <p:cNvPr id="207" name="Text 22"/>
          <p:cNvSpPr/>
          <p:nvPr/>
        </p:nvSpPr>
        <p:spPr>
          <a:xfrm>
            <a:off x="1344240" y="5038200"/>
            <a:ext cx="493740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u="none" strike="noStrike">
                <a:solidFill>
                  <a:srgbClr val="2B2331"/>
                </a:solidFill>
                <a:effectLst/>
                <a:uFillTx/>
                <a:latin typeface="Calibri"/>
                <a:ea typeface="Calibri"/>
              </a:rPr>
              <a:t>versioned datasets with persistent identifiers — e.g. Barley v2</a:t>
            </a:r>
            <a:endParaRPr lang="de-DE" sz="1100" b="0" u="none" strike="noStrike">
              <a:solidFill>
                <a:srgbClr val="000000"/>
              </a:solidFill>
              <a:effectLst/>
              <a:uFillTx/>
              <a:latin typeface="Arial"/>
            </a:endParaRPr>
          </a:p>
        </p:txBody>
      </p:sp>
      <p:sp>
        <p:nvSpPr>
          <p:cNvPr id="208" name="Shape 23"/>
          <p:cNvSpPr/>
          <p:nvPr/>
        </p:nvSpPr>
        <p:spPr>
          <a:xfrm>
            <a:off x="6830640" y="1691640"/>
            <a:ext cx="4793760" cy="3931560"/>
          </a:xfrm>
          <a:prstGeom prst="roundRect">
            <a:avLst>
              <a:gd name="adj" fmla="val 1628"/>
            </a:avLst>
          </a:prstGeom>
          <a:solidFill>
            <a:srgbClr val="F2ECEF"/>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209" name="Text 24"/>
          <p:cNvSpPr/>
          <p:nvPr/>
        </p:nvSpPr>
        <p:spPr>
          <a:xfrm>
            <a:off x="7013520" y="1810440"/>
            <a:ext cx="44280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u="none" strike="noStrike">
                <a:solidFill>
                  <a:srgbClr val="5E2A75"/>
                </a:solidFill>
                <a:effectLst/>
                <a:uFillTx/>
                <a:latin typeface="Calibri"/>
                <a:ea typeface="Calibri"/>
              </a:rPr>
              <a:t>A model release</a:t>
            </a:r>
            <a:endParaRPr lang="de-DE" sz="1350" b="0" u="none" strike="noStrike">
              <a:solidFill>
                <a:srgbClr val="000000"/>
              </a:solidFill>
              <a:effectLst/>
              <a:uFillTx/>
              <a:latin typeface="Arial"/>
            </a:endParaRPr>
          </a:p>
        </p:txBody>
      </p:sp>
      <p:sp>
        <p:nvSpPr>
          <p:cNvPr id="210" name="Shape 25"/>
          <p:cNvSpPr/>
          <p:nvPr/>
        </p:nvSpPr>
        <p:spPr>
          <a:xfrm>
            <a:off x="7031880" y="2194560"/>
            <a:ext cx="4391640" cy="2468520"/>
          </a:xfrm>
          <a:prstGeom prst="roundRect">
            <a:avLst>
              <a:gd name="adj" fmla="val 2222"/>
            </a:avLst>
          </a:prstGeom>
          <a:solidFill>
            <a:srgbClr val="FFFFFF"/>
          </a:solidFill>
          <a:ln w="12700">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pic>
        <p:nvPicPr>
          <p:cNvPr id="211" name="Image 0" descr="C:\Users\fzj\AppData\Local\Temp\claude\C--Users-fzj-git-primer3-rs\110509b7-eac3-44ec-8fe3-ff640ad7d275\scratchpad\assets5\hprc.jpg"/>
          <p:cNvPicPr/>
          <p:nvPr/>
        </p:nvPicPr>
        <p:blipFill>
          <a:blip r:embed="rId3"/>
          <a:stretch/>
        </p:blipFill>
        <p:spPr>
          <a:xfrm>
            <a:off x="7150680" y="2313360"/>
            <a:ext cx="4153680" cy="2230920"/>
          </a:xfrm>
          <a:prstGeom prst="rect">
            <a:avLst/>
          </a:prstGeom>
          <a:noFill/>
          <a:ln w="0">
            <a:noFill/>
          </a:ln>
        </p:spPr>
      </p:pic>
      <p:sp>
        <p:nvSpPr>
          <p:cNvPr id="212" name="Text 26"/>
          <p:cNvSpPr/>
          <p:nvPr/>
        </p:nvSpPr>
        <p:spPr>
          <a:xfrm>
            <a:off x="7031880" y="4754880"/>
            <a:ext cx="439164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u="none" strike="noStrike">
                <a:solidFill>
                  <a:srgbClr val="2B2331"/>
                </a:solidFill>
                <a:effectLst/>
                <a:uFillTx/>
                <a:latin typeface="Calibri"/>
                <a:ea typeface="Calibri"/>
              </a:rPr>
              <a:t>The Human Pangenome Reference Consortium: 47 assemblies, versioned &amp; openly archived — a template plant projects can follow.</a:t>
            </a:r>
            <a:endParaRPr lang="de-DE" sz="1100" b="0" u="none" strike="noStrike">
              <a:solidFill>
                <a:srgbClr val="000000"/>
              </a:solidFill>
              <a:effectLst/>
              <a:uFillTx/>
              <a:latin typeface="Arial"/>
            </a:endParaRPr>
          </a:p>
        </p:txBody>
      </p:sp>
      <p:sp>
        <p:nvSpPr>
          <p:cNvPr id="213" name="Text 27"/>
          <p:cNvSpPr/>
          <p:nvPr/>
        </p:nvSpPr>
        <p:spPr>
          <a:xfrm>
            <a:off x="567000" y="6455520"/>
            <a:ext cx="110574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50" b="0" i="1" u="none" strike="noStrike">
                <a:solidFill>
                  <a:srgbClr val="726A7A"/>
                </a:solidFill>
                <a:effectLst/>
                <a:uFillTx/>
                <a:latin typeface="Calibri"/>
                <a:ea typeface="Calibri"/>
              </a:rPr>
              <a:t>E-PAN white paper §4.2. INSDC = International Nucleotide Sequence Database Collaboration. HPRC figure: Liao et al. (2023), Nature 617:312 (CC-BY 4.0).</a:t>
            </a:r>
            <a:endParaRPr lang="de-DE" sz="950" b="0" u="none" strike="noStrike">
              <a:solidFill>
                <a:srgbClr val="000000"/>
              </a:solidFill>
              <a:effectLst/>
              <a:uFillTx/>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4" name="Shape 0"/>
          <p:cNvSpPr/>
          <p:nvPr/>
        </p:nvSpPr>
        <p:spPr>
          <a:xfrm>
            <a:off x="567000" y="457200"/>
            <a:ext cx="155160" cy="155160"/>
          </a:xfrm>
          <a:prstGeom prst="ellipse">
            <a:avLst/>
          </a:prstGeom>
          <a:solidFill>
            <a:srgbClr val="E860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215" name="Text 1"/>
          <p:cNvSpPr/>
          <p:nvPr/>
        </p:nvSpPr>
        <p:spPr>
          <a:xfrm>
            <a:off x="822960" y="384120"/>
            <a:ext cx="10801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201">
                <a:solidFill>
                  <a:srgbClr val="5E2A75"/>
                </a:solidFill>
                <a:effectLst/>
                <a:uFillTx/>
                <a:latin typeface="Calibri"/>
                <a:ea typeface="Calibri"/>
              </a:rPr>
              <a:t>SHARE</a:t>
            </a:r>
            <a:endParaRPr lang="de-DE" sz="1200" b="0" u="none" strike="noStrike">
              <a:solidFill>
                <a:srgbClr val="000000"/>
              </a:solidFill>
              <a:effectLst/>
              <a:uFillTx/>
              <a:latin typeface="Arial"/>
            </a:endParaRPr>
          </a:p>
        </p:txBody>
      </p:sp>
      <p:sp>
        <p:nvSpPr>
          <p:cNvPr id="216" name="Text 2"/>
          <p:cNvSpPr/>
          <p:nvPr/>
        </p:nvSpPr>
        <p:spPr>
          <a:xfrm>
            <a:off x="567000" y="676800"/>
            <a:ext cx="110574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2B2331"/>
                </a:solidFill>
                <a:effectLst/>
                <a:uFillTx/>
                <a:latin typeface="Cambria"/>
                <a:ea typeface="Cambria"/>
              </a:rPr>
              <a:t>The E-PAN sharing recipe — FAIR by construction</a:t>
            </a:r>
            <a:endParaRPr lang="de-DE" sz="2900" b="0" u="none" strike="noStrike">
              <a:solidFill>
                <a:srgbClr val="000000"/>
              </a:solidFill>
              <a:effectLst/>
              <a:uFillTx/>
              <a:latin typeface="Arial"/>
            </a:endParaRPr>
          </a:p>
        </p:txBody>
      </p:sp>
      <p:sp>
        <p:nvSpPr>
          <p:cNvPr id="217" name="Shape 3"/>
          <p:cNvSpPr/>
          <p:nvPr/>
        </p:nvSpPr>
        <p:spPr>
          <a:xfrm>
            <a:off x="567000" y="1828800"/>
            <a:ext cx="5071320" cy="2468520"/>
          </a:xfrm>
          <a:prstGeom prst="roundRect">
            <a:avLst>
              <a:gd name="adj" fmla="val 2593"/>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218" name="Text 4"/>
          <p:cNvSpPr/>
          <p:nvPr/>
        </p:nvSpPr>
        <p:spPr>
          <a:xfrm>
            <a:off x="749880" y="1947600"/>
            <a:ext cx="47055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u="none" strike="noStrike">
                <a:solidFill>
                  <a:srgbClr val="21476B"/>
                </a:solidFill>
                <a:effectLst/>
                <a:uFillTx/>
                <a:latin typeface="Calibri"/>
                <a:ea typeface="Calibri"/>
              </a:rPr>
              <a:t>1 · Minimal compliant package</a:t>
            </a:r>
            <a:endParaRPr lang="de-DE" sz="1350" b="0" u="none" strike="noStrike">
              <a:solidFill>
                <a:srgbClr val="000000"/>
              </a:solidFill>
              <a:effectLst/>
              <a:uFillTx/>
              <a:latin typeface="Arial"/>
            </a:endParaRPr>
          </a:p>
        </p:txBody>
      </p:sp>
      <p:sp>
        <p:nvSpPr>
          <p:cNvPr id="219" name="Text 5"/>
          <p:cNvSpPr/>
          <p:nvPr/>
        </p:nvSpPr>
        <p:spPr>
          <a:xfrm>
            <a:off x="841320" y="2468880"/>
            <a:ext cx="452268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799"/>
              </a:spcAft>
              <a:buClr>
                <a:srgbClr val="2B2331"/>
              </a:buClr>
              <a:buFont typeface="Symbol" charset="2"/>
              <a:buChar char=""/>
            </a:pPr>
            <a:r>
              <a:rPr lang="en-US" sz="1300" b="0" u="none" strike="noStrike">
                <a:solidFill>
                  <a:srgbClr val="2B2331"/>
                </a:solidFill>
                <a:effectLst/>
                <a:uFillTx/>
                <a:latin typeface="Calibri"/>
                <a:ea typeface="Calibri"/>
              </a:rPr>
              <a:t>FASTA (assemblies)</a:t>
            </a:r>
            <a:endParaRPr lang="de-DE" sz="1300" b="0" u="none" strike="noStrike">
              <a:solidFill>
                <a:srgbClr val="000000"/>
              </a:solidFill>
              <a:effectLst/>
              <a:uFillTx/>
              <a:latin typeface="Arial"/>
            </a:endParaRPr>
          </a:p>
          <a:p>
            <a:pPr marL="177840" indent="-177840" defTabSz="914400">
              <a:lnSpc>
                <a:spcPct val="100000"/>
              </a:lnSpc>
              <a:spcAft>
                <a:spcPts val="799"/>
              </a:spcAft>
              <a:buClr>
                <a:srgbClr val="2B2331"/>
              </a:buClr>
              <a:buFont typeface="Symbol" charset="2"/>
              <a:buChar char=""/>
            </a:pPr>
            <a:r>
              <a:rPr lang="en-US" sz="1300" b="0" u="none" strike="noStrike">
                <a:solidFill>
                  <a:srgbClr val="2B2331"/>
                </a:solidFill>
                <a:effectLst/>
                <a:uFillTx/>
                <a:latin typeface="Calibri"/>
                <a:ea typeface="Calibri"/>
              </a:rPr>
              <a:t>GFF3 (annotation)</a:t>
            </a:r>
            <a:endParaRPr lang="de-DE" sz="1300" b="0" u="none" strike="noStrike">
              <a:solidFill>
                <a:srgbClr val="000000"/>
              </a:solidFill>
              <a:effectLst/>
              <a:uFillTx/>
              <a:latin typeface="Arial"/>
            </a:endParaRPr>
          </a:p>
          <a:p>
            <a:pPr marL="177840" indent="-177840" defTabSz="914400">
              <a:lnSpc>
                <a:spcPct val="100000"/>
              </a:lnSpc>
              <a:spcAft>
                <a:spcPts val="799"/>
              </a:spcAft>
              <a:buClr>
                <a:srgbClr val="2B2331"/>
              </a:buClr>
              <a:buFont typeface="Symbol" charset="2"/>
              <a:buChar char=""/>
            </a:pPr>
            <a:r>
              <a:rPr lang="en-US" sz="1300" b="0" u="none" strike="noStrike">
                <a:solidFill>
                  <a:srgbClr val="2B2331"/>
                </a:solidFill>
                <a:effectLst/>
                <a:uFillTx/>
                <a:latin typeface="Calibri"/>
                <a:ea typeface="Calibri"/>
              </a:rPr>
              <a:t>VCF (variants)</a:t>
            </a:r>
            <a:endParaRPr lang="de-DE" sz="1300" b="0" u="none" strike="noStrike">
              <a:solidFill>
                <a:srgbClr val="000000"/>
              </a:solidFill>
              <a:effectLst/>
              <a:uFillTx/>
              <a:latin typeface="Arial"/>
            </a:endParaRPr>
          </a:p>
          <a:p>
            <a:pPr marL="177840" indent="-177840" defTabSz="914400">
              <a:lnSpc>
                <a:spcPct val="100000"/>
              </a:lnSpc>
              <a:spcAft>
                <a:spcPts val="799"/>
              </a:spcAft>
              <a:buClr>
                <a:srgbClr val="2B2331"/>
              </a:buClr>
              <a:buFont typeface="Symbol" charset="2"/>
              <a:buChar char=""/>
            </a:pPr>
            <a:r>
              <a:rPr lang="en-US" sz="1300" b="0" u="none" strike="noStrike">
                <a:solidFill>
                  <a:srgbClr val="2B2331"/>
                </a:solidFill>
                <a:effectLst/>
                <a:uFillTx/>
                <a:latin typeface="Calibri"/>
                <a:ea typeface="Calibri"/>
              </a:rPr>
              <a:t>core metadata</a:t>
            </a:r>
            <a:endParaRPr lang="de-DE" sz="1300" b="0" u="none" strike="noStrike">
              <a:solidFill>
                <a:srgbClr val="000000"/>
              </a:solidFill>
              <a:effectLst/>
              <a:uFillTx/>
              <a:latin typeface="Arial"/>
            </a:endParaRPr>
          </a:p>
        </p:txBody>
      </p:sp>
      <p:sp>
        <p:nvSpPr>
          <p:cNvPr id="220" name="Text 6"/>
          <p:cNvSpPr/>
          <p:nvPr/>
        </p:nvSpPr>
        <p:spPr>
          <a:xfrm>
            <a:off x="841320" y="3794760"/>
            <a:ext cx="45226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i="1" u="none" strike="noStrike">
                <a:solidFill>
                  <a:srgbClr val="21476B"/>
                </a:solidFill>
                <a:effectLst/>
                <a:uFillTx/>
                <a:latin typeface="Calibri"/>
                <a:ea typeface="Calibri"/>
              </a:rPr>
              <a:t>→ deposit in INSDC / Ensembl / CNCB-NGDC</a:t>
            </a:r>
            <a:endParaRPr lang="de-DE" sz="1200" b="0" u="none" strike="noStrike">
              <a:solidFill>
                <a:srgbClr val="000000"/>
              </a:solidFill>
              <a:effectLst/>
              <a:uFillTx/>
              <a:latin typeface="Arial"/>
            </a:endParaRPr>
          </a:p>
        </p:txBody>
      </p:sp>
      <p:sp>
        <p:nvSpPr>
          <p:cNvPr id="221" name="Shape 7"/>
          <p:cNvSpPr/>
          <p:nvPr/>
        </p:nvSpPr>
        <p:spPr>
          <a:xfrm>
            <a:off x="6553080" y="1828800"/>
            <a:ext cx="5071320" cy="2468520"/>
          </a:xfrm>
          <a:prstGeom prst="roundRect">
            <a:avLst>
              <a:gd name="adj" fmla="val 2593"/>
            </a:avLst>
          </a:prstGeom>
          <a:solidFill>
            <a:srgbClr val="F2ECEF"/>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222" name="Text 8"/>
          <p:cNvSpPr/>
          <p:nvPr/>
        </p:nvSpPr>
        <p:spPr>
          <a:xfrm>
            <a:off x="6735960" y="1947600"/>
            <a:ext cx="47055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u="none" strike="noStrike">
                <a:solidFill>
                  <a:srgbClr val="5E2A75"/>
                </a:solidFill>
                <a:effectLst/>
                <a:uFillTx/>
                <a:latin typeface="Calibri"/>
                <a:ea typeface="Calibri"/>
              </a:rPr>
              <a:t>2 · RO-Crate archive (the full record)</a:t>
            </a:r>
            <a:endParaRPr lang="de-DE" sz="1350" b="0" u="none" strike="noStrike">
              <a:solidFill>
                <a:srgbClr val="000000"/>
              </a:solidFill>
              <a:effectLst/>
              <a:uFillTx/>
              <a:latin typeface="Arial"/>
            </a:endParaRPr>
          </a:p>
        </p:txBody>
      </p:sp>
      <p:sp>
        <p:nvSpPr>
          <p:cNvPr id="223" name="Text 9"/>
          <p:cNvSpPr/>
          <p:nvPr/>
        </p:nvSpPr>
        <p:spPr>
          <a:xfrm>
            <a:off x="6827400" y="2468880"/>
            <a:ext cx="4522680" cy="1462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799"/>
              </a:spcAft>
              <a:buClr>
                <a:srgbClr val="2B2331"/>
              </a:buClr>
              <a:buFont typeface="Symbol" charset="2"/>
              <a:buChar char=""/>
            </a:pPr>
            <a:r>
              <a:rPr lang="en-US" sz="1300" b="0" u="none" strike="noStrike">
                <a:solidFill>
                  <a:srgbClr val="2B2331"/>
                </a:solidFill>
                <a:effectLst/>
                <a:uFillTx/>
                <a:latin typeface="Calibri"/>
                <a:ea typeface="Calibri"/>
              </a:rPr>
              <a:t>the complete GFA graph</a:t>
            </a:r>
            <a:endParaRPr lang="de-DE" sz="1300" b="0" u="none" strike="noStrike">
              <a:solidFill>
                <a:srgbClr val="000000"/>
              </a:solidFill>
              <a:effectLst/>
              <a:uFillTx/>
              <a:latin typeface="Arial"/>
            </a:endParaRPr>
          </a:p>
          <a:p>
            <a:pPr marL="177840" indent="-177840" defTabSz="914400">
              <a:lnSpc>
                <a:spcPct val="100000"/>
              </a:lnSpc>
              <a:spcAft>
                <a:spcPts val="799"/>
              </a:spcAft>
              <a:buClr>
                <a:srgbClr val="2B2331"/>
              </a:buClr>
              <a:buFont typeface="Symbol" charset="2"/>
              <a:buChar char=""/>
            </a:pPr>
            <a:r>
              <a:rPr lang="en-US" sz="1300" b="0" u="none" strike="noStrike">
                <a:solidFill>
                  <a:srgbClr val="2B2331"/>
                </a:solidFill>
                <a:effectLst/>
                <a:uFillTx/>
                <a:latin typeface="Calibri"/>
                <a:ea typeface="Calibri"/>
              </a:rPr>
              <a:t>Snakemake / Nextflow workflow files (provenance)</a:t>
            </a:r>
            <a:endParaRPr lang="de-DE" sz="1300" b="0" u="none" strike="noStrike">
              <a:solidFill>
                <a:srgbClr val="000000"/>
              </a:solidFill>
              <a:effectLst/>
              <a:uFillTx/>
              <a:latin typeface="Arial"/>
            </a:endParaRPr>
          </a:p>
          <a:p>
            <a:pPr marL="177840" indent="-177840" defTabSz="914400">
              <a:lnSpc>
                <a:spcPct val="100000"/>
              </a:lnSpc>
              <a:spcAft>
                <a:spcPts val="799"/>
              </a:spcAft>
              <a:buClr>
                <a:srgbClr val="2B2331"/>
              </a:buClr>
              <a:buFont typeface="Symbol" charset="2"/>
              <a:buChar char=""/>
            </a:pPr>
            <a:r>
              <a:rPr lang="en-US" sz="1300" b="0" u="none" strike="noStrike">
                <a:solidFill>
                  <a:srgbClr val="2B2331"/>
                </a:solidFill>
                <a:effectLst/>
                <a:uFillTx/>
                <a:latin typeface="Calibri"/>
                <a:ea typeface="Calibri"/>
              </a:rPr>
              <a:t>QC &amp; validation reports</a:t>
            </a:r>
            <a:endParaRPr lang="de-DE" sz="1300" b="0" u="none" strike="noStrike">
              <a:solidFill>
                <a:srgbClr val="000000"/>
              </a:solidFill>
              <a:effectLst/>
              <a:uFillTx/>
              <a:latin typeface="Arial"/>
            </a:endParaRPr>
          </a:p>
          <a:p>
            <a:pPr marL="177840" indent="-177840" defTabSz="914400">
              <a:lnSpc>
                <a:spcPct val="100000"/>
              </a:lnSpc>
              <a:spcAft>
                <a:spcPts val="799"/>
              </a:spcAft>
              <a:buClr>
                <a:srgbClr val="2B2331"/>
              </a:buClr>
              <a:buFont typeface="Symbol" charset="2"/>
              <a:buChar char=""/>
            </a:pPr>
            <a:r>
              <a:rPr lang="en-US" sz="1300" b="0" u="none" strike="noStrike">
                <a:solidFill>
                  <a:srgbClr val="2B2331"/>
                </a:solidFill>
                <a:effectLst/>
                <a:uFillTx/>
                <a:latin typeface="Calibri"/>
                <a:ea typeface="Calibri"/>
              </a:rPr>
              <a:t>JSON-LD structured metadata</a:t>
            </a:r>
            <a:endParaRPr lang="de-DE" sz="1300" b="0" u="none" strike="noStrike">
              <a:solidFill>
                <a:srgbClr val="000000"/>
              </a:solidFill>
              <a:effectLst/>
              <a:uFillTx/>
              <a:latin typeface="Arial"/>
            </a:endParaRPr>
          </a:p>
        </p:txBody>
      </p:sp>
      <p:sp>
        <p:nvSpPr>
          <p:cNvPr id="224" name="Text 10"/>
          <p:cNvSpPr/>
          <p:nvPr/>
        </p:nvSpPr>
        <p:spPr>
          <a:xfrm>
            <a:off x="6827400" y="3794760"/>
            <a:ext cx="45226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i="1" u="none" strike="noStrike">
                <a:solidFill>
                  <a:srgbClr val="5E2A75"/>
                </a:solidFill>
                <a:effectLst/>
                <a:uFillTx/>
                <a:latin typeface="Calibri"/>
                <a:ea typeface="Calibri"/>
              </a:rPr>
              <a:t>→ DOI-versioned (Zenodo / DataCite)</a:t>
            </a:r>
            <a:endParaRPr lang="de-DE" sz="1200" b="0" u="none" strike="noStrike">
              <a:solidFill>
                <a:srgbClr val="000000"/>
              </a:solidFill>
              <a:effectLst/>
              <a:uFillTx/>
              <a:latin typeface="Arial"/>
            </a:endParaRPr>
          </a:p>
        </p:txBody>
      </p:sp>
      <p:sp>
        <p:nvSpPr>
          <p:cNvPr id="225" name="Text 11"/>
          <p:cNvSpPr/>
          <p:nvPr/>
        </p:nvSpPr>
        <p:spPr>
          <a:xfrm>
            <a:off x="5638680" y="2697480"/>
            <a:ext cx="91404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000" b="1" u="none" strike="noStrike">
                <a:solidFill>
                  <a:srgbClr val="DE8E2C"/>
                </a:solidFill>
                <a:effectLst/>
                <a:uFillTx/>
                <a:latin typeface="Cambria"/>
                <a:ea typeface="Cambria"/>
              </a:rPr>
              <a:t>+</a:t>
            </a:r>
            <a:endParaRPr lang="de-DE" sz="4000" b="0" u="none" strike="noStrike">
              <a:solidFill>
                <a:srgbClr val="000000"/>
              </a:solidFill>
              <a:effectLst/>
              <a:uFillTx/>
              <a:latin typeface="Arial"/>
            </a:endParaRPr>
          </a:p>
        </p:txBody>
      </p:sp>
      <p:sp>
        <p:nvSpPr>
          <p:cNvPr id="226" name="Shape 12"/>
          <p:cNvSpPr/>
          <p:nvPr/>
        </p:nvSpPr>
        <p:spPr>
          <a:xfrm>
            <a:off x="567000" y="4663440"/>
            <a:ext cx="11057400" cy="914040"/>
          </a:xfrm>
          <a:prstGeom prst="roundRect">
            <a:avLst>
              <a:gd name="adj" fmla="val 7000"/>
            </a:avLst>
          </a:prstGeom>
          <a:solidFill>
            <a:srgbClr val="3D2049"/>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227" name="Text 13"/>
          <p:cNvSpPr/>
          <p:nvPr/>
        </p:nvSpPr>
        <p:spPr>
          <a:xfrm>
            <a:off x="841320" y="4663440"/>
            <a:ext cx="1050876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DE8E2C"/>
                </a:solidFill>
                <a:effectLst/>
                <a:uFillTx/>
                <a:latin typeface="Calibri"/>
                <a:ea typeface="Calibri"/>
              </a:rPr>
              <a:t>FAIR by construction:  </a:t>
            </a:r>
            <a:r>
              <a:rPr lang="en-US" sz="1350" b="0" u="none" strike="noStrike">
                <a:solidFill>
                  <a:srgbClr val="EADFEF"/>
                </a:solidFill>
                <a:effectLst/>
                <a:uFillTx/>
                <a:latin typeface="Calibri"/>
                <a:ea typeface="Calibri"/>
              </a:rPr>
              <a:t>Findable (DOI) · Accessible (public archives) · Interoperable (standard formats + ontologies) · Reusable (workflow + metadata).</a:t>
            </a:r>
            <a:endParaRPr lang="de-DE" sz="1350" b="0" u="none" strike="noStrike">
              <a:solidFill>
                <a:srgbClr val="000000"/>
              </a:solidFill>
              <a:effectLst/>
              <a:uFillTx/>
              <a:latin typeface="Arial"/>
            </a:endParaRPr>
          </a:p>
        </p:txBody>
      </p:sp>
      <p:sp>
        <p:nvSpPr>
          <p:cNvPr id="228" name="Text 14"/>
          <p:cNvSpPr/>
          <p:nvPr/>
        </p:nvSpPr>
        <p:spPr>
          <a:xfrm>
            <a:off x="567000" y="6455520"/>
            <a:ext cx="110574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50" b="0" i="1" u="none" strike="noStrike">
                <a:solidFill>
                  <a:srgbClr val="726A7A"/>
                </a:solidFill>
                <a:effectLst/>
                <a:uFillTx/>
                <a:latin typeface="Calibri"/>
                <a:ea typeface="Calibri"/>
              </a:rPr>
              <a:t>E-PAN white paper §4.4 (recommended implementation). RO-Crate = Research Object Crate; a packaged, machine-readable bundle of data + metadata + provenance.</a:t>
            </a:r>
            <a:endParaRPr lang="de-DE" sz="950" b="0" u="none" strike="noStrike">
              <a:solidFill>
                <a:srgbClr val="000000"/>
              </a:solidFill>
              <a:effectLst/>
              <a:uFillTx/>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9" name="Shape 0"/>
          <p:cNvSpPr/>
          <p:nvPr/>
        </p:nvSpPr>
        <p:spPr>
          <a:xfrm>
            <a:off x="567000" y="457200"/>
            <a:ext cx="155160" cy="155160"/>
          </a:xfrm>
          <a:prstGeom prst="ellipse">
            <a:avLst/>
          </a:prstGeom>
          <a:solidFill>
            <a:srgbClr val="E860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230" name="Text 1"/>
          <p:cNvSpPr/>
          <p:nvPr/>
        </p:nvSpPr>
        <p:spPr>
          <a:xfrm>
            <a:off x="822960" y="384120"/>
            <a:ext cx="10801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201">
                <a:solidFill>
                  <a:srgbClr val="5E2A75"/>
                </a:solidFill>
                <a:effectLst/>
                <a:uFillTx/>
                <a:latin typeface="Calibri"/>
                <a:ea typeface="Calibri"/>
              </a:rPr>
              <a:t>INTEGRATE</a:t>
            </a:r>
            <a:endParaRPr lang="de-DE" sz="1200" b="0" u="none" strike="noStrike">
              <a:solidFill>
                <a:srgbClr val="000000"/>
              </a:solidFill>
              <a:effectLst/>
              <a:uFillTx/>
              <a:latin typeface="Arial"/>
            </a:endParaRPr>
          </a:p>
        </p:txBody>
      </p:sp>
      <p:sp>
        <p:nvSpPr>
          <p:cNvPr id="231" name="Text 2"/>
          <p:cNvSpPr/>
          <p:nvPr/>
        </p:nvSpPr>
        <p:spPr>
          <a:xfrm>
            <a:off x="567000" y="676800"/>
            <a:ext cx="110574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2B2331"/>
                </a:solidFill>
                <a:effectLst/>
                <a:uFillTx/>
                <a:latin typeface="Cambria"/>
                <a:ea typeface="Cambria"/>
              </a:rPr>
              <a:t>Browsers &amp; portals — for the whole community</a:t>
            </a:r>
            <a:endParaRPr lang="de-DE" sz="2900" b="0" u="none" strike="noStrike">
              <a:solidFill>
                <a:srgbClr val="000000"/>
              </a:solidFill>
              <a:effectLst/>
              <a:uFillTx/>
              <a:latin typeface="Arial"/>
            </a:endParaRPr>
          </a:p>
        </p:txBody>
      </p:sp>
      <p:sp>
        <p:nvSpPr>
          <p:cNvPr id="232" name="Text 3"/>
          <p:cNvSpPr/>
          <p:nvPr/>
        </p:nvSpPr>
        <p:spPr>
          <a:xfrm>
            <a:off x="567000" y="1737360"/>
            <a:ext cx="4571640" cy="365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1301"/>
              </a:spcAft>
              <a:buClr>
                <a:srgbClr val="2B2331"/>
              </a:buClr>
              <a:buFont typeface="Symbol" charset="2"/>
              <a:buChar char=""/>
            </a:pPr>
            <a:r>
              <a:rPr lang="en-US" sz="1300" b="1" u="none" strike="noStrike">
                <a:solidFill>
                  <a:srgbClr val="2B2331"/>
                </a:solidFill>
                <a:effectLst/>
                <a:uFillTx/>
                <a:latin typeface="Calibri"/>
                <a:ea typeface="Calibri"/>
              </a:rPr>
              <a:t>Pre-rendered web portals let breeders &amp; biologists explore a pangenome with no command line</a:t>
            </a:r>
            <a:endParaRPr lang="de-DE" sz="1300" b="0" u="none" strike="noStrike">
              <a:solidFill>
                <a:srgbClr val="000000"/>
              </a:solidFill>
              <a:effectLst/>
              <a:uFillTx/>
              <a:latin typeface="Arial"/>
            </a:endParaRPr>
          </a:p>
          <a:p>
            <a:pPr marL="177840" indent="-177840" defTabSz="914400">
              <a:lnSpc>
                <a:spcPct val="100000"/>
              </a:lnSpc>
              <a:spcAft>
                <a:spcPts val="1301"/>
              </a:spcAft>
              <a:buClr>
                <a:srgbClr val="2B2331"/>
              </a:buClr>
              <a:buFont typeface="Symbol" charset="2"/>
              <a:buChar char=""/>
            </a:pPr>
            <a:r>
              <a:rPr lang="en-US" sz="1300" b="0" u="none" strike="noStrike">
                <a:solidFill>
                  <a:srgbClr val="2B2331"/>
                </a:solidFill>
                <a:effectLst/>
                <a:uFillTx/>
                <a:latin typeface="Calibri"/>
                <a:ea typeface="Calibri"/>
              </a:rPr>
              <a:t>Panache — a browser for presence/absence variation across a linearized pangenome</a:t>
            </a:r>
            <a:endParaRPr lang="de-DE" sz="1300" b="0" u="none" strike="noStrike">
              <a:solidFill>
                <a:srgbClr val="000000"/>
              </a:solidFill>
              <a:effectLst/>
              <a:uFillTx/>
              <a:latin typeface="Arial"/>
            </a:endParaRPr>
          </a:p>
          <a:p>
            <a:pPr marL="177840" indent="-177840" defTabSz="914400">
              <a:lnSpc>
                <a:spcPct val="100000"/>
              </a:lnSpc>
              <a:spcAft>
                <a:spcPts val="1301"/>
              </a:spcAft>
              <a:buClr>
                <a:srgbClr val="2B2331"/>
              </a:buClr>
              <a:buFont typeface="Symbol" charset="2"/>
              <a:buChar char=""/>
            </a:pPr>
            <a:r>
              <a:rPr lang="en-US" sz="1300" b="0" u="none" strike="noStrike">
                <a:solidFill>
                  <a:srgbClr val="2B2331"/>
                </a:solidFill>
                <a:effectLst/>
                <a:uFillTx/>
                <a:latin typeface="Calibri"/>
                <a:ea typeface="Calibri"/>
              </a:rPr>
              <a:t>Searchable tracks, PAV matrices and summary plots, ready to use</a:t>
            </a:r>
            <a:endParaRPr lang="de-DE" sz="1300" b="0" u="none" strike="noStrike">
              <a:solidFill>
                <a:srgbClr val="000000"/>
              </a:solidFill>
              <a:effectLst/>
              <a:uFillTx/>
              <a:latin typeface="Arial"/>
            </a:endParaRPr>
          </a:p>
          <a:p>
            <a:pPr marL="177840" indent="-177840" defTabSz="914400">
              <a:lnSpc>
                <a:spcPct val="100000"/>
              </a:lnSpc>
              <a:spcAft>
                <a:spcPts val="1301"/>
              </a:spcAft>
              <a:buClr>
                <a:srgbClr val="8246A0"/>
              </a:buClr>
              <a:buFont typeface="Symbol" charset="2"/>
              <a:buChar char=""/>
            </a:pPr>
            <a:r>
              <a:rPr lang="en-US" sz="1300" b="1" u="none" strike="noStrike">
                <a:solidFill>
                  <a:srgbClr val="8246A0"/>
                </a:solidFill>
                <a:effectLst/>
                <a:uFillTx/>
                <a:latin typeface="Calibri"/>
                <a:ea typeface="Calibri"/>
              </a:rPr>
              <a:t>PanBARLEX (IPK) — a community barley pangenome portal exemplifying this approach</a:t>
            </a:r>
            <a:endParaRPr lang="de-DE" sz="1300" b="0" u="none" strike="noStrike">
              <a:solidFill>
                <a:srgbClr val="000000"/>
              </a:solidFill>
              <a:effectLst/>
              <a:uFillTx/>
              <a:latin typeface="Arial"/>
            </a:endParaRPr>
          </a:p>
        </p:txBody>
      </p:sp>
      <p:sp>
        <p:nvSpPr>
          <p:cNvPr id="233" name="Shape 4"/>
          <p:cNvSpPr/>
          <p:nvPr/>
        </p:nvSpPr>
        <p:spPr>
          <a:xfrm>
            <a:off x="5550480" y="1691640"/>
            <a:ext cx="6073920" cy="3840120"/>
          </a:xfrm>
          <a:prstGeom prst="roundRect">
            <a:avLst>
              <a:gd name="adj" fmla="val 1429"/>
            </a:avLst>
          </a:prstGeom>
          <a:solidFill>
            <a:srgbClr val="FFFFFF"/>
          </a:solidFill>
          <a:ln w="12700">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pic>
        <p:nvPicPr>
          <p:cNvPr id="234" name="Image 0" descr="C:\Users\fzj\AppData\Local\Temp\claude\C--Users-fzj-git-primer3-rs\110509b7-eac3-44ec-8fe3-ff640ad7d275\scratchpad\assets5\panache.jpg"/>
          <p:cNvPicPr/>
          <p:nvPr/>
        </p:nvPicPr>
        <p:blipFill>
          <a:blip r:embed="rId3"/>
          <a:stretch/>
        </p:blipFill>
        <p:spPr>
          <a:xfrm>
            <a:off x="5669280" y="1810440"/>
            <a:ext cx="5836320" cy="3602520"/>
          </a:xfrm>
          <a:prstGeom prst="rect">
            <a:avLst/>
          </a:prstGeom>
          <a:noFill/>
          <a:ln w="0">
            <a:noFill/>
          </a:ln>
        </p:spPr>
      </p:pic>
      <p:sp>
        <p:nvSpPr>
          <p:cNvPr id="235" name="Text 5"/>
          <p:cNvSpPr/>
          <p:nvPr/>
        </p:nvSpPr>
        <p:spPr>
          <a:xfrm>
            <a:off x="567000" y="6455520"/>
            <a:ext cx="110574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50" b="0" i="1" u="none" strike="noStrike">
                <a:solidFill>
                  <a:srgbClr val="726A7A"/>
                </a:solidFill>
                <a:effectLst/>
                <a:uFillTx/>
                <a:latin typeface="Calibri"/>
                <a:ea typeface="Calibri"/>
              </a:rPr>
              <a:t>Panache: Durant et al. (2021), Bioinformatics 37:4556 (CC-BY). PanBARLEX: panbarlex.ipk-gatersleben.de (E-PAN white paper §5.1 &amp; §8).</a:t>
            </a:r>
            <a:endParaRPr lang="de-DE" sz="950" b="0" u="none" strike="noStrike">
              <a:solidFill>
                <a:srgbClr val="000000"/>
              </a:solidFill>
              <a:effectLst/>
              <a:uFillTx/>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6" name="Shape 0"/>
          <p:cNvSpPr/>
          <p:nvPr/>
        </p:nvSpPr>
        <p:spPr>
          <a:xfrm>
            <a:off x="567000" y="457200"/>
            <a:ext cx="155160" cy="155160"/>
          </a:xfrm>
          <a:prstGeom prst="ellipse">
            <a:avLst/>
          </a:prstGeom>
          <a:solidFill>
            <a:srgbClr val="E860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237" name="Text 1"/>
          <p:cNvSpPr/>
          <p:nvPr/>
        </p:nvSpPr>
        <p:spPr>
          <a:xfrm>
            <a:off x="822960" y="384120"/>
            <a:ext cx="10801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201">
                <a:solidFill>
                  <a:srgbClr val="5E2A75"/>
                </a:solidFill>
                <a:effectLst/>
                <a:uFillTx/>
                <a:latin typeface="Calibri"/>
                <a:ea typeface="Calibri"/>
              </a:rPr>
              <a:t>INTEGRATE</a:t>
            </a:r>
            <a:endParaRPr lang="de-DE" sz="1200" b="0" u="none" strike="noStrike">
              <a:solidFill>
                <a:srgbClr val="000000"/>
              </a:solidFill>
              <a:effectLst/>
              <a:uFillTx/>
              <a:latin typeface="Arial"/>
            </a:endParaRPr>
          </a:p>
        </p:txBody>
      </p:sp>
      <p:sp>
        <p:nvSpPr>
          <p:cNvPr id="238" name="Text 2"/>
          <p:cNvSpPr/>
          <p:nvPr/>
        </p:nvSpPr>
        <p:spPr>
          <a:xfrm>
            <a:off x="567000" y="676800"/>
            <a:ext cx="110574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2B2331"/>
                </a:solidFill>
                <a:effectLst/>
                <a:uFillTx/>
                <a:latin typeface="Cambria"/>
                <a:ea typeface="Cambria"/>
              </a:rPr>
              <a:t>Programmatic reuse: APIs &amp; interoperability</a:t>
            </a:r>
            <a:endParaRPr lang="de-DE" sz="2900" b="0" u="none" strike="noStrike">
              <a:solidFill>
                <a:srgbClr val="000000"/>
              </a:solidFill>
              <a:effectLst/>
              <a:uFillTx/>
              <a:latin typeface="Arial"/>
            </a:endParaRPr>
          </a:p>
        </p:txBody>
      </p:sp>
      <p:sp>
        <p:nvSpPr>
          <p:cNvPr id="239" name="Text 3"/>
          <p:cNvSpPr/>
          <p:nvPr/>
        </p:nvSpPr>
        <p:spPr>
          <a:xfrm>
            <a:off x="567000" y="1737360"/>
            <a:ext cx="6034680" cy="365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1199"/>
              </a:spcAft>
              <a:buClr>
                <a:srgbClr val="2B2331"/>
              </a:buClr>
              <a:buFont typeface="Symbol" charset="2"/>
              <a:buChar char=""/>
            </a:pPr>
            <a:r>
              <a:rPr lang="en-US" sz="1300" b="1" u="none" strike="noStrike">
                <a:solidFill>
                  <a:srgbClr val="2B2331"/>
                </a:solidFill>
                <a:effectLst/>
                <a:uFillTx/>
                <a:latin typeface="Calibri"/>
                <a:ea typeface="Calibri"/>
              </a:rPr>
              <a:t>Machine-actionable access lets other databases &amp; tools consume your pangenome automatically</a:t>
            </a:r>
            <a:endParaRPr lang="de-DE" sz="1300" b="0" u="none" strike="noStrike">
              <a:solidFill>
                <a:srgbClr val="000000"/>
              </a:solidFill>
              <a:effectLst/>
              <a:uFillTx/>
              <a:latin typeface="Arial"/>
            </a:endParaRPr>
          </a:p>
          <a:p>
            <a:pPr marL="177840" indent="-177840" defTabSz="914400">
              <a:lnSpc>
                <a:spcPct val="100000"/>
              </a:lnSpc>
              <a:spcAft>
                <a:spcPts val="1199"/>
              </a:spcAft>
              <a:buClr>
                <a:srgbClr val="2B2331"/>
              </a:buClr>
              <a:buFont typeface="Symbol" charset="2"/>
              <a:buChar char=""/>
            </a:pPr>
            <a:r>
              <a:rPr lang="en-US" sz="1300" b="0" u="none" strike="noStrike">
                <a:solidFill>
                  <a:srgbClr val="2B2331"/>
                </a:solidFill>
                <a:effectLst/>
                <a:uFillTx/>
                <a:latin typeface="Calibri"/>
                <a:ea typeface="Calibri"/>
              </a:rPr>
              <a:t>BrAPI (Breeding API) — a community standard for breeding &amp; genotype data exchange</a:t>
            </a:r>
            <a:endParaRPr lang="de-DE" sz="1300" b="0" u="none" strike="noStrike">
              <a:solidFill>
                <a:srgbClr val="000000"/>
              </a:solidFill>
              <a:effectLst/>
              <a:uFillTx/>
              <a:latin typeface="Arial"/>
            </a:endParaRPr>
          </a:p>
          <a:p>
            <a:pPr marL="177840" indent="-177840" defTabSz="914400">
              <a:lnSpc>
                <a:spcPct val="100000"/>
              </a:lnSpc>
              <a:spcAft>
                <a:spcPts val="1199"/>
              </a:spcAft>
              <a:buClr>
                <a:srgbClr val="2B2331"/>
              </a:buClr>
              <a:buFont typeface="Symbol" charset="2"/>
              <a:buChar char=""/>
            </a:pPr>
            <a:r>
              <a:rPr lang="en-US" sz="1300" b="0" u="none" strike="noStrike">
                <a:solidFill>
                  <a:srgbClr val="2B2331"/>
                </a:solidFill>
                <a:effectLst/>
                <a:uFillTx/>
                <a:latin typeface="Calibri"/>
                <a:ea typeface="Calibri"/>
              </a:rPr>
              <a:t>Standardised JSON responses → the same query works across many databases</a:t>
            </a:r>
            <a:endParaRPr lang="de-DE" sz="1300" b="0" u="none" strike="noStrike">
              <a:solidFill>
                <a:srgbClr val="000000"/>
              </a:solidFill>
              <a:effectLst/>
              <a:uFillTx/>
              <a:latin typeface="Arial"/>
            </a:endParaRPr>
          </a:p>
          <a:p>
            <a:pPr marL="177840" indent="-177840" defTabSz="914400">
              <a:lnSpc>
                <a:spcPct val="100000"/>
              </a:lnSpc>
              <a:spcAft>
                <a:spcPts val="1199"/>
              </a:spcAft>
              <a:buClr>
                <a:srgbClr val="2B2331"/>
              </a:buClr>
              <a:buFont typeface="Symbol" charset="2"/>
              <a:buChar char=""/>
            </a:pPr>
            <a:r>
              <a:rPr lang="en-US" sz="1300" b="0" u="none" strike="noStrike">
                <a:solidFill>
                  <a:srgbClr val="2B2331"/>
                </a:solidFill>
                <a:effectLst/>
                <a:uFillTx/>
                <a:latin typeface="Calibri"/>
                <a:ea typeface="Calibri"/>
              </a:rPr>
              <a:t>Graph queries (VG toolkit) expose variants &amp; paths for downstream pipelines</a:t>
            </a:r>
            <a:endParaRPr lang="de-DE" sz="1300" b="0" u="none" strike="noStrike">
              <a:solidFill>
                <a:srgbClr val="000000"/>
              </a:solidFill>
              <a:effectLst/>
              <a:uFillTx/>
              <a:latin typeface="Arial"/>
            </a:endParaRPr>
          </a:p>
          <a:p>
            <a:pPr marL="177840" indent="-177840" defTabSz="914400">
              <a:lnSpc>
                <a:spcPct val="100000"/>
              </a:lnSpc>
              <a:spcAft>
                <a:spcPts val="1199"/>
              </a:spcAft>
              <a:buClr>
                <a:srgbClr val="E8606B"/>
              </a:buClr>
              <a:buFont typeface="Symbol" charset="2"/>
              <a:buChar char=""/>
            </a:pPr>
            <a:r>
              <a:rPr lang="en-US" sz="1300" b="1" u="none" strike="noStrike">
                <a:solidFill>
                  <a:srgbClr val="E8606B"/>
                </a:solidFill>
                <a:effectLst/>
                <a:uFillTx/>
                <a:latin typeface="Calibri"/>
                <a:ea typeface="Calibri"/>
              </a:rPr>
              <a:t>Interoperability is what turns isolated resources into a connected ecosystem</a:t>
            </a:r>
            <a:endParaRPr lang="de-DE" sz="1300" b="0" u="none" strike="noStrike">
              <a:solidFill>
                <a:srgbClr val="000000"/>
              </a:solidFill>
              <a:effectLst/>
              <a:uFillTx/>
              <a:latin typeface="Arial"/>
            </a:endParaRPr>
          </a:p>
        </p:txBody>
      </p:sp>
      <p:sp>
        <p:nvSpPr>
          <p:cNvPr id="240" name="Shape 4"/>
          <p:cNvSpPr/>
          <p:nvPr/>
        </p:nvSpPr>
        <p:spPr>
          <a:xfrm>
            <a:off x="7013520" y="1691640"/>
            <a:ext cx="4610880" cy="3840120"/>
          </a:xfrm>
          <a:prstGeom prst="roundRect">
            <a:avLst>
              <a:gd name="adj" fmla="val 1429"/>
            </a:avLst>
          </a:prstGeom>
          <a:solidFill>
            <a:srgbClr val="FFFFFF"/>
          </a:solidFill>
          <a:ln w="12700">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pic>
        <p:nvPicPr>
          <p:cNvPr id="241" name="Image 0" descr="C:\Users\fzj\AppData\Local\Temp\claude\C--Users-fzj-git-primer3-rs\110509b7-eac3-44ec-8fe3-ff640ad7d275\scratchpad\assets5\brapi.jpg"/>
          <p:cNvPicPr/>
          <p:nvPr/>
        </p:nvPicPr>
        <p:blipFill>
          <a:blip r:embed="rId3"/>
          <a:stretch/>
        </p:blipFill>
        <p:spPr>
          <a:xfrm>
            <a:off x="7603257" y="1810440"/>
            <a:ext cx="3431406" cy="3602520"/>
          </a:xfrm>
          <a:prstGeom prst="rect">
            <a:avLst/>
          </a:prstGeom>
          <a:noFill/>
          <a:ln w="0">
            <a:noFill/>
          </a:ln>
        </p:spPr>
      </p:pic>
      <p:sp>
        <p:nvSpPr>
          <p:cNvPr id="242" name="Text 5"/>
          <p:cNvSpPr/>
          <p:nvPr/>
        </p:nvSpPr>
        <p:spPr>
          <a:xfrm>
            <a:off x="567000" y="6455520"/>
            <a:ext cx="110574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50" b="0" i="1" u="none" strike="noStrike">
                <a:solidFill>
                  <a:srgbClr val="726A7A"/>
                </a:solidFill>
                <a:effectLst/>
                <a:uFillTx/>
                <a:latin typeface="Calibri"/>
                <a:ea typeface="Calibri"/>
              </a:rPr>
              <a:t>API = Application Programming Interface. BrAPI: Selby et al. (2019), Bioinformatics 35:4147 (CC-BY). Standardised response: metadata + result + data records.</a:t>
            </a:r>
            <a:endParaRPr lang="de-DE" sz="950" b="0" u="none" strike="noStrike">
              <a:solidFill>
                <a:srgbClr val="000000"/>
              </a:solidFill>
              <a:effectLst/>
              <a:uFillTx/>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3" name="Shape 0"/>
          <p:cNvSpPr/>
          <p:nvPr/>
        </p:nvSpPr>
        <p:spPr>
          <a:xfrm>
            <a:off x="567000" y="457200"/>
            <a:ext cx="155160" cy="155160"/>
          </a:xfrm>
          <a:prstGeom prst="ellipse">
            <a:avLst/>
          </a:prstGeom>
          <a:solidFill>
            <a:srgbClr val="E860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244" name="Text 1"/>
          <p:cNvSpPr/>
          <p:nvPr/>
        </p:nvSpPr>
        <p:spPr>
          <a:xfrm>
            <a:off x="822960" y="384120"/>
            <a:ext cx="10801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201">
                <a:solidFill>
                  <a:srgbClr val="5E2A75"/>
                </a:solidFill>
                <a:effectLst/>
                <a:uFillTx/>
                <a:latin typeface="Calibri"/>
                <a:ea typeface="Calibri"/>
              </a:rPr>
              <a:t>INTEGRATE</a:t>
            </a:r>
            <a:endParaRPr lang="de-DE" sz="1200" b="0" u="none" strike="noStrike">
              <a:solidFill>
                <a:srgbClr val="000000"/>
              </a:solidFill>
              <a:effectLst/>
              <a:uFillTx/>
              <a:latin typeface="Arial"/>
            </a:endParaRPr>
          </a:p>
        </p:txBody>
      </p:sp>
      <p:sp>
        <p:nvSpPr>
          <p:cNvPr id="245" name="Text 2"/>
          <p:cNvSpPr/>
          <p:nvPr/>
        </p:nvSpPr>
        <p:spPr>
          <a:xfrm>
            <a:off x="567000" y="676800"/>
            <a:ext cx="110574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2B2331"/>
                </a:solidFill>
                <a:effectLst/>
                <a:uFillTx/>
                <a:latin typeface="Cambria"/>
                <a:ea typeface="Cambria"/>
              </a:rPr>
              <a:t>From sequence to trait — and into knowledge graphs</a:t>
            </a:r>
            <a:endParaRPr lang="de-DE" sz="2900" b="0" u="none" strike="noStrike">
              <a:solidFill>
                <a:srgbClr val="000000"/>
              </a:solidFill>
              <a:effectLst/>
              <a:uFillTx/>
              <a:latin typeface="Arial"/>
            </a:endParaRPr>
          </a:p>
        </p:txBody>
      </p:sp>
      <p:sp>
        <p:nvSpPr>
          <p:cNvPr id="246" name="Shape 3"/>
          <p:cNvSpPr/>
          <p:nvPr/>
        </p:nvSpPr>
        <p:spPr>
          <a:xfrm>
            <a:off x="567000" y="1691640"/>
            <a:ext cx="5345640" cy="3931560"/>
          </a:xfrm>
          <a:prstGeom prst="roundRect">
            <a:avLst>
              <a:gd name="adj" fmla="val 1628"/>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247" name="Text 4"/>
          <p:cNvSpPr/>
          <p:nvPr/>
        </p:nvSpPr>
        <p:spPr>
          <a:xfrm>
            <a:off x="749880" y="1810440"/>
            <a:ext cx="49798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u="none" strike="noStrike">
                <a:solidFill>
                  <a:srgbClr val="5E2A75"/>
                </a:solidFill>
                <a:effectLst/>
                <a:uFillTx/>
                <a:latin typeface="Calibri"/>
                <a:ea typeface="Calibri"/>
              </a:rPr>
              <a:t>Linking genotype to phenotype</a:t>
            </a:r>
            <a:endParaRPr lang="de-DE" sz="1350" b="0" u="none" strike="noStrike">
              <a:solidFill>
                <a:srgbClr val="000000"/>
              </a:solidFill>
              <a:effectLst/>
              <a:uFillTx/>
              <a:latin typeface="Arial"/>
            </a:endParaRPr>
          </a:p>
        </p:txBody>
      </p:sp>
      <p:sp>
        <p:nvSpPr>
          <p:cNvPr id="248" name="Text 5"/>
          <p:cNvSpPr/>
          <p:nvPr/>
        </p:nvSpPr>
        <p:spPr>
          <a:xfrm>
            <a:off x="768240" y="2258640"/>
            <a:ext cx="4943520" cy="3200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1100"/>
              </a:spcAft>
              <a:buClr>
                <a:srgbClr val="2B2331"/>
              </a:buClr>
              <a:buFont typeface="Symbol" charset="2"/>
              <a:buChar char=""/>
            </a:pPr>
            <a:r>
              <a:rPr lang="en-US" sz="1250" b="0" u="none" strike="noStrike">
                <a:solidFill>
                  <a:srgbClr val="2B2331"/>
                </a:solidFill>
                <a:effectLst/>
                <a:uFillTx/>
                <a:latin typeface="Calibri"/>
                <a:ea typeface="Calibri"/>
              </a:rPr>
              <a:t>Detect structural variants (Sniffles2, SVIM) and PAV (Panaroo) across accessions</a:t>
            </a:r>
            <a:endParaRPr lang="de-DE" sz="1250" b="0" u="none" strike="noStrike">
              <a:solidFill>
                <a:srgbClr val="000000"/>
              </a:solidFill>
              <a:effectLst/>
              <a:uFillTx/>
              <a:latin typeface="Arial"/>
            </a:endParaRPr>
          </a:p>
          <a:p>
            <a:pPr marL="177840" indent="-177840" defTabSz="914400">
              <a:lnSpc>
                <a:spcPct val="100000"/>
              </a:lnSpc>
              <a:spcAft>
                <a:spcPts val="1100"/>
              </a:spcAft>
              <a:buClr>
                <a:srgbClr val="2B2331"/>
              </a:buClr>
              <a:buFont typeface="Symbol" charset="2"/>
              <a:buChar char=""/>
            </a:pPr>
            <a:r>
              <a:rPr lang="en-US" sz="1250" b="0" u="none" strike="noStrike">
                <a:solidFill>
                  <a:srgbClr val="2B2331"/>
                </a:solidFill>
                <a:effectLst/>
                <a:uFillTx/>
                <a:latin typeface="Calibri"/>
                <a:ea typeface="Calibri"/>
              </a:rPr>
              <a:t>Test them against traits — graph-based GWAS finds SV/PAV associations a single reference misses</a:t>
            </a:r>
            <a:endParaRPr lang="de-DE" sz="1250" b="0" u="none" strike="noStrike">
              <a:solidFill>
                <a:srgbClr val="000000"/>
              </a:solidFill>
              <a:effectLst/>
              <a:uFillTx/>
              <a:latin typeface="Arial"/>
            </a:endParaRPr>
          </a:p>
          <a:p>
            <a:pPr marL="177840" indent="-177840" defTabSz="914400">
              <a:lnSpc>
                <a:spcPct val="100000"/>
              </a:lnSpc>
              <a:spcAft>
                <a:spcPts val="1100"/>
              </a:spcAft>
              <a:buClr>
                <a:srgbClr val="E8606B"/>
              </a:buClr>
              <a:buFont typeface="Symbol" charset="2"/>
              <a:buChar char=""/>
            </a:pPr>
            <a:r>
              <a:rPr lang="en-US" sz="1250" b="1" u="none" strike="noStrike">
                <a:solidFill>
                  <a:srgbClr val="E8606B"/>
                </a:solidFill>
                <a:effectLst/>
                <a:uFillTx/>
                <a:latin typeface="Calibri"/>
                <a:ea typeface="Calibri"/>
              </a:rPr>
              <a:t>Tomato graph pangenome captured ~24 % more 'missing heritability'</a:t>
            </a:r>
            <a:endParaRPr lang="de-DE" sz="1250" b="0" u="none" strike="noStrike">
              <a:solidFill>
                <a:srgbClr val="000000"/>
              </a:solidFill>
              <a:effectLst/>
              <a:uFillTx/>
              <a:latin typeface="Arial"/>
            </a:endParaRPr>
          </a:p>
          <a:p>
            <a:pPr marL="177840" indent="-177840" defTabSz="914400">
              <a:lnSpc>
                <a:spcPct val="100000"/>
              </a:lnSpc>
              <a:spcAft>
                <a:spcPts val="1100"/>
              </a:spcAft>
              <a:buClr>
                <a:srgbClr val="2B2331"/>
              </a:buClr>
              <a:buFont typeface="Symbol" charset="2"/>
              <a:buChar char=""/>
            </a:pPr>
            <a:r>
              <a:rPr lang="en-US" sz="1250" b="0" u="none" strike="noStrike">
                <a:solidFill>
                  <a:srgbClr val="2B2331"/>
                </a:solidFill>
                <a:effectLst/>
                <a:uFillTx/>
                <a:latin typeface="Calibri"/>
                <a:ea typeface="Calibri"/>
              </a:rPr>
              <a:t>Rice: hidden structural variants enabled new phenotype associations</a:t>
            </a:r>
            <a:endParaRPr lang="de-DE" sz="1250" b="0" u="none" strike="noStrike">
              <a:solidFill>
                <a:srgbClr val="000000"/>
              </a:solidFill>
              <a:effectLst/>
              <a:uFillTx/>
              <a:latin typeface="Arial"/>
            </a:endParaRPr>
          </a:p>
        </p:txBody>
      </p:sp>
      <p:sp>
        <p:nvSpPr>
          <p:cNvPr id="249" name="Shape 6"/>
          <p:cNvSpPr/>
          <p:nvPr/>
        </p:nvSpPr>
        <p:spPr>
          <a:xfrm>
            <a:off x="6278760" y="1691640"/>
            <a:ext cx="5345640" cy="3931560"/>
          </a:xfrm>
          <a:prstGeom prst="roundRect">
            <a:avLst>
              <a:gd name="adj" fmla="val 1628"/>
            </a:avLst>
          </a:prstGeom>
          <a:solidFill>
            <a:srgbClr val="F2ECEF"/>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250" name="Text 7"/>
          <p:cNvSpPr/>
          <p:nvPr/>
        </p:nvSpPr>
        <p:spPr>
          <a:xfrm>
            <a:off x="6461640" y="1810440"/>
            <a:ext cx="49798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u="none" strike="noStrike">
                <a:solidFill>
                  <a:srgbClr val="5E2A75"/>
                </a:solidFill>
                <a:effectLst/>
                <a:uFillTx/>
                <a:latin typeface="Calibri"/>
                <a:ea typeface="Calibri"/>
              </a:rPr>
              <a:t>Into the wider ecosystem</a:t>
            </a:r>
            <a:endParaRPr lang="de-DE" sz="1350" b="0" u="none" strike="noStrike">
              <a:solidFill>
                <a:srgbClr val="000000"/>
              </a:solidFill>
              <a:effectLst/>
              <a:uFillTx/>
              <a:latin typeface="Arial"/>
            </a:endParaRPr>
          </a:p>
        </p:txBody>
      </p:sp>
      <p:sp>
        <p:nvSpPr>
          <p:cNvPr id="251" name="Text 8"/>
          <p:cNvSpPr/>
          <p:nvPr/>
        </p:nvSpPr>
        <p:spPr>
          <a:xfrm>
            <a:off x="6480000" y="2258640"/>
            <a:ext cx="4943520" cy="3200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1100"/>
              </a:spcAft>
              <a:buClr>
                <a:srgbClr val="2B2331"/>
              </a:buClr>
              <a:buFont typeface="Symbol" charset="2"/>
              <a:buChar char=""/>
            </a:pPr>
            <a:r>
              <a:rPr lang="en-US" sz="1250" b="1" u="none" strike="noStrike" dirty="0">
                <a:solidFill>
                  <a:srgbClr val="2B2331"/>
                </a:solidFill>
                <a:effectLst/>
                <a:uFillTx/>
                <a:latin typeface="Calibri"/>
                <a:ea typeface="Calibri"/>
              </a:rPr>
              <a:t>Knowledge graphs (e.g. </a:t>
            </a:r>
            <a:r>
              <a:rPr lang="en-US" sz="1250" b="1" u="none" strike="noStrike" dirty="0" err="1">
                <a:solidFill>
                  <a:srgbClr val="2B2331"/>
                </a:solidFill>
                <a:effectLst/>
                <a:uFillTx/>
                <a:latin typeface="Calibri"/>
                <a:ea typeface="Calibri"/>
              </a:rPr>
              <a:t>KnetMiner</a:t>
            </a:r>
            <a:r>
              <a:rPr lang="en-US" sz="1250" b="1" u="none" strike="noStrike" dirty="0">
                <a:solidFill>
                  <a:srgbClr val="2B2331"/>
                </a:solidFill>
                <a:effectLst/>
                <a:uFillTx/>
                <a:latin typeface="Calibri"/>
                <a:ea typeface="Calibri"/>
              </a:rPr>
              <a:t>) fuse pangenome + association + omics + literature</a:t>
            </a:r>
            <a:endParaRPr lang="de-DE" sz="1250" b="0" u="none" strike="noStrike" dirty="0">
              <a:solidFill>
                <a:srgbClr val="000000"/>
              </a:solidFill>
              <a:effectLst/>
              <a:uFillTx/>
              <a:latin typeface="Arial"/>
            </a:endParaRPr>
          </a:p>
          <a:p>
            <a:pPr marL="177840" indent="-177840" defTabSz="914400">
              <a:lnSpc>
                <a:spcPct val="100000"/>
              </a:lnSpc>
              <a:spcAft>
                <a:spcPts val="1100"/>
              </a:spcAft>
              <a:buClr>
                <a:srgbClr val="2B2331"/>
              </a:buClr>
              <a:buFont typeface="Symbol" charset="2"/>
              <a:buChar char=""/>
            </a:pPr>
            <a:r>
              <a:rPr lang="en-US" sz="1250" b="0" u="none" strike="noStrike" dirty="0">
                <a:solidFill>
                  <a:srgbClr val="2B2331"/>
                </a:solidFill>
                <a:effectLst/>
                <a:uFillTx/>
                <a:latin typeface="Calibri"/>
                <a:ea typeface="Calibri"/>
              </a:rPr>
              <a:t>Explore gene–trait–pathway links in context; support candidate-gene prioritization</a:t>
            </a:r>
            <a:endParaRPr lang="de-DE" sz="1250" b="0" u="none" strike="noStrike" dirty="0">
              <a:solidFill>
                <a:srgbClr val="000000"/>
              </a:solidFill>
              <a:effectLst/>
              <a:uFillTx/>
              <a:latin typeface="Arial"/>
            </a:endParaRPr>
          </a:p>
          <a:p>
            <a:pPr marL="177840" indent="-177840" defTabSz="914400">
              <a:lnSpc>
                <a:spcPct val="100000"/>
              </a:lnSpc>
              <a:spcAft>
                <a:spcPts val="1100"/>
              </a:spcAft>
              <a:buClr>
                <a:srgbClr val="8246A0"/>
              </a:buClr>
              <a:buFont typeface="Symbol" charset="2"/>
              <a:buChar char=""/>
            </a:pPr>
            <a:r>
              <a:rPr lang="en-US" sz="1250" b="1" u="none" strike="noStrike" dirty="0">
                <a:solidFill>
                  <a:srgbClr val="8246A0"/>
                </a:solidFill>
                <a:effectLst/>
                <a:uFillTx/>
                <a:latin typeface="Calibri"/>
                <a:ea typeface="Calibri"/>
              </a:rPr>
              <a:t>Connects to Session 3 (knowledge graphs) and Session 1 (federated discovery)</a:t>
            </a:r>
            <a:endParaRPr lang="de-DE" sz="1250" b="0" u="none" strike="noStrike" dirty="0">
              <a:solidFill>
                <a:srgbClr val="000000"/>
              </a:solidFill>
              <a:effectLst/>
              <a:uFillTx/>
              <a:latin typeface="Arial"/>
            </a:endParaRPr>
          </a:p>
          <a:p>
            <a:pPr marL="177840" indent="-177840" defTabSz="914400">
              <a:lnSpc>
                <a:spcPct val="100000"/>
              </a:lnSpc>
              <a:spcAft>
                <a:spcPts val="1100"/>
              </a:spcAft>
              <a:buClr>
                <a:srgbClr val="2B2331"/>
              </a:buClr>
              <a:buFont typeface="Symbol" charset="2"/>
              <a:buChar char=""/>
            </a:pPr>
            <a:r>
              <a:rPr lang="en-US" sz="1250" b="0" u="none" strike="noStrike" dirty="0">
                <a:solidFill>
                  <a:srgbClr val="2B2331"/>
                </a:solidFill>
                <a:effectLst/>
                <a:uFillTx/>
                <a:latin typeface="Calibri"/>
                <a:ea typeface="Calibri"/>
              </a:rPr>
              <a:t>The pangenome becomes a hub</a:t>
            </a:r>
            <a:endParaRPr lang="de-DE" sz="1250" b="0" u="none" strike="noStrike" dirty="0">
              <a:solidFill>
                <a:srgbClr val="000000"/>
              </a:solidFill>
              <a:effectLst/>
              <a:uFillTx/>
              <a:latin typeface="Arial"/>
            </a:endParaRPr>
          </a:p>
        </p:txBody>
      </p:sp>
      <p:sp>
        <p:nvSpPr>
          <p:cNvPr id="252" name="Text 9"/>
          <p:cNvSpPr/>
          <p:nvPr/>
        </p:nvSpPr>
        <p:spPr>
          <a:xfrm>
            <a:off x="567000" y="6455520"/>
            <a:ext cx="110574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50" b="0" i="1" u="none" strike="noStrike">
                <a:solidFill>
                  <a:srgbClr val="726A7A"/>
                </a:solidFill>
                <a:effectLst/>
                <a:uFillTx/>
                <a:latin typeface="Calibri"/>
                <a:ea typeface="Calibri"/>
              </a:rPr>
              <a:t>E-PAN white paper §5.2 &amp; case studies. GWAS = genome-wide association study; PAV = presence/absence variation; SV = structural variant.</a:t>
            </a:r>
            <a:endParaRPr lang="de-DE" sz="950" b="0" u="none" strike="noStrike">
              <a:solidFill>
                <a:srgbClr val="000000"/>
              </a:solidFill>
              <a:effectLst/>
              <a:uFillTx/>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3" name="Shape 0"/>
          <p:cNvSpPr/>
          <p:nvPr/>
        </p:nvSpPr>
        <p:spPr>
          <a:xfrm>
            <a:off x="567000" y="457200"/>
            <a:ext cx="155160" cy="155160"/>
          </a:xfrm>
          <a:prstGeom prst="ellipse">
            <a:avLst/>
          </a:prstGeom>
          <a:solidFill>
            <a:srgbClr val="E860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254" name="Text 1"/>
          <p:cNvSpPr/>
          <p:nvPr/>
        </p:nvSpPr>
        <p:spPr>
          <a:xfrm>
            <a:off x="822960" y="384120"/>
            <a:ext cx="10801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201">
                <a:solidFill>
                  <a:srgbClr val="5E2A75"/>
                </a:solidFill>
                <a:effectLst/>
                <a:uFillTx/>
                <a:latin typeface="Calibri"/>
                <a:ea typeface="Calibri"/>
              </a:rPr>
              <a:t>WRAP</a:t>
            </a:r>
            <a:endParaRPr lang="de-DE" sz="1200" b="0" u="none" strike="noStrike">
              <a:solidFill>
                <a:srgbClr val="000000"/>
              </a:solidFill>
              <a:effectLst/>
              <a:uFillTx/>
              <a:latin typeface="Arial"/>
            </a:endParaRPr>
          </a:p>
        </p:txBody>
      </p:sp>
      <p:sp>
        <p:nvSpPr>
          <p:cNvPr id="255" name="Text 2"/>
          <p:cNvSpPr/>
          <p:nvPr/>
        </p:nvSpPr>
        <p:spPr>
          <a:xfrm>
            <a:off x="567000" y="676800"/>
            <a:ext cx="110574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2B2331"/>
                </a:solidFill>
                <a:effectLst/>
                <a:uFillTx/>
                <a:latin typeface="Cambria"/>
                <a:ea typeface="Cambria"/>
              </a:rPr>
              <a:t>A dissemination checklist</a:t>
            </a:r>
            <a:endParaRPr lang="de-DE" sz="2900" b="0" u="none" strike="noStrike">
              <a:solidFill>
                <a:srgbClr val="000000"/>
              </a:solidFill>
              <a:effectLst/>
              <a:uFillTx/>
              <a:latin typeface="Arial"/>
            </a:endParaRPr>
          </a:p>
        </p:txBody>
      </p:sp>
      <p:sp>
        <p:nvSpPr>
          <p:cNvPr id="256" name="Shape 3"/>
          <p:cNvSpPr/>
          <p:nvPr/>
        </p:nvSpPr>
        <p:spPr>
          <a:xfrm>
            <a:off x="567000" y="1691640"/>
            <a:ext cx="5299920" cy="2834280"/>
          </a:xfrm>
          <a:prstGeom prst="roundRect">
            <a:avLst>
              <a:gd name="adj" fmla="val 2258"/>
            </a:avLst>
          </a:prstGeom>
          <a:solidFill>
            <a:srgbClr val="F5F0F8"/>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257" name="Shape 4"/>
          <p:cNvSpPr/>
          <p:nvPr/>
        </p:nvSpPr>
        <p:spPr>
          <a:xfrm>
            <a:off x="841320" y="1847160"/>
            <a:ext cx="310680" cy="310680"/>
          </a:xfrm>
          <a:prstGeom prst="ellipse">
            <a:avLst/>
          </a:prstGeom>
          <a:solidFill>
            <a:srgbClr val="4E8C7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258" name="Text 5"/>
          <p:cNvSpPr/>
          <p:nvPr/>
        </p:nvSpPr>
        <p:spPr>
          <a:xfrm>
            <a:off x="841320" y="1847160"/>
            <a:ext cx="3106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FFFFFF"/>
                </a:solidFill>
                <a:effectLst/>
                <a:uFillTx/>
                <a:latin typeface="Calibri"/>
                <a:ea typeface="Calibri"/>
              </a:rPr>
              <a:t>✓</a:t>
            </a:r>
            <a:endParaRPr lang="de-DE" sz="1600" b="0" u="none" strike="noStrike">
              <a:solidFill>
                <a:srgbClr val="000000"/>
              </a:solidFill>
              <a:effectLst/>
              <a:uFillTx/>
              <a:latin typeface="Arial"/>
            </a:endParaRPr>
          </a:p>
        </p:txBody>
      </p:sp>
      <p:sp>
        <p:nvSpPr>
          <p:cNvPr id="259" name="Text 6"/>
          <p:cNvSpPr/>
          <p:nvPr/>
        </p:nvSpPr>
        <p:spPr>
          <a:xfrm>
            <a:off x="1298520" y="1810440"/>
            <a:ext cx="47512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0" u="none" strike="noStrike">
                <a:solidFill>
                  <a:srgbClr val="2B2331"/>
                </a:solidFill>
                <a:effectLst/>
                <a:uFillTx/>
                <a:latin typeface="Calibri"/>
                <a:ea typeface="Calibri"/>
              </a:rPr>
              <a:t>Consistent names (E-PAN IDs, PanSN)</a:t>
            </a:r>
            <a:endParaRPr lang="de-DE" sz="1350" b="0" u="none" strike="noStrike">
              <a:solidFill>
                <a:srgbClr val="000000"/>
              </a:solidFill>
              <a:effectLst/>
              <a:uFillTx/>
              <a:latin typeface="Arial"/>
            </a:endParaRPr>
          </a:p>
        </p:txBody>
      </p:sp>
      <p:sp>
        <p:nvSpPr>
          <p:cNvPr id="260" name="Shape 7"/>
          <p:cNvSpPr/>
          <p:nvPr/>
        </p:nvSpPr>
        <p:spPr>
          <a:xfrm>
            <a:off x="841320" y="2414160"/>
            <a:ext cx="310680" cy="310680"/>
          </a:xfrm>
          <a:prstGeom prst="ellipse">
            <a:avLst/>
          </a:prstGeom>
          <a:solidFill>
            <a:srgbClr val="4E8C7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261" name="Text 8"/>
          <p:cNvSpPr/>
          <p:nvPr/>
        </p:nvSpPr>
        <p:spPr>
          <a:xfrm>
            <a:off x="841320" y="2414160"/>
            <a:ext cx="3106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FFFFFF"/>
                </a:solidFill>
                <a:effectLst/>
                <a:uFillTx/>
                <a:latin typeface="Calibri"/>
                <a:ea typeface="Calibri"/>
              </a:rPr>
              <a:t>✓</a:t>
            </a:r>
            <a:endParaRPr lang="de-DE" sz="1600" b="0" u="none" strike="noStrike">
              <a:solidFill>
                <a:srgbClr val="000000"/>
              </a:solidFill>
              <a:effectLst/>
              <a:uFillTx/>
              <a:latin typeface="Arial"/>
            </a:endParaRPr>
          </a:p>
        </p:txBody>
      </p:sp>
      <p:sp>
        <p:nvSpPr>
          <p:cNvPr id="262" name="Text 9"/>
          <p:cNvSpPr/>
          <p:nvPr/>
        </p:nvSpPr>
        <p:spPr>
          <a:xfrm>
            <a:off x="1298520" y="2377440"/>
            <a:ext cx="47512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0" u="none" strike="noStrike">
                <a:solidFill>
                  <a:srgbClr val="2B2331"/>
                </a:solidFill>
                <a:effectLst/>
                <a:uFillTx/>
                <a:latin typeface="Calibri"/>
                <a:ea typeface="Calibri"/>
              </a:rPr>
              <a:t>Standard formats (FASTA · GFF3 · VCF · GFA)</a:t>
            </a:r>
            <a:endParaRPr lang="de-DE" sz="1350" b="0" u="none" strike="noStrike">
              <a:solidFill>
                <a:srgbClr val="000000"/>
              </a:solidFill>
              <a:effectLst/>
              <a:uFillTx/>
              <a:latin typeface="Arial"/>
            </a:endParaRPr>
          </a:p>
        </p:txBody>
      </p:sp>
      <p:sp>
        <p:nvSpPr>
          <p:cNvPr id="263" name="Shape 10"/>
          <p:cNvSpPr/>
          <p:nvPr/>
        </p:nvSpPr>
        <p:spPr>
          <a:xfrm>
            <a:off x="841320" y="2980800"/>
            <a:ext cx="310680" cy="310680"/>
          </a:xfrm>
          <a:prstGeom prst="ellipse">
            <a:avLst/>
          </a:prstGeom>
          <a:solidFill>
            <a:srgbClr val="4E8C7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264" name="Text 11"/>
          <p:cNvSpPr/>
          <p:nvPr/>
        </p:nvSpPr>
        <p:spPr>
          <a:xfrm>
            <a:off x="841320" y="2980800"/>
            <a:ext cx="3106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FFFFFF"/>
                </a:solidFill>
                <a:effectLst/>
                <a:uFillTx/>
                <a:latin typeface="Calibri"/>
                <a:ea typeface="Calibri"/>
              </a:rPr>
              <a:t>✓</a:t>
            </a:r>
            <a:endParaRPr lang="de-DE" sz="1600" b="0" u="none" strike="noStrike">
              <a:solidFill>
                <a:srgbClr val="000000"/>
              </a:solidFill>
              <a:effectLst/>
              <a:uFillTx/>
              <a:latin typeface="Arial"/>
            </a:endParaRPr>
          </a:p>
        </p:txBody>
      </p:sp>
      <p:sp>
        <p:nvSpPr>
          <p:cNvPr id="265" name="Text 12"/>
          <p:cNvSpPr/>
          <p:nvPr/>
        </p:nvSpPr>
        <p:spPr>
          <a:xfrm>
            <a:off x="1298520" y="2944440"/>
            <a:ext cx="47512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0" u="none" strike="noStrike">
                <a:solidFill>
                  <a:srgbClr val="2B2331"/>
                </a:solidFill>
                <a:effectLst/>
                <a:uFillTx/>
                <a:latin typeface="Calibri"/>
                <a:ea typeface="Calibri"/>
              </a:rPr>
              <a:t>Rich metadata (MIAPPE · Sequence Ontology · BioSample)</a:t>
            </a:r>
            <a:endParaRPr lang="de-DE" sz="1350" b="0" u="none" strike="noStrike">
              <a:solidFill>
                <a:srgbClr val="000000"/>
              </a:solidFill>
              <a:effectLst/>
              <a:uFillTx/>
              <a:latin typeface="Arial"/>
            </a:endParaRPr>
          </a:p>
        </p:txBody>
      </p:sp>
      <p:sp>
        <p:nvSpPr>
          <p:cNvPr id="266" name="Shape 13"/>
          <p:cNvSpPr/>
          <p:nvPr/>
        </p:nvSpPr>
        <p:spPr>
          <a:xfrm>
            <a:off x="841320" y="3547800"/>
            <a:ext cx="310680" cy="310680"/>
          </a:xfrm>
          <a:prstGeom prst="ellipse">
            <a:avLst/>
          </a:prstGeom>
          <a:solidFill>
            <a:srgbClr val="4E8C7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267" name="Text 14"/>
          <p:cNvSpPr/>
          <p:nvPr/>
        </p:nvSpPr>
        <p:spPr>
          <a:xfrm>
            <a:off x="841320" y="3547800"/>
            <a:ext cx="3106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FFFFFF"/>
                </a:solidFill>
                <a:effectLst/>
                <a:uFillTx/>
                <a:latin typeface="Calibri"/>
                <a:ea typeface="Calibri"/>
              </a:rPr>
              <a:t>✓</a:t>
            </a:r>
            <a:endParaRPr lang="de-DE" sz="1600" b="0" u="none" strike="noStrike">
              <a:solidFill>
                <a:srgbClr val="000000"/>
              </a:solidFill>
              <a:effectLst/>
              <a:uFillTx/>
              <a:latin typeface="Arial"/>
            </a:endParaRPr>
          </a:p>
        </p:txBody>
      </p:sp>
      <p:sp>
        <p:nvSpPr>
          <p:cNvPr id="268" name="Text 15"/>
          <p:cNvSpPr/>
          <p:nvPr/>
        </p:nvSpPr>
        <p:spPr>
          <a:xfrm>
            <a:off x="1298520" y="3511440"/>
            <a:ext cx="47512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0" u="none" strike="noStrike">
                <a:solidFill>
                  <a:srgbClr val="2B2331"/>
                </a:solidFill>
                <a:effectLst/>
                <a:uFillTx/>
                <a:latin typeface="Calibri"/>
                <a:ea typeface="Calibri"/>
              </a:rPr>
              <a:t>IDs that match across all files</a:t>
            </a:r>
            <a:endParaRPr lang="de-DE" sz="1350" b="0" u="none" strike="noStrike">
              <a:solidFill>
                <a:srgbClr val="000000"/>
              </a:solidFill>
              <a:effectLst/>
              <a:uFillTx/>
              <a:latin typeface="Arial"/>
            </a:endParaRPr>
          </a:p>
        </p:txBody>
      </p:sp>
      <p:sp>
        <p:nvSpPr>
          <p:cNvPr id="269" name="Shape 16"/>
          <p:cNvSpPr/>
          <p:nvPr/>
        </p:nvSpPr>
        <p:spPr>
          <a:xfrm>
            <a:off x="6324480" y="1691640"/>
            <a:ext cx="5299920" cy="2834280"/>
          </a:xfrm>
          <a:prstGeom prst="roundRect">
            <a:avLst>
              <a:gd name="adj" fmla="val 2258"/>
            </a:avLst>
          </a:prstGeom>
          <a:solidFill>
            <a:srgbClr val="F2ECEF"/>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270" name="Shape 17"/>
          <p:cNvSpPr/>
          <p:nvPr/>
        </p:nvSpPr>
        <p:spPr>
          <a:xfrm>
            <a:off x="6598800" y="1847160"/>
            <a:ext cx="310680" cy="310680"/>
          </a:xfrm>
          <a:prstGeom prst="ellipse">
            <a:avLst/>
          </a:prstGeom>
          <a:solidFill>
            <a:srgbClr val="4E8C7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271" name="Text 18"/>
          <p:cNvSpPr/>
          <p:nvPr/>
        </p:nvSpPr>
        <p:spPr>
          <a:xfrm>
            <a:off x="6598800" y="1847160"/>
            <a:ext cx="3106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FFFFFF"/>
                </a:solidFill>
                <a:effectLst/>
                <a:uFillTx/>
                <a:latin typeface="Calibri"/>
                <a:ea typeface="Calibri"/>
              </a:rPr>
              <a:t>✓</a:t>
            </a:r>
            <a:endParaRPr lang="de-DE" sz="1600" b="0" u="none" strike="noStrike">
              <a:solidFill>
                <a:srgbClr val="000000"/>
              </a:solidFill>
              <a:effectLst/>
              <a:uFillTx/>
              <a:latin typeface="Arial"/>
            </a:endParaRPr>
          </a:p>
        </p:txBody>
      </p:sp>
      <p:sp>
        <p:nvSpPr>
          <p:cNvPr id="272" name="Text 19"/>
          <p:cNvSpPr/>
          <p:nvPr/>
        </p:nvSpPr>
        <p:spPr>
          <a:xfrm>
            <a:off x="7056000" y="1810440"/>
            <a:ext cx="47512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0" u="none" strike="noStrike">
                <a:solidFill>
                  <a:srgbClr val="2B2331"/>
                </a:solidFill>
                <a:effectLst/>
                <a:uFillTx/>
                <a:latin typeface="Calibri"/>
                <a:ea typeface="Calibri"/>
              </a:rPr>
              <a:t>Deposit minimal package in INSDC / Ensembl</a:t>
            </a:r>
            <a:endParaRPr lang="de-DE" sz="1350" b="0" u="none" strike="noStrike">
              <a:solidFill>
                <a:srgbClr val="000000"/>
              </a:solidFill>
              <a:effectLst/>
              <a:uFillTx/>
              <a:latin typeface="Arial"/>
            </a:endParaRPr>
          </a:p>
        </p:txBody>
      </p:sp>
      <p:sp>
        <p:nvSpPr>
          <p:cNvPr id="273" name="Shape 20"/>
          <p:cNvSpPr/>
          <p:nvPr/>
        </p:nvSpPr>
        <p:spPr>
          <a:xfrm>
            <a:off x="6598800" y="2414160"/>
            <a:ext cx="310680" cy="310680"/>
          </a:xfrm>
          <a:prstGeom prst="ellipse">
            <a:avLst/>
          </a:prstGeom>
          <a:solidFill>
            <a:srgbClr val="4E8C7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274" name="Text 21"/>
          <p:cNvSpPr/>
          <p:nvPr/>
        </p:nvSpPr>
        <p:spPr>
          <a:xfrm>
            <a:off x="6598800" y="2414160"/>
            <a:ext cx="3106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FFFFFF"/>
                </a:solidFill>
                <a:effectLst/>
                <a:uFillTx/>
                <a:latin typeface="Calibri"/>
                <a:ea typeface="Calibri"/>
              </a:rPr>
              <a:t>✓</a:t>
            </a:r>
            <a:endParaRPr lang="de-DE" sz="1600" b="0" u="none" strike="noStrike">
              <a:solidFill>
                <a:srgbClr val="000000"/>
              </a:solidFill>
              <a:effectLst/>
              <a:uFillTx/>
              <a:latin typeface="Arial"/>
            </a:endParaRPr>
          </a:p>
        </p:txBody>
      </p:sp>
      <p:sp>
        <p:nvSpPr>
          <p:cNvPr id="275" name="Text 22"/>
          <p:cNvSpPr/>
          <p:nvPr/>
        </p:nvSpPr>
        <p:spPr>
          <a:xfrm>
            <a:off x="7056000" y="2377440"/>
            <a:ext cx="47512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0" u="none" strike="noStrike">
                <a:solidFill>
                  <a:srgbClr val="2B2331"/>
                </a:solidFill>
                <a:effectLst/>
                <a:uFillTx/>
                <a:latin typeface="Calibri"/>
                <a:ea typeface="Calibri"/>
              </a:rPr>
              <a:t>Add an RO-Crate (GFA + workflow + reports)</a:t>
            </a:r>
            <a:endParaRPr lang="de-DE" sz="1350" b="0" u="none" strike="noStrike">
              <a:solidFill>
                <a:srgbClr val="000000"/>
              </a:solidFill>
              <a:effectLst/>
              <a:uFillTx/>
              <a:latin typeface="Arial"/>
            </a:endParaRPr>
          </a:p>
        </p:txBody>
      </p:sp>
      <p:sp>
        <p:nvSpPr>
          <p:cNvPr id="276" name="Shape 23"/>
          <p:cNvSpPr/>
          <p:nvPr/>
        </p:nvSpPr>
        <p:spPr>
          <a:xfrm>
            <a:off x="6598800" y="2980800"/>
            <a:ext cx="310680" cy="310680"/>
          </a:xfrm>
          <a:prstGeom prst="ellipse">
            <a:avLst/>
          </a:prstGeom>
          <a:solidFill>
            <a:srgbClr val="4E8C7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277" name="Text 24"/>
          <p:cNvSpPr/>
          <p:nvPr/>
        </p:nvSpPr>
        <p:spPr>
          <a:xfrm>
            <a:off x="6598800" y="2980800"/>
            <a:ext cx="3106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FFFFFF"/>
                </a:solidFill>
                <a:effectLst/>
                <a:uFillTx/>
                <a:latin typeface="Calibri"/>
                <a:ea typeface="Calibri"/>
              </a:rPr>
              <a:t>✓</a:t>
            </a:r>
            <a:endParaRPr lang="de-DE" sz="1600" b="0" u="none" strike="noStrike">
              <a:solidFill>
                <a:srgbClr val="000000"/>
              </a:solidFill>
              <a:effectLst/>
              <a:uFillTx/>
              <a:latin typeface="Arial"/>
            </a:endParaRPr>
          </a:p>
        </p:txBody>
      </p:sp>
      <p:sp>
        <p:nvSpPr>
          <p:cNvPr id="278" name="Text 25"/>
          <p:cNvSpPr/>
          <p:nvPr/>
        </p:nvSpPr>
        <p:spPr>
          <a:xfrm>
            <a:off x="7056000" y="2944440"/>
            <a:ext cx="47512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0" u="none" strike="noStrike">
                <a:solidFill>
                  <a:srgbClr val="2B2331"/>
                </a:solidFill>
                <a:effectLst/>
                <a:uFillTx/>
                <a:latin typeface="Calibri"/>
                <a:ea typeface="Calibri"/>
              </a:rPr>
              <a:t>Version it and mint a DOI</a:t>
            </a:r>
            <a:endParaRPr lang="de-DE" sz="1350" b="0" u="none" strike="noStrike">
              <a:solidFill>
                <a:srgbClr val="000000"/>
              </a:solidFill>
              <a:effectLst/>
              <a:uFillTx/>
              <a:latin typeface="Arial"/>
            </a:endParaRPr>
          </a:p>
        </p:txBody>
      </p:sp>
      <p:sp>
        <p:nvSpPr>
          <p:cNvPr id="279" name="Shape 26"/>
          <p:cNvSpPr/>
          <p:nvPr/>
        </p:nvSpPr>
        <p:spPr>
          <a:xfrm>
            <a:off x="6598800" y="3547800"/>
            <a:ext cx="310680" cy="310680"/>
          </a:xfrm>
          <a:prstGeom prst="ellipse">
            <a:avLst/>
          </a:prstGeom>
          <a:solidFill>
            <a:srgbClr val="4E8C7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280" name="Text 27"/>
          <p:cNvSpPr/>
          <p:nvPr/>
        </p:nvSpPr>
        <p:spPr>
          <a:xfrm>
            <a:off x="6598800" y="3547800"/>
            <a:ext cx="3106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FFFFFF"/>
                </a:solidFill>
                <a:effectLst/>
                <a:uFillTx/>
                <a:latin typeface="Calibri"/>
                <a:ea typeface="Calibri"/>
              </a:rPr>
              <a:t>✓</a:t>
            </a:r>
            <a:endParaRPr lang="de-DE" sz="1600" b="0" u="none" strike="noStrike">
              <a:solidFill>
                <a:srgbClr val="000000"/>
              </a:solidFill>
              <a:effectLst/>
              <a:uFillTx/>
              <a:latin typeface="Arial"/>
            </a:endParaRPr>
          </a:p>
        </p:txBody>
      </p:sp>
      <p:sp>
        <p:nvSpPr>
          <p:cNvPr id="281" name="Text 28"/>
          <p:cNvSpPr/>
          <p:nvPr/>
        </p:nvSpPr>
        <p:spPr>
          <a:xfrm>
            <a:off x="7056000" y="3511440"/>
            <a:ext cx="47512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0" u="none" strike="noStrike">
                <a:solidFill>
                  <a:srgbClr val="2B2331"/>
                </a:solidFill>
                <a:effectLst/>
                <a:uFillTx/>
                <a:latin typeface="Calibri"/>
                <a:ea typeface="Calibri"/>
              </a:rPr>
              <a:t>Provide a viewer/portal and link to knowledge graphs</a:t>
            </a:r>
            <a:endParaRPr lang="de-DE" sz="1350" b="0" u="none" strike="noStrike">
              <a:solidFill>
                <a:srgbClr val="000000"/>
              </a:solidFill>
              <a:effectLst/>
              <a:uFillTx/>
              <a:latin typeface="Arial"/>
            </a:endParaRPr>
          </a:p>
        </p:txBody>
      </p:sp>
      <p:sp>
        <p:nvSpPr>
          <p:cNvPr id="282" name="Shape 29"/>
          <p:cNvSpPr/>
          <p:nvPr/>
        </p:nvSpPr>
        <p:spPr>
          <a:xfrm>
            <a:off x="567000" y="4754880"/>
            <a:ext cx="11057400" cy="1005480"/>
          </a:xfrm>
          <a:prstGeom prst="roundRect">
            <a:avLst>
              <a:gd name="adj" fmla="val 6364"/>
            </a:avLst>
          </a:prstGeom>
          <a:solidFill>
            <a:srgbClr val="3D2049"/>
          </a:solidFill>
          <a:ln w="9525">
            <a:solidFill>
              <a:srgbClr val="E2D6EC"/>
            </a:solidFill>
            <a:round/>
          </a:ln>
          <a:effectLst>
            <a:outerShdw blurRad="88920" dist="38160" dir="5400000" algn="bl" rotWithShape="0">
              <a:srgbClr val="000000">
                <a:alpha val="1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283" name="Text 30"/>
          <p:cNvSpPr/>
          <p:nvPr/>
        </p:nvSpPr>
        <p:spPr>
          <a:xfrm>
            <a:off x="841320" y="4754880"/>
            <a:ext cx="10508760" cy="100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EADFEF"/>
                </a:solidFill>
                <a:effectLst/>
                <a:uFillTx/>
                <a:latin typeface="Calibri"/>
                <a:ea typeface="Calibri"/>
              </a:rPr>
              <a:t>If you can tick these, </a:t>
            </a:r>
            <a:r>
              <a:rPr lang="en-US" sz="1400" b="1" u="none" strike="noStrike">
                <a:solidFill>
                  <a:srgbClr val="DE8E2C"/>
                </a:solidFill>
                <a:effectLst/>
                <a:uFillTx/>
                <a:latin typeface="Calibri"/>
                <a:ea typeface="Calibri"/>
              </a:rPr>
              <a:t>your pangenome is findable, viewable and reusable</a:t>
            </a:r>
            <a:r>
              <a:rPr lang="en-US" sz="1400" b="0" u="none" strike="noStrike">
                <a:solidFill>
                  <a:srgbClr val="EADFEF"/>
                </a:solidFill>
                <a:effectLst/>
                <a:uFillTx/>
                <a:latin typeface="Calibri"/>
                <a:ea typeface="Calibri"/>
              </a:rPr>
              <a:t> — the goal of the E-PAN standards.</a:t>
            </a:r>
            <a:endParaRPr lang="de-DE" sz="1400" b="0" u="none" strike="noStrike">
              <a:solidFill>
                <a:srgbClr val="000000"/>
              </a:solidFill>
              <a:effectLst/>
              <a:uFillTx/>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B1533"/>
        </a:solidFill>
        <a:effectLst/>
      </p:bgPr>
    </p:bg>
    <p:spTree>
      <p:nvGrpSpPr>
        <p:cNvPr id="1" name=""/>
        <p:cNvGrpSpPr/>
        <p:nvPr/>
      </p:nvGrpSpPr>
      <p:grpSpPr>
        <a:xfrm>
          <a:off x="0" y="0"/>
          <a:ext cx="0" cy="0"/>
          <a:chOff x="0" y="0"/>
          <a:chExt cx="0" cy="0"/>
        </a:xfrm>
      </p:grpSpPr>
      <p:sp>
        <p:nvSpPr>
          <p:cNvPr id="284" name="Shape 0"/>
          <p:cNvSpPr/>
          <p:nvPr/>
        </p:nvSpPr>
        <p:spPr>
          <a:xfrm>
            <a:off x="567000" y="530280"/>
            <a:ext cx="155160" cy="155160"/>
          </a:xfrm>
          <a:prstGeom prst="ellipse">
            <a:avLst/>
          </a:prstGeom>
          <a:solidFill>
            <a:srgbClr val="E8606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285" name="Text 1"/>
          <p:cNvSpPr/>
          <p:nvPr/>
        </p:nvSpPr>
        <p:spPr>
          <a:xfrm>
            <a:off x="822960" y="457200"/>
            <a:ext cx="110574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201">
                <a:solidFill>
                  <a:srgbClr val="C9A8DC"/>
                </a:solidFill>
                <a:effectLst/>
                <a:uFillTx/>
                <a:latin typeface="Calibri"/>
                <a:ea typeface="Calibri"/>
              </a:rPr>
              <a:t>TAKEAWAYS</a:t>
            </a:r>
            <a:endParaRPr lang="de-DE" sz="1200" b="0" u="none" strike="noStrike">
              <a:solidFill>
                <a:srgbClr val="FFFFFF"/>
              </a:solidFill>
              <a:effectLst/>
              <a:uFillTx/>
              <a:latin typeface="Arial"/>
            </a:endParaRPr>
          </a:p>
        </p:txBody>
      </p:sp>
      <p:sp>
        <p:nvSpPr>
          <p:cNvPr id="286" name="Text 2"/>
          <p:cNvSpPr/>
          <p:nvPr/>
        </p:nvSpPr>
        <p:spPr>
          <a:xfrm>
            <a:off x="567000" y="768240"/>
            <a:ext cx="1105740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900" b="1" u="none" strike="noStrike">
                <a:solidFill>
                  <a:srgbClr val="FFFFFF"/>
                </a:solidFill>
                <a:effectLst/>
                <a:uFillTx/>
                <a:latin typeface="Cambria"/>
                <a:ea typeface="Cambria"/>
              </a:rPr>
              <a:t>Summary &amp; outlook</a:t>
            </a:r>
            <a:endParaRPr lang="de-DE" sz="2900" b="0" u="none" strike="noStrike">
              <a:solidFill>
                <a:srgbClr val="FFFFFF"/>
              </a:solidFill>
              <a:effectLst/>
              <a:uFillTx/>
              <a:latin typeface="Arial"/>
            </a:endParaRPr>
          </a:p>
        </p:txBody>
      </p:sp>
      <p:sp>
        <p:nvSpPr>
          <p:cNvPr id="287" name="Text 3"/>
          <p:cNvSpPr/>
          <p:nvPr/>
        </p:nvSpPr>
        <p:spPr>
          <a:xfrm>
            <a:off x="567000" y="1783080"/>
            <a:ext cx="11057400" cy="2925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1301"/>
              </a:spcAft>
              <a:buClr>
                <a:srgbClr val="EADFEF"/>
              </a:buClr>
              <a:buFont typeface="Symbol" charset="2"/>
              <a:buChar char=""/>
            </a:pPr>
            <a:r>
              <a:rPr lang="en-US" sz="1500" b="1" u="none" strike="noStrike">
                <a:solidFill>
                  <a:srgbClr val="EADFEF"/>
                </a:solidFill>
                <a:effectLst/>
                <a:uFillTx/>
                <a:latin typeface="Calibri"/>
                <a:ea typeface="Calibri"/>
              </a:rPr>
              <a:t>Dissemination is the last mile — a pangenome no one can see, find or reuse is wasted effort</a:t>
            </a:r>
            <a:endParaRPr lang="de-DE" sz="1500" b="0" u="none" strike="noStrike">
              <a:solidFill>
                <a:srgbClr val="FFFFFF"/>
              </a:solidFill>
              <a:effectLst/>
              <a:uFillTx/>
              <a:latin typeface="Arial"/>
            </a:endParaRPr>
          </a:p>
          <a:p>
            <a:pPr marL="177840" indent="-177840" defTabSz="914400">
              <a:lnSpc>
                <a:spcPct val="100000"/>
              </a:lnSpc>
              <a:spcAft>
                <a:spcPts val="1301"/>
              </a:spcAft>
              <a:buClr>
                <a:srgbClr val="EADFEF"/>
              </a:buClr>
              <a:buFont typeface="Symbol" charset="2"/>
              <a:buChar char=""/>
            </a:pPr>
            <a:r>
              <a:rPr lang="en-US" sz="1500" b="0" u="none" strike="noStrike">
                <a:solidFill>
                  <a:srgbClr val="EADFEF"/>
                </a:solidFill>
                <a:effectLst/>
                <a:uFillTx/>
                <a:latin typeface="Calibri"/>
                <a:ea typeface="Calibri"/>
              </a:rPr>
              <a:t>Visualize with the right view for the question (tube maps, idioms, multi-scale browsers)</a:t>
            </a:r>
            <a:endParaRPr lang="de-DE" sz="1500" b="0" u="none" strike="noStrike">
              <a:solidFill>
                <a:srgbClr val="FFFFFF"/>
              </a:solidFill>
              <a:effectLst/>
              <a:uFillTx/>
              <a:latin typeface="Arial"/>
            </a:endParaRPr>
          </a:p>
          <a:p>
            <a:pPr marL="177840" indent="-177840" defTabSz="914400">
              <a:lnSpc>
                <a:spcPct val="100000"/>
              </a:lnSpc>
              <a:spcAft>
                <a:spcPts val="1301"/>
              </a:spcAft>
              <a:buClr>
                <a:srgbClr val="EADFEF"/>
              </a:buClr>
              <a:buFont typeface="Symbol" charset="2"/>
              <a:buChar char=""/>
            </a:pPr>
            <a:r>
              <a:rPr lang="en-US" sz="1500" b="0" u="none" strike="noStrike">
                <a:solidFill>
                  <a:srgbClr val="EADFEF"/>
                </a:solidFill>
                <a:effectLst/>
                <a:uFillTx/>
                <a:latin typeface="Calibri"/>
                <a:ea typeface="Calibri"/>
              </a:rPr>
              <a:t>Share standard formats with rich metadata; deposit a minimal package + an RO-Crate, versioned with a DOI</a:t>
            </a:r>
            <a:endParaRPr lang="de-DE" sz="1500" b="0" u="none" strike="noStrike">
              <a:solidFill>
                <a:srgbClr val="FFFFFF"/>
              </a:solidFill>
              <a:effectLst/>
              <a:uFillTx/>
              <a:latin typeface="Arial"/>
            </a:endParaRPr>
          </a:p>
          <a:p>
            <a:pPr marL="177840" indent="-177840" defTabSz="914400">
              <a:lnSpc>
                <a:spcPct val="100000"/>
              </a:lnSpc>
              <a:spcAft>
                <a:spcPts val="1301"/>
              </a:spcAft>
              <a:buClr>
                <a:srgbClr val="EADFEF"/>
              </a:buClr>
              <a:buFont typeface="Symbol" charset="2"/>
              <a:buChar char=""/>
            </a:pPr>
            <a:r>
              <a:rPr lang="en-US" sz="1500" b="0" u="none" strike="noStrike">
                <a:solidFill>
                  <a:srgbClr val="EADFEF"/>
                </a:solidFill>
                <a:effectLst/>
                <a:uFillTx/>
                <a:latin typeface="Calibri"/>
                <a:ea typeface="Calibri"/>
              </a:rPr>
              <a:t>Integrate via portals, APIs (BrAPI) and knowledge graphs — make the pangenome a hub</a:t>
            </a:r>
            <a:endParaRPr lang="de-DE" sz="1500" b="0" u="none" strike="noStrike">
              <a:solidFill>
                <a:srgbClr val="FFFFFF"/>
              </a:solidFill>
              <a:effectLst/>
              <a:uFillTx/>
              <a:latin typeface="Arial"/>
            </a:endParaRPr>
          </a:p>
          <a:p>
            <a:pPr marL="177840" indent="-177840" defTabSz="914400">
              <a:lnSpc>
                <a:spcPct val="100000"/>
              </a:lnSpc>
              <a:spcAft>
                <a:spcPts val="1301"/>
              </a:spcAft>
              <a:buClr>
                <a:srgbClr val="EADFEF"/>
              </a:buClr>
              <a:buFont typeface="Symbol" charset="2"/>
              <a:buChar char=""/>
            </a:pPr>
            <a:r>
              <a:rPr lang="en-US" sz="1500" b="0" u="none" strike="noStrike">
                <a:solidFill>
                  <a:srgbClr val="EADFEF"/>
                </a:solidFill>
                <a:effectLst/>
                <a:uFillTx/>
                <a:latin typeface="Calibri"/>
                <a:ea typeface="Calibri"/>
              </a:rPr>
              <a:t>Follow community standards so resources interoperate and accelerate breeding &amp; research</a:t>
            </a:r>
            <a:endParaRPr lang="de-DE" sz="1500" b="0" u="none" strike="noStrike">
              <a:solidFill>
                <a:srgbClr val="FFFFFF"/>
              </a:solidFill>
              <a:effectLst/>
              <a:uFillTx/>
              <a:latin typeface="Arial"/>
            </a:endParaRPr>
          </a:p>
        </p:txBody>
      </p:sp>
      <p:sp>
        <p:nvSpPr>
          <p:cNvPr id="288" name="Shape 4"/>
          <p:cNvSpPr/>
          <p:nvPr/>
        </p:nvSpPr>
        <p:spPr>
          <a:xfrm>
            <a:off x="566640" y="5257800"/>
            <a:ext cx="11058120" cy="360"/>
          </a:xfrm>
          <a:prstGeom prst="line">
            <a:avLst/>
          </a:prstGeom>
          <a:ln w="12700">
            <a:solidFill>
              <a:srgbClr val="5A3A68"/>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de-DE" sz="1800" b="0" u="none" strike="noStrike">
              <a:solidFill>
                <a:srgbClr val="FFFFFF"/>
              </a:solidFill>
              <a:effectLst/>
              <a:uFillTx/>
              <a:latin typeface="Arial"/>
            </a:endParaRPr>
          </a:p>
        </p:txBody>
      </p:sp>
      <p:sp>
        <p:nvSpPr>
          <p:cNvPr id="289" name="Text 5"/>
          <p:cNvSpPr/>
          <p:nvPr/>
        </p:nvSpPr>
        <p:spPr>
          <a:xfrm>
            <a:off x="567000" y="5394960"/>
            <a:ext cx="110574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u="none" strike="noStrike">
                <a:solidFill>
                  <a:srgbClr val="FFFFFF"/>
                </a:solidFill>
                <a:effectLst/>
                <a:uFillTx/>
                <a:latin typeface="Calibri"/>
                <a:ea typeface="Calibri"/>
              </a:rPr>
              <a:t>Community standards:  </a:t>
            </a:r>
            <a:r>
              <a:rPr lang="en-US" sz="1250" b="0" u="none" strike="noStrike">
                <a:solidFill>
                  <a:srgbClr val="C9B8D2"/>
                </a:solidFill>
                <a:effectLst/>
                <a:uFillTx/>
                <a:latin typeface="Calibri"/>
                <a:ea typeface="Calibri"/>
              </a:rPr>
              <a:t>Heuermann, Barros, Beier et al. — White paper: standards for handling and analyzing plant pan-genomes. </a:t>
            </a:r>
            <a:r>
              <a:rPr lang="en-US" sz="1250" b="0" i="1" u="none" strike="noStrike">
                <a:solidFill>
                  <a:srgbClr val="C9B8D2"/>
                </a:solidFill>
                <a:effectLst/>
                <a:uFillTx/>
                <a:latin typeface="Calibri"/>
                <a:ea typeface="Calibri"/>
              </a:rPr>
              <a:t>F1000Research 2026, 14:739 (ELIXIR E-PAN).</a:t>
            </a:r>
            <a:endParaRPr lang="de-DE" sz="1250" b="0" u="none" strike="noStrike">
              <a:solidFill>
                <a:srgbClr val="FFFFFF"/>
              </a:solidFill>
              <a:effectLst/>
              <a:uFillTx/>
              <a:latin typeface="Arial"/>
            </a:endParaRPr>
          </a:p>
        </p:txBody>
      </p:sp>
      <p:sp>
        <p:nvSpPr>
          <p:cNvPr id="290" name="Text 6"/>
          <p:cNvSpPr/>
          <p:nvPr/>
        </p:nvSpPr>
        <p:spPr>
          <a:xfrm>
            <a:off x="567000" y="5943600"/>
            <a:ext cx="110574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i="1" u="none" strike="noStrike">
                <a:solidFill>
                  <a:srgbClr val="DE8E2C"/>
                </a:solidFill>
                <a:effectLst/>
                <a:uFillTx/>
                <a:latin typeface="Calibri"/>
                <a:ea typeface="Calibri"/>
              </a:rPr>
              <a:t>Thank you — questions &amp; discussion welcome</a:t>
            </a:r>
            <a:endParaRPr lang="de-DE" sz="1300" b="0" u="none" strike="noStrike">
              <a:solidFill>
                <a:srgbClr val="FFFFFF"/>
              </a:solidFill>
              <a:effectLst/>
              <a:uFillTx/>
              <a:latin typeface="Arial"/>
            </a:endParaR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57200"/>
            <a:ext cx="155448" cy="155448"/>
          </a:xfrm>
          <a:prstGeom prst="ellipse">
            <a:avLst/>
          </a:prstGeom>
          <a:solidFill>
            <a:srgbClr val="E86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65760"/>
            <a:ext cx="11057839" cy="292608"/>
          </a:xfrm>
          <a:prstGeom prst="rect">
            <a:avLst/>
          </a:prstGeom>
          <a:noFill/>
        </p:spPr>
        <p:txBody>
          <a:bodyPr wrap="square" lIns="0" rIns="0" tIns="0" bIns="0" anchor="ctr">
            <a:spAutoFit/>
          </a:bodyPr>
          <a:lstStyle/>
          <a:p>
            <a:pPr algn="l"/>
            <a:r>
              <a:rPr sz="1200" b="1" i="0">
                <a:solidFill>
                  <a:srgbClr val="5E2A75"/>
                </a:solidFill>
                <a:latin typeface="Calibri"/>
              </a:rPr>
              <a:t>COMMUNITIES &amp; NETWORKS</a:t>
            </a:r>
          </a:p>
        </p:txBody>
      </p:sp>
      <p:sp>
        <p:nvSpPr>
          <p:cNvPr id="4" name="TextBox 3"/>
          <p:cNvSpPr txBox="1"/>
          <p:nvPr/>
        </p:nvSpPr>
        <p:spPr>
          <a:xfrm>
            <a:off x="566928" y="676656"/>
            <a:ext cx="11057839" cy="603504"/>
          </a:xfrm>
          <a:prstGeom prst="rect">
            <a:avLst/>
          </a:prstGeom>
          <a:noFill/>
        </p:spPr>
        <p:txBody>
          <a:bodyPr wrap="square" lIns="0" rIns="0" tIns="0" bIns="0" anchor="ctr">
            <a:spAutoFit/>
          </a:bodyPr>
          <a:lstStyle/>
          <a:p>
            <a:pPr algn="l"/>
            <a:r>
              <a:rPr sz="2900" b="1" i="0">
                <a:solidFill>
                  <a:srgbClr val="2B2331"/>
                </a:solidFill>
                <a:latin typeface="Cambria"/>
              </a:rPr>
              <a:t>Join the global effort</a:t>
            </a:r>
          </a:p>
        </p:txBody>
      </p:sp>
      <p:sp>
        <p:nvSpPr>
          <p:cNvPr id="5" name="Rounded Rectangle 4"/>
          <p:cNvSpPr/>
          <p:nvPr/>
        </p:nvSpPr>
        <p:spPr>
          <a:xfrm>
            <a:off x="566928" y="1645920"/>
            <a:ext cx="3442106" cy="4069080"/>
          </a:xfrm>
          <a:prstGeom prst="roundRect">
            <a:avLst>
              <a:gd name="adj" fmla="val 6000"/>
            </a:avLst>
          </a:prstGeom>
          <a:solidFill>
            <a:srgbClr val="F5F0F8"/>
          </a:solidFill>
          <a:ln w="9525">
            <a:solidFill>
              <a:srgbClr val="E2D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68096" y="1865376"/>
            <a:ext cx="146304" cy="146304"/>
          </a:xfrm>
          <a:prstGeom prst="ellipse">
            <a:avLst/>
          </a:prstGeom>
          <a:solidFill>
            <a:srgbClr val="214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7552" y="1792224"/>
            <a:ext cx="2893466" cy="310896"/>
          </a:xfrm>
          <a:prstGeom prst="rect">
            <a:avLst/>
          </a:prstGeom>
          <a:noFill/>
        </p:spPr>
        <p:txBody>
          <a:bodyPr wrap="square" lIns="0" rIns="0" tIns="0" bIns="0" anchor="t">
            <a:spAutoFit/>
          </a:bodyPr>
          <a:lstStyle/>
          <a:p>
            <a:pPr algn="l"/>
            <a:r>
              <a:rPr sz="1500" b="1" i="0">
                <a:solidFill>
                  <a:srgbClr val="21476B"/>
                </a:solidFill>
                <a:latin typeface="Calibri"/>
              </a:rPr>
              <a:t>IPPGN</a:t>
            </a:r>
          </a:p>
        </p:txBody>
      </p:sp>
      <p:sp>
        <p:nvSpPr>
          <p:cNvPr id="8" name="TextBox 7"/>
          <p:cNvSpPr txBox="1"/>
          <p:nvPr/>
        </p:nvSpPr>
        <p:spPr>
          <a:xfrm>
            <a:off x="987552" y="2103120"/>
            <a:ext cx="2893466" cy="457200"/>
          </a:xfrm>
          <a:prstGeom prst="rect">
            <a:avLst/>
          </a:prstGeom>
          <a:noFill/>
        </p:spPr>
        <p:txBody>
          <a:bodyPr wrap="square" lIns="0" rIns="0" tIns="0" bIns="0" anchor="t">
            <a:spAutoFit/>
          </a:bodyPr>
          <a:lstStyle/>
          <a:p>
            <a:pPr algn="l"/>
            <a:r>
              <a:rPr sz="1050" b="0" i="1">
                <a:solidFill>
                  <a:srgbClr val="726A7A"/>
                </a:solidFill>
                <a:latin typeface="Calibri"/>
              </a:rPr>
              <a:t>International Plant Pangenome Network</a:t>
            </a:r>
          </a:p>
        </p:txBody>
      </p:sp>
      <p:sp>
        <p:nvSpPr>
          <p:cNvPr id="9" name="TextBox 8"/>
          <p:cNvSpPr txBox="1"/>
          <p:nvPr/>
        </p:nvSpPr>
        <p:spPr>
          <a:xfrm>
            <a:off x="786384" y="2578608"/>
            <a:ext cx="3003194" cy="2697480"/>
          </a:xfrm>
          <a:prstGeom prst="rect">
            <a:avLst/>
          </a:prstGeom>
          <a:noFill/>
        </p:spPr>
        <p:txBody>
          <a:bodyPr wrap="square" lIns="0" rIns="0" tIns="0" bIns="0" anchor="t">
            <a:spAutoFit/>
          </a:bodyPr>
          <a:lstStyle/>
          <a:p>
            <a:pPr algn="l">
              <a:spcAft>
                <a:spcPts val="600"/>
              </a:spcAft>
            </a:pPr>
            <a:r>
              <a:rPr sz="1200" b="1" i="0">
                <a:solidFill>
                  <a:srgbClr val="5E2A75"/>
                </a:solidFill>
                <a:latin typeface="Calibri"/>
              </a:rPr>
              <a:t>•  </a:t>
            </a:r>
            <a:r>
              <a:rPr sz="1200" b="0" i="0">
                <a:solidFill>
                  <a:srgbClr val="2B2331"/>
                </a:solidFill>
                <a:latin typeface="Calibri"/>
              </a:rPr>
              <a:t>Founded 2025, after the PAG conference (San Diego)</a:t>
            </a:r>
          </a:p>
          <a:p>
            <a:pPr algn="l">
              <a:spcAft>
                <a:spcPts val="600"/>
              </a:spcAft>
            </a:pPr>
            <a:r>
              <a:rPr sz="1200" b="1" i="0">
                <a:solidFill>
                  <a:srgbClr val="5E2A75"/>
                </a:solidFill>
                <a:latin typeface="Calibri"/>
              </a:rPr>
              <a:t>•  </a:t>
            </a:r>
            <a:r>
              <a:rPr sz="1200" b="0" i="0">
                <a:solidFill>
                  <a:srgbClr val="2B2331"/>
                </a:solidFill>
                <a:latin typeface="Calibri"/>
              </a:rPr>
              <a:t>~38 researchers across 24 institutions — academia, tool developers &amp; plant breeders</a:t>
            </a:r>
          </a:p>
          <a:p>
            <a:pPr algn="l">
              <a:spcAft>
                <a:spcPts val="600"/>
              </a:spcAft>
            </a:pPr>
            <a:r>
              <a:rPr sz="1200" b="1" i="0">
                <a:solidFill>
                  <a:srgbClr val="5E2A75"/>
                </a:solidFill>
                <a:latin typeface="Calibri"/>
              </a:rPr>
              <a:t>•  </a:t>
            </a:r>
            <a:r>
              <a:rPr sz="1200" b="0" i="0">
                <a:solidFill>
                  <a:srgbClr val="2B2331"/>
                </a:solidFill>
                <a:latin typeface="Calibri"/>
              </a:rPr>
              <a:t>Open knowledge-sharing and collective problem-solving on pangenome graphs</a:t>
            </a:r>
          </a:p>
          <a:p>
            <a:pPr algn="l">
              <a:spcAft>
                <a:spcPts val="600"/>
              </a:spcAft>
            </a:pPr>
            <a:r>
              <a:rPr sz="1200" b="1" i="0">
                <a:solidFill>
                  <a:srgbClr val="5E2A75"/>
                </a:solidFill>
                <a:latin typeface="Calibri"/>
              </a:rPr>
              <a:t>•  </a:t>
            </a:r>
            <a:r>
              <a:rPr sz="1200" b="0" i="0">
                <a:solidFill>
                  <a:srgbClr val="2B2331"/>
                </a:solidFill>
                <a:latin typeface="Calibri"/>
              </a:rPr>
              <a:t>Chaired at the Earlham Institute (R. Rusholme-Pilcher; co-founder A. Hall)</a:t>
            </a:r>
          </a:p>
        </p:txBody>
      </p:sp>
      <p:sp>
        <p:nvSpPr>
          <p:cNvPr id="10" name="TextBox 9"/>
          <p:cNvSpPr txBox="1"/>
          <p:nvPr/>
        </p:nvSpPr>
        <p:spPr>
          <a:xfrm>
            <a:off x="786384" y="5257800"/>
            <a:ext cx="3003194" cy="365760"/>
          </a:xfrm>
          <a:prstGeom prst="rect">
            <a:avLst/>
          </a:prstGeom>
          <a:noFill/>
        </p:spPr>
        <p:txBody>
          <a:bodyPr wrap="square" lIns="0" rIns="0" tIns="0" bIns="0" anchor="t">
            <a:spAutoFit/>
          </a:bodyPr>
          <a:lstStyle/>
          <a:p>
            <a:pPr algn="l"/>
            <a:r>
              <a:rPr sz="950" b="0" i="1">
                <a:solidFill>
                  <a:srgbClr val="21476B"/>
                </a:solidFill>
                <a:latin typeface="Calibri"/>
              </a:rPr>
              <a:t>earlham.ac.uk — “Breaking silos” (2025)</a:t>
            </a:r>
          </a:p>
        </p:txBody>
      </p:sp>
      <p:sp>
        <p:nvSpPr>
          <p:cNvPr id="11" name="Rounded Rectangle 10"/>
          <p:cNvSpPr/>
          <p:nvPr/>
        </p:nvSpPr>
        <p:spPr>
          <a:xfrm>
            <a:off x="4374794" y="1645920"/>
            <a:ext cx="3442106" cy="4069080"/>
          </a:xfrm>
          <a:prstGeom prst="roundRect">
            <a:avLst>
              <a:gd name="adj" fmla="val 6000"/>
            </a:avLst>
          </a:prstGeom>
          <a:solidFill>
            <a:srgbClr val="F5F0F8"/>
          </a:solidFill>
          <a:ln w="9525">
            <a:solidFill>
              <a:srgbClr val="E2D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575962" y="1865376"/>
            <a:ext cx="146304" cy="146304"/>
          </a:xfrm>
          <a:prstGeom prst="ellipse">
            <a:avLst/>
          </a:prstGeom>
          <a:solidFill>
            <a:srgbClr val="4E8C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95418" y="1792224"/>
            <a:ext cx="2893466" cy="310896"/>
          </a:xfrm>
          <a:prstGeom prst="rect">
            <a:avLst/>
          </a:prstGeom>
          <a:noFill/>
        </p:spPr>
        <p:txBody>
          <a:bodyPr wrap="square" lIns="0" rIns="0" tIns="0" bIns="0" anchor="t">
            <a:spAutoFit/>
          </a:bodyPr>
          <a:lstStyle/>
          <a:p>
            <a:pPr algn="l"/>
            <a:r>
              <a:rPr sz="1500" b="1" i="0">
                <a:solidFill>
                  <a:srgbClr val="4E8C72"/>
                </a:solidFill>
                <a:latin typeface="Calibri"/>
              </a:rPr>
              <a:t>ERGA</a:t>
            </a:r>
          </a:p>
        </p:txBody>
      </p:sp>
      <p:sp>
        <p:nvSpPr>
          <p:cNvPr id="14" name="TextBox 13"/>
          <p:cNvSpPr txBox="1"/>
          <p:nvPr/>
        </p:nvSpPr>
        <p:spPr>
          <a:xfrm>
            <a:off x="4795418" y="2103120"/>
            <a:ext cx="2893466" cy="457200"/>
          </a:xfrm>
          <a:prstGeom prst="rect">
            <a:avLst/>
          </a:prstGeom>
          <a:noFill/>
        </p:spPr>
        <p:txBody>
          <a:bodyPr wrap="square" lIns="0" rIns="0" tIns="0" bIns="0" anchor="t">
            <a:spAutoFit/>
          </a:bodyPr>
          <a:lstStyle/>
          <a:p>
            <a:pPr algn="l"/>
            <a:r>
              <a:rPr sz="1050" b="0" i="1">
                <a:solidFill>
                  <a:srgbClr val="726A7A"/>
                </a:solidFill>
                <a:latin typeface="Calibri"/>
              </a:rPr>
              <a:t>European Reference Genome Atlas</a:t>
            </a:r>
          </a:p>
        </p:txBody>
      </p:sp>
      <p:sp>
        <p:nvSpPr>
          <p:cNvPr id="15" name="TextBox 14"/>
          <p:cNvSpPr txBox="1"/>
          <p:nvPr/>
        </p:nvSpPr>
        <p:spPr>
          <a:xfrm>
            <a:off x="4594250" y="2578608"/>
            <a:ext cx="3003194" cy="2697480"/>
          </a:xfrm>
          <a:prstGeom prst="rect">
            <a:avLst/>
          </a:prstGeom>
          <a:noFill/>
        </p:spPr>
        <p:txBody>
          <a:bodyPr wrap="square" lIns="0" rIns="0" tIns="0" bIns="0" anchor="t">
            <a:spAutoFit/>
          </a:bodyPr>
          <a:lstStyle/>
          <a:p>
            <a:pPr algn="l">
              <a:spcAft>
                <a:spcPts val="600"/>
              </a:spcAft>
            </a:pPr>
            <a:r>
              <a:rPr sz="1200" b="1" i="0">
                <a:solidFill>
                  <a:srgbClr val="5E2A75"/>
                </a:solidFill>
                <a:latin typeface="Calibri"/>
              </a:rPr>
              <a:t>•  </a:t>
            </a:r>
            <a:r>
              <a:rPr sz="1200" b="0" i="0">
                <a:solidFill>
                  <a:srgbClr val="2B2331"/>
                </a:solidFill>
                <a:latin typeface="Calibri"/>
              </a:rPr>
              <a:t>Pan-European network: reference genomes for ~200,000 European species</a:t>
            </a:r>
          </a:p>
          <a:p>
            <a:pPr algn="l">
              <a:spcAft>
                <a:spcPts val="600"/>
              </a:spcAft>
            </a:pPr>
            <a:r>
              <a:rPr sz="1200" b="1" i="0">
                <a:solidFill>
                  <a:srgbClr val="5E2A75"/>
                </a:solidFill>
                <a:latin typeface="Calibri"/>
              </a:rPr>
              <a:t>•  </a:t>
            </a:r>
            <a:r>
              <a:rPr sz="1200" b="0" i="0">
                <a:solidFill>
                  <a:srgbClr val="2B2331"/>
                </a:solidFill>
                <a:latin typeface="Calibri"/>
              </a:rPr>
              <a:t>Pangenomes Working Group launched May 2026 (at the DAC meeting)</a:t>
            </a:r>
          </a:p>
          <a:p>
            <a:pPr algn="l">
              <a:spcAft>
                <a:spcPts val="600"/>
              </a:spcAft>
            </a:pPr>
            <a:r>
              <a:rPr sz="1200" b="1" i="0">
                <a:solidFill>
                  <a:srgbClr val="5E2A75"/>
                </a:solidFill>
                <a:latin typeface="Calibri"/>
              </a:rPr>
              <a:t>•  </a:t>
            </a:r>
            <a:r>
              <a:rPr sz="1200" b="0" i="0">
                <a:solidFill>
                  <a:srgbClr val="2B2331"/>
                </a:solidFill>
                <a:latin typeface="Calibri"/>
              </a:rPr>
              <a:t>Focus: pangenome standards &amp; shared best practices</a:t>
            </a:r>
          </a:p>
          <a:p>
            <a:pPr algn="l">
              <a:spcAft>
                <a:spcPts val="600"/>
              </a:spcAft>
            </a:pPr>
            <a:r>
              <a:rPr sz="1200" b="1" i="0">
                <a:solidFill>
                  <a:srgbClr val="5E2A75"/>
                </a:solidFill>
                <a:latin typeface="Calibri"/>
              </a:rPr>
              <a:t>•  </a:t>
            </a:r>
            <a:r>
              <a:rPr sz="1200" b="0" i="0">
                <a:solidFill>
                  <a:srgbClr val="2B2331"/>
                </a:solidFill>
                <a:latin typeface="Calibri"/>
              </a:rPr>
              <a:t>Bottom-up and open — beginners and experts welcome</a:t>
            </a:r>
          </a:p>
        </p:txBody>
      </p:sp>
      <p:sp>
        <p:nvSpPr>
          <p:cNvPr id="16" name="TextBox 15"/>
          <p:cNvSpPr txBox="1"/>
          <p:nvPr/>
        </p:nvSpPr>
        <p:spPr>
          <a:xfrm>
            <a:off x="4594250" y="5257800"/>
            <a:ext cx="3003194" cy="365760"/>
          </a:xfrm>
          <a:prstGeom prst="rect">
            <a:avLst/>
          </a:prstGeom>
          <a:noFill/>
        </p:spPr>
        <p:txBody>
          <a:bodyPr wrap="square" lIns="0" rIns="0" tIns="0" bIns="0" anchor="t">
            <a:spAutoFit/>
          </a:bodyPr>
          <a:lstStyle/>
          <a:p>
            <a:pPr algn="l"/>
            <a:r>
              <a:rPr sz="950" b="0" i="1">
                <a:solidFill>
                  <a:srgbClr val="4E8C72"/>
                </a:solidFill>
                <a:latin typeface="Calibri"/>
              </a:rPr>
              <a:t>erga-biodiversity.eu · ERGA News #36 (Mar 2026)</a:t>
            </a:r>
          </a:p>
        </p:txBody>
      </p:sp>
      <p:sp>
        <p:nvSpPr>
          <p:cNvPr id="17" name="Rounded Rectangle 16"/>
          <p:cNvSpPr/>
          <p:nvPr/>
        </p:nvSpPr>
        <p:spPr>
          <a:xfrm>
            <a:off x="8182660" y="1645920"/>
            <a:ext cx="3442106" cy="4069080"/>
          </a:xfrm>
          <a:prstGeom prst="roundRect">
            <a:avLst>
              <a:gd name="adj" fmla="val 6000"/>
            </a:avLst>
          </a:prstGeom>
          <a:solidFill>
            <a:srgbClr val="F2ECEF"/>
          </a:solidFill>
          <a:ln w="9525">
            <a:solidFill>
              <a:srgbClr val="E2D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83828" y="1865376"/>
            <a:ext cx="146304" cy="146304"/>
          </a:xfrm>
          <a:prstGeom prst="ellipse">
            <a:avLst/>
          </a:prstGeom>
          <a:solidFill>
            <a:srgbClr val="5E2A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03284" y="1792224"/>
            <a:ext cx="2893466" cy="310896"/>
          </a:xfrm>
          <a:prstGeom prst="rect">
            <a:avLst/>
          </a:prstGeom>
          <a:noFill/>
        </p:spPr>
        <p:txBody>
          <a:bodyPr wrap="square" lIns="0" rIns="0" tIns="0" bIns="0" anchor="t">
            <a:spAutoFit/>
          </a:bodyPr>
          <a:lstStyle/>
          <a:p>
            <a:pPr algn="l"/>
            <a:r>
              <a:rPr sz="1500" b="1" i="0">
                <a:solidFill>
                  <a:srgbClr val="5E2A75"/>
                </a:solidFill>
                <a:latin typeface="Calibri"/>
              </a:rPr>
              <a:t>ELIXIR E-PAN</a:t>
            </a:r>
          </a:p>
        </p:txBody>
      </p:sp>
      <p:sp>
        <p:nvSpPr>
          <p:cNvPr id="20" name="TextBox 19"/>
          <p:cNvSpPr txBox="1"/>
          <p:nvPr/>
        </p:nvSpPr>
        <p:spPr>
          <a:xfrm>
            <a:off x="8603284" y="2103120"/>
            <a:ext cx="2893466" cy="457200"/>
          </a:xfrm>
          <a:prstGeom prst="rect">
            <a:avLst/>
          </a:prstGeom>
          <a:noFill/>
        </p:spPr>
        <p:txBody>
          <a:bodyPr wrap="square" lIns="0" rIns="0" tIns="0" bIns="0" anchor="t">
            <a:spAutoFit/>
          </a:bodyPr>
          <a:lstStyle/>
          <a:p>
            <a:pPr algn="l"/>
            <a:r>
              <a:rPr sz="1050" b="0" i="1">
                <a:solidFill>
                  <a:srgbClr val="726A7A"/>
                </a:solidFill>
                <a:latin typeface="Calibri"/>
              </a:rPr>
              <a:t>Plant pan-genome standards initiative</a:t>
            </a:r>
          </a:p>
        </p:txBody>
      </p:sp>
      <p:sp>
        <p:nvSpPr>
          <p:cNvPr id="21" name="TextBox 20"/>
          <p:cNvSpPr txBox="1"/>
          <p:nvPr/>
        </p:nvSpPr>
        <p:spPr>
          <a:xfrm>
            <a:off x="8402116" y="2578608"/>
            <a:ext cx="3003194" cy="2697480"/>
          </a:xfrm>
          <a:prstGeom prst="rect">
            <a:avLst/>
          </a:prstGeom>
          <a:noFill/>
        </p:spPr>
        <p:txBody>
          <a:bodyPr wrap="square" lIns="0" rIns="0" tIns="0" bIns="0" anchor="t">
            <a:spAutoFit/>
          </a:bodyPr>
          <a:lstStyle/>
          <a:p>
            <a:pPr algn="l">
              <a:spcAft>
                <a:spcPts val="600"/>
              </a:spcAft>
            </a:pPr>
            <a:r>
              <a:rPr sz="1200" b="1" i="0">
                <a:solidFill>
                  <a:srgbClr val="5E2A75"/>
                </a:solidFill>
                <a:latin typeface="Calibri"/>
              </a:rPr>
              <a:t>•  </a:t>
            </a:r>
            <a:r>
              <a:rPr sz="1200" b="0" i="0">
                <a:solidFill>
                  <a:srgbClr val="2B2331"/>
                </a:solidFill>
                <a:latin typeface="Calibri"/>
              </a:rPr>
              <a:t>The community effort behind this session’s white paper</a:t>
            </a:r>
          </a:p>
          <a:p>
            <a:pPr algn="l">
              <a:spcAft>
                <a:spcPts val="600"/>
              </a:spcAft>
            </a:pPr>
            <a:r>
              <a:rPr sz="1200" b="1" i="0">
                <a:solidFill>
                  <a:srgbClr val="5E2A75"/>
                </a:solidFill>
                <a:latin typeface="Calibri"/>
              </a:rPr>
              <a:t>•  </a:t>
            </a:r>
            <a:r>
              <a:rPr sz="1200" b="0" i="0">
                <a:solidFill>
                  <a:srgbClr val="2B2331"/>
                </a:solidFill>
                <a:latin typeface="Calibri"/>
              </a:rPr>
              <a:t>Standards for naming, QC, sharing, visualization &amp; integration</a:t>
            </a:r>
          </a:p>
          <a:p>
            <a:pPr algn="l">
              <a:spcAft>
                <a:spcPts val="600"/>
              </a:spcAft>
            </a:pPr>
            <a:r>
              <a:rPr sz="1200" b="1" i="0">
                <a:solidFill>
                  <a:srgbClr val="5E2A75"/>
                </a:solidFill>
                <a:latin typeface="Calibri"/>
              </a:rPr>
              <a:t>•  </a:t>
            </a:r>
            <a:r>
              <a:rPr sz="1200" b="0" i="0">
                <a:solidFill>
                  <a:srgbClr val="2B2331"/>
                </a:solidFill>
                <a:latin typeface="Calibri"/>
              </a:rPr>
              <a:t>ELIXIR hackathons refine workflows &amp; ontology terms</a:t>
            </a:r>
          </a:p>
        </p:txBody>
      </p:sp>
      <p:sp>
        <p:nvSpPr>
          <p:cNvPr id="22" name="TextBox 21"/>
          <p:cNvSpPr txBox="1"/>
          <p:nvPr/>
        </p:nvSpPr>
        <p:spPr>
          <a:xfrm>
            <a:off x="8402116" y="5257800"/>
            <a:ext cx="3003194" cy="365760"/>
          </a:xfrm>
          <a:prstGeom prst="rect">
            <a:avLst/>
          </a:prstGeom>
          <a:noFill/>
        </p:spPr>
        <p:txBody>
          <a:bodyPr wrap="square" lIns="0" rIns="0" tIns="0" bIns="0" anchor="t">
            <a:spAutoFit/>
          </a:bodyPr>
          <a:lstStyle/>
          <a:p>
            <a:pPr algn="l"/>
            <a:r>
              <a:rPr sz="950" b="0" i="1">
                <a:solidFill>
                  <a:srgbClr val="5E2A75"/>
                </a:solidFill>
                <a:latin typeface="Calibri"/>
              </a:rPr>
              <a:t>F1000Research 2026, 14:739</a:t>
            </a:r>
          </a:p>
        </p:txBody>
      </p:sp>
      <p:sp>
        <p:nvSpPr>
          <p:cNvPr id="23" name="TextBox 22"/>
          <p:cNvSpPr txBox="1"/>
          <p:nvPr/>
        </p:nvSpPr>
        <p:spPr>
          <a:xfrm>
            <a:off x="566928" y="6437376"/>
            <a:ext cx="11057839" cy="274320"/>
          </a:xfrm>
          <a:prstGeom prst="rect">
            <a:avLst/>
          </a:prstGeom>
          <a:noFill/>
        </p:spPr>
        <p:txBody>
          <a:bodyPr wrap="square" lIns="0" rIns="0" tIns="0" bIns="0" anchor="t">
            <a:spAutoFit/>
          </a:bodyPr>
          <a:lstStyle/>
          <a:p>
            <a:pPr algn="l"/>
            <a:r>
              <a:rPr sz="950" b="0" i="1">
                <a:solidFill>
                  <a:srgbClr val="726A7A"/>
                </a:solidFill>
                <a:latin typeface="Calibri"/>
              </a:rPr>
              <a:t>These networks welcome new members — open collaboration is how plant pangenomics moves faster. (ERGA fits this biodiversity-genomics context directly.)</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2753</Words>
  <Application>Microsoft Office PowerPoint</Application>
  <PresentationFormat>Breitbild</PresentationFormat>
  <Paragraphs>230</Paragraphs>
  <Slides>15</Slides>
  <Notes>15</Notes>
  <HiddenSlides>0</HiddenSlides>
  <MMClips>0</MMClips>
  <ScaleCrop>false</ScaleCrop>
  <HeadingPairs>
    <vt:vector size="6" baseType="variant">
      <vt:variant>
        <vt:lpstr>Verwendete Schriftarten</vt:lpstr>
      </vt:variant>
      <vt:variant>
        <vt:i4>8</vt:i4>
      </vt:variant>
      <vt:variant>
        <vt:lpstr>Design</vt:lpstr>
      </vt:variant>
      <vt:variant>
        <vt:i4>1</vt:i4>
      </vt:variant>
      <vt:variant>
        <vt:lpstr>Folientitel</vt:lpstr>
      </vt:variant>
      <vt:variant>
        <vt:i4>15</vt:i4>
      </vt:variant>
    </vt:vector>
  </HeadingPairs>
  <TitlesOfParts>
    <vt:vector size="24" baseType="lpstr">
      <vt:lpstr>Arial</vt:lpstr>
      <vt:lpstr>Calibri</vt:lpstr>
      <vt:lpstr>Cambria</vt:lpstr>
      <vt:lpstr>Consolas</vt:lpstr>
      <vt:lpstr>DejaVu Sans</vt:lpstr>
      <vt:lpstr>Symbol</vt:lpstr>
      <vt:lpstr>Times New Roman</vt:lpstr>
      <vt:lpstr>Wingdings</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Presenting and Disseminating Plant Pangenomes</dc:title>
  <dc:subject>PptxGenJS Presentation</dc:subject>
  <dc:creator>Dr. Sebastian Beier</dc:creator>
  <dc:description/>
  <cp:lastModifiedBy>Sebastian Beier</cp:lastModifiedBy>
  <cp:revision>2</cp:revision>
  <dcterms:created xsi:type="dcterms:W3CDTF">2026-06-30T09:25:17Z</dcterms:created>
  <dcterms:modified xsi:type="dcterms:W3CDTF">2026-06-30T09:36:28Z</dcterms:modified>
  <dc:language>de-DE</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15</vt:r8>
  </property>
  <property fmtid="{D5CDD505-2E9C-101B-9397-08002B2CF9AE}" pid="3" name="PresentationFormat">
    <vt:lpwstr>On-screen Show (16:9)</vt:lpwstr>
  </property>
  <property fmtid="{D5CDD505-2E9C-101B-9397-08002B2CF9AE}" pid="4" name="Slides">
    <vt:r8>15</vt:r8>
  </property>
</Properties>
</file>